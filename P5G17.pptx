
<file path=[Content_Types].xml><?xml version="1.0" encoding="utf-8"?>
<Types xmlns="http://schemas.openxmlformats.org/package/2006/content-types">
  <Default Extension="jpeg" ContentType="image/jpeg"/>
  <Default Extension="JPG" ContentType="image/.jpg"/>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7" r:id="rId3"/>
    <p:sldId id="291" r:id="rId4"/>
    <p:sldId id="318" r:id="rId6"/>
    <p:sldId id="347" r:id="rId7"/>
    <p:sldId id="352" r:id="rId8"/>
    <p:sldId id="350" r:id="rId9"/>
    <p:sldId id="351" r:id="rId10"/>
    <p:sldId id="353" r:id="rId11"/>
    <p:sldId id="354" r:id="rId12"/>
    <p:sldId id="355" r:id="rId13"/>
    <p:sldId id="356" r:id="rId14"/>
    <p:sldId id="357" r:id="rId15"/>
    <p:sldId id="358" r:id="rId16"/>
    <p:sldId id="361" r:id="rId17"/>
    <p:sldId id="360" r:id="rId18"/>
    <p:sldId id="362" r:id="rId19"/>
    <p:sldId id="359" r:id="rId20"/>
    <p:sldId id="363" r:id="rId21"/>
    <p:sldId id="364" r:id="rId22"/>
    <p:sldId id="365" r:id="rId23"/>
    <p:sldId id="366" r:id="rId24"/>
    <p:sldId id="367" r:id="rId25"/>
    <p:sldId id="368" r:id="rId26"/>
    <p:sldId id="369" r:id="rId27"/>
    <p:sldId id="370" r:id="rId28"/>
    <p:sldId id="371" r:id="rId29"/>
    <p:sldId id="336" r:id="rId3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2" autoAdjust="0"/>
    <p:restoredTop sz="94660"/>
  </p:normalViewPr>
  <p:slideViewPr>
    <p:cSldViewPr snapToGrid="0">
      <p:cViewPr>
        <p:scale>
          <a:sx n="86" d="100"/>
          <a:sy n="86" d="100"/>
        </p:scale>
        <p:origin x="365"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06A8F9-8F42-426C-A12A-2EC0CFD74F6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2BC788-7C8F-49D0-B0CB-452EE27B64B0}"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A9B9EAAC-8ED9-4267-9552-24A483EA931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87776B8-99DC-46DB-8FBE-9573F2250FE8}"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A9B9EAAC-8ED9-4267-9552-24A483EA931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87776B8-99DC-46DB-8FBE-9573F2250FE8}"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A9B9EAAC-8ED9-4267-9552-24A483EA931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87776B8-99DC-46DB-8FBE-9573F2250FE8}"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A9B9EAAC-8ED9-4267-9552-24A483EA931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87776B8-99DC-46DB-8FBE-9573F2250FE8}"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A9B9EAAC-8ED9-4267-9552-24A483EA9319}"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87776B8-99DC-46DB-8FBE-9573F2250FE8}"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A9B9EAAC-8ED9-4267-9552-24A483EA9319}"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87776B8-99DC-46DB-8FBE-9573F2250FE8}"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9B9EAAC-8ED9-4267-9552-24A483EA9319}"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87776B8-99DC-46DB-8FBE-9573F2250FE8}"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A9B9EAAC-8ED9-4267-9552-24A483EA931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87776B8-99DC-46DB-8FBE-9573F2250FE8}"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A9B9EAAC-8ED9-4267-9552-24A483EA931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87776B8-99DC-46DB-8FBE-9573F2250FE8}"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A9B9EAAC-8ED9-4267-9552-24A483EA931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87776B8-99DC-46DB-8FBE-9573F2250FE8}"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A9B9EAAC-8ED9-4267-9552-24A483EA931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87776B8-99DC-46DB-8FBE-9573F2250FE8}"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B9EAAC-8ED9-4267-9552-24A483EA9319}"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7776B8-99DC-46DB-8FBE-9573F2250FE8}"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hyperlink" Target="https://blog.csdn.net/BWzhuzehao/article/details/122740746" TargetMode="External"/><Relationship Id="rId2" Type="http://schemas.openxmlformats.org/officeDocument/2006/relationships/image" Target="../media/image10.GIF"/><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1.png"/><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2.png"/><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3.png"/><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4.png"/><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5.png"/><Relationship Id="rId1"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png"/></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0.png"/><Relationship Id="rId1" Type="http://schemas.openxmlformats.org/officeDocument/2006/relationships/image" Target="../media/image1.png"/></Relationships>
</file>

<file path=ppt/slides/_rels/slide23.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23.png"/><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1.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4.png"/><Relationship Id="rId1" Type="http://schemas.openxmlformats.org/officeDocument/2006/relationships/image" Target="../media/image1.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407318" y="487688"/>
            <a:ext cx="3377364" cy="938156"/>
          </a:xfrm>
          <a:prstGeom prst="rect">
            <a:avLst/>
          </a:prstGeom>
        </p:spPr>
      </p:pic>
      <p:sp>
        <p:nvSpPr>
          <p:cNvPr id="10" name="矩形 9"/>
          <p:cNvSpPr/>
          <p:nvPr/>
        </p:nvSpPr>
        <p:spPr>
          <a:xfrm>
            <a:off x="0" y="2279259"/>
            <a:ext cx="12192000" cy="2299792"/>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800" b="1" dirty="0">
                <a:solidFill>
                  <a:schemeClr val="bg1"/>
                </a:solidFill>
                <a:latin typeface="Harmony"/>
              </a:rPr>
              <a:t>Some</a:t>
            </a:r>
            <a:r>
              <a:rPr lang="zh-CN" altLang="en-US" sz="4800" b="1" dirty="0">
                <a:solidFill>
                  <a:schemeClr val="bg1"/>
                </a:solidFill>
                <a:latin typeface="Harmony"/>
              </a:rPr>
              <a:t> </a:t>
            </a:r>
            <a:r>
              <a:rPr lang="en-US" altLang="zh-CN" sz="4800" b="1" dirty="0">
                <a:solidFill>
                  <a:schemeClr val="bg1"/>
                </a:solidFill>
                <a:latin typeface="Harmony"/>
              </a:rPr>
              <a:t>Algorithm for </a:t>
            </a:r>
            <a:r>
              <a:rPr lang="en-US" altLang="zh-CN" sz="4800" b="1" i="0" dirty="0">
                <a:solidFill>
                  <a:schemeClr val="bg1"/>
                </a:solidFill>
                <a:effectLst/>
                <a:latin typeface="Harmony"/>
              </a:rPr>
              <a:t>Three Partition </a:t>
            </a:r>
            <a:r>
              <a:rPr lang="en-US" altLang="zh-CN" sz="4800" b="1" dirty="0">
                <a:solidFill>
                  <a:schemeClr val="bg1"/>
                </a:solidFill>
                <a:latin typeface="Harmony"/>
              </a:rPr>
              <a:t>P</a:t>
            </a:r>
            <a:r>
              <a:rPr lang="en-US" altLang="zh-CN" sz="4800" b="1" i="0" dirty="0">
                <a:solidFill>
                  <a:schemeClr val="bg1"/>
                </a:solidFill>
                <a:effectLst/>
                <a:latin typeface="Harmony"/>
              </a:rPr>
              <a:t>roblem</a:t>
            </a:r>
            <a:endParaRPr lang="en-US" altLang="zh-CN" sz="4800" b="1" i="0" dirty="0">
              <a:solidFill>
                <a:schemeClr val="bg1"/>
              </a:solidFill>
              <a:effectLst/>
              <a:latin typeface="Harmony"/>
            </a:endParaRPr>
          </a:p>
        </p:txBody>
      </p:sp>
      <p:sp>
        <p:nvSpPr>
          <p:cNvPr id="15" name="平行四边形 14"/>
          <p:cNvSpPr/>
          <p:nvPr/>
        </p:nvSpPr>
        <p:spPr>
          <a:xfrm>
            <a:off x="-185979" y="2032990"/>
            <a:ext cx="4959457" cy="108489"/>
          </a:xfrm>
          <a:prstGeom prst="parallelogram">
            <a:avLst>
              <a:gd name="adj" fmla="val 80556"/>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平行四边形 15"/>
          <p:cNvSpPr/>
          <p:nvPr/>
        </p:nvSpPr>
        <p:spPr>
          <a:xfrm>
            <a:off x="7421105" y="4703038"/>
            <a:ext cx="4959457" cy="108489"/>
          </a:xfrm>
          <a:prstGeom prst="parallelogram">
            <a:avLst>
              <a:gd name="adj" fmla="val 80556"/>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3216957" y="5170856"/>
            <a:ext cx="5758086" cy="523220"/>
          </a:xfrm>
          <a:prstGeom prst="rect">
            <a:avLst/>
          </a:prstGeom>
          <a:noFill/>
        </p:spPr>
        <p:txBody>
          <a:bodyPr wrap="square" rtlCol="0">
            <a:spAutoFit/>
          </a:bodyPr>
          <a:lstStyle/>
          <a:p>
            <a:pPr algn="ctr"/>
            <a:r>
              <a:rPr lang="zh-CN" altLang="en-US" sz="2800" dirty="0"/>
              <a:t>谢骐骏，许景轶，朱泽豪</a:t>
            </a:r>
            <a:endParaRPr lang="zh-CN" altLang="en-US" sz="2800" dirty="0"/>
          </a:p>
        </p:txBody>
      </p:sp>
      <p:sp>
        <p:nvSpPr>
          <p:cNvPr id="3" name="文本框 2"/>
          <p:cNvSpPr txBox="1"/>
          <p:nvPr/>
        </p:nvSpPr>
        <p:spPr>
          <a:xfrm>
            <a:off x="5537193" y="5868739"/>
            <a:ext cx="1117614" cy="369332"/>
          </a:xfrm>
          <a:prstGeom prst="rect">
            <a:avLst/>
          </a:prstGeom>
          <a:noFill/>
        </p:spPr>
        <p:txBody>
          <a:bodyPr wrap="none" rtlCol="0">
            <a:spAutoFit/>
          </a:bodyPr>
          <a:lstStyle/>
          <a:p>
            <a:r>
              <a:rPr lang="en-US" altLang="zh-CN" dirty="0"/>
              <a:t>Group 17</a:t>
            </a:r>
            <a:endParaRPr lang="en-US" altLang="zh-CN"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占位符 9"/>
          <p:cNvSpPr txBox="1"/>
          <p:nvPr/>
        </p:nvSpPr>
        <p:spPr>
          <a:xfrm>
            <a:off x="2941175" y="4070475"/>
            <a:ext cx="7641008" cy="822325"/>
          </a:xfrm>
          <a:prstGeom prst="rect">
            <a:avLst/>
          </a:prstGeom>
          <a:ln>
            <a:noFill/>
          </a:ln>
        </p:spPr>
        <p:txBody>
          <a:bodyPr vert="horz" lIns="91440" tIns="45720" rIns="91440" bIns="45720" rtlCol="0" anchor="ctr">
            <a:noAutofit/>
          </a:bodyPr>
          <a:lstStyle>
            <a:defPPr>
              <a:defRPr lang="zh-CN"/>
            </a:defPPr>
            <a:lvl1pPr marL="0" indent="0" algn="dist" defTabSz="914400" rtl="0" eaLnBrk="1" latinLnBrk="0" hangingPunct="1">
              <a:buNone/>
              <a:defRPr sz="8000" b="1" kern="1200">
                <a:solidFill>
                  <a:srgbClr val="00206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ltLang="zh-CN" sz="2800" spc="400" dirty="0">
                <a:solidFill>
                  <a:srgbClr val="003F88"/>
                </a:solidFill>
              </a:rPr>
              <a:t>Simulated Annealing Algorithm</a:t>
            </a:r>
            <a:endParaRPr lang="zh-CN" altLang="en-US" sz="2800" spc="400" dirty="0">
              <a:solidFill>
                <a:srgbClr val="003F88"/>
              </a:solidFill>
            </a:endParaRPr>
          </a:p>
        </p:txBody>
      </p:sp>
      <p:sp>
        <p:nvSpPr>
          <p:cNvPr id="21" name="文本占位符 9"/>
          <p:cNvSpPr txBox="1"/>
          <p:nvPr/>
        </p:nvSpPr>
        <p:spPr>
          <a:xfrm>
            <a:off x="2941174" y="2819268"/>
            <a:ext cx="8795106" cy="822325"/>
          </a:xfrm>
          <a:prstGeom prst="rect">
            <a:avLst/>
          </a:prstGeom>
          <a:ln>
            <a:noFill/>
          </a:ln>
        </p:spPr>
        <p:txBody>
          <a:bodyPr vert="horz" lIns="91440" tIns="45720" rIns="91440" bIns="45720" rtlCol="0" anchor="ctr">
            <a:noAutofit/>
          </a:bodyPr>
          <a:lstStyle>
            <a:defPPr>
              <a:defRPr lang="zh-CN"/>
            </a:defPPr>
            <a:lvl1pPr marL="0" indent="0" algn="dist" defTabSz="914400" rtl="0" eaLnBrk="1" latinLnBrk="0" hangingPunct="1">
              <a:buNone/>
              <a:defRPr sz="8000" b="1" kern="1200">
                <a:solidFill>
                  <a:srgbClr val="00206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ltLang="zh-CN" sz="3200" spc="400" dirty="0">
                <a:solidFill>
                  <a:srgbClr val="003F88"/>
                </a:solidFill>
              </a:rPr>
              <a:t>DFS&amp;DP Algorithm</a:t>
            </a:r>
            <a:endParaRPr lang="zh-CN" altLang="en-US" sz="3200" spc="400" dirty="0">
              <a:solidFill>
                <a:srgbClr val="003F88"/>
              </a:solidFill>
            </a:endParaRPr>
          </a:p>
        </p:txBody>
      </p:sp>
      <p:sp>
        <p:nvSpPr>
          <p:cNvPr id="39" name="矩形 38"/>
          <p:cNvSpPr/>
          <p:nvPr/>
        </p:nvSpPr>
        <p:spPr>
          <a:xfrm>
            <a:off x="3257106" y="1261877"/>
            <a:ext cx="5677787" cy="148857"/>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1247617" y="1701514"/>
            <a:ext cx="1420191" cy="58110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lumMod val="60000"/>
                  <a:lumOff val="40000"/>
                </a:schemeClr>
              </a:solidFill>
            </a:endParaRPr>
          </a:p>
        </p:txBody>
      </p:sp>
      <p:sp>
        <p:nvSpPr>
          <p:cNvPr id="14" name="文本框 13"/>
          <p:cNvSpPr txBox="1"/>
          <p:nvPr/>
        </p:nvSpPr>
        <p:spPr>
          <a:xfrm>
            <a:off x="1512382" y="1580899"/>
            <a:ext cx="890660" cy="830997"/>
          </a:xfrm>
          <a:prstGeom prst="rect">
            <a:avLst/>
          </a:prstGeom>
          <a:noFill/>
        </p:spPr>
        <p:txBody>
          <a:bodyPr wrap="square" rtlCol="0">
            <a:spAutoFit/>
          </a:bodyPr>
          <a:lstStyle/>
          <a:p>
            <a:pPr algn="ctr"/>
            <a:r>
              <a:rPr lang="en-US" altLang="zh-CN" sz="4800" dirty="0">
                <a:solidFill>
                  <a:srgbClr val="003F88"/>
                </a:solidFill>
                <a:effectLst>
                  <a:outerShdw blurRad="38100" dist="38100" dir="2700000" algn="tl" rotWithShape="0">
                    <a:schemeClr val="accent5">
                      <a:lumMod val="75000"/>
                      <a:alpha val="51000"/>
                    </a:schemeClr>
                  </a:outerShdw>
                </a:effectLst>
                <a:latin typeface="Impact" panose="020B0806030902050204" pitchFamily="34" charset="0"/>
              </a:rPr>
              <a:t>01</a:t>
            </a:r>
            <a:endParaRPr lang="zh-CN" altLang="en-US" sz="4800" dirty="0">
              <a:solidFill>
                <a:srgbClr val="003F88"/>
              </a:solidFill>
              <a:effectLst>
                <a:outerShdw blurRad="38100" dist="38100" dir="2700000" algn="tl" rotWithShape="0">
                  <a:schemeClr val="accent5">
                    <a:lumMod val="75000"/>
                    <a:alpha val="51000"/>
                  </a:schemeClr>
                </a:outerShdw>
              </a:effectLst>
              <a:latin typeface="Impact" panose="020B0806030902050204" pitchFamily="34" charset="0"/>
            </a:endParaRPr>
          </a:p>
        </p:txBody>
      </p:sp>
      <p:sp>
        <p:nvSpPr>
          <p:cNvPr id="22" name="椭圆 21"/>
          <p:cNvSpPr/>
          <p:nvPr/>
        </p:nvSpPr>
        <p:spPr>
          <a:xfrm>
            <a:off x="1247617" y="2935548"/>
            <a:ext cx="1420191" cy="58110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lumMod val="60000"/>
                  <a:lumOff val="40000"/>
                </a:schemeClr>
              </a:solidFill>
            </a:endParaRPr>
          </a:p>
        </p:txBody>
      </p:sp>
      <p:sp>
        <p:nvSpPr>
          <p:cNvPr id="23" name="文本框 22"/>
          <p:cNvSpPr txBox="1"/>
          <p:nvPr/>
        </p:nvSpPr>
        <p:spPr>
          <a:xfrm>
            <a:off x="1512382" y="2814933"/>
            <a:ext cx="890660" cy="830997"/>
          </a:xfrm>
          <a:prstGeom prst="rect">
            <a:avLst/>
          </a:prstGeom>
          <a:noFill/>
        </p:spPr>
        <p:txBody>
          <a:bodyPr wrap="square" rtlCol="0">
            <a:spAutoFit/>
          </a:bodyPr>
          <a:lstStyle/>
          <a:p>
            <a:pPr algn="ctr"/>
            <a:r>
              <a:rPr lang="en-US" altLang="zh-CN" sz="4800" dirty="0">
                <a:solidFill>
                  <a:srgbClr val="003F88"/>
                </a:solidFill>
                <a:effectLst>
                  <a:outerShdw blurRad="38100" dist="38100" dir="2700000" algn="tl" rotWithShape="0">
                    <a:schemeClr val="accent5">
                      <a:lumMod val="75000"/>
                      <a:alpha val="51000"/>
                    </a:schemeClr>
                  </a:outerShdw>
                </a:effectLst>
                <a:latin typeface="Impact" panose="020B0806030902050204" pitchFamily="34" charset="0"/>
              </a:rPr>
              <a:t>02</a:t>
            </a:r>
            <a:endParaRPr lang="zh-CN" altLang="en-US" sz="4800" dirty="0">
              <a:solidFill>
                <a:srgbClr val="003F88"/>
              </a:solidFill>
              <a:effectLst>
                <a:outerShdw blurRad="38100" dist="38100" dir="2700000" algn="tl" rotWithShape="0">
                  <a:schemeClr val="accent5">
                    <a:lumMod val="75000"/>
                    <a:alpha val="51000"/>
                  </a:schemeClr>
                </a:outerShdw>
              </a:effectLst>
              <a:latin typeface="Impact" panose="020B0806030902050204" pitchFamily="34" charset="0"/>
            </a:endParaRPr>
          </a:p>
        </p:txBody>
      </p:sp>
      <p:sp>
        <p:nvSpPr>
          <p:cNvPr id="27" name="椭圆 26"/>
          <p:cNvSpPr/>
          <p:nvPr/>
        </p:nvSpPr>
        <p:spPr>
          <a:xfrm>
            <a:off x="1247617" y="4194887"/>
            <a:ext cx="1420191" cy="58110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lumMod val="60000"/>
                  <a:lumOff val="40000"/>
                </a:schemeClr>
              </a:solidFill>
            </a:endParaRPr>
          </a:p>
        </p:txBody>
      </p:sp>
      <p:sp>
        <p:nvSpPr>
          <p:cNvPr id="28" name="文本框 27"/>
          <p:cNvSpPr txBox="1"/>
          <p:nvPr/>
        </p:nvSpPr>
        <p:spPr>
          <a:xfrm>
            <a:off x="1512382" y="4074272"/>
            <a:ext cx="890660" cy="830997"/>
          </a:xfrm>
          <a:prstGeom prst="rect">
            <a:avLst/>
          </a:prstGeom>
          <a:noFill/>
        </p:spPr>
        <p:txBody>
          <a:bodyPr wrap="square" rtlCol="0">
            <a:spAutoFit/>
          </a:bodyPr>
          <a:lstStyle/>
          <a:p>
            <a:pPr algn="ctr"/>
            <a:r>
              <a:rPr lang="en-US" altLang="zh-CN" sz="4800" dirty="0">
                <a:solidFill>
                  <a:srgbClr val="003F88"/>
                </a:solidFill>
                <a:effectLst>
                  <a:outerShdw blurRad="38100" dist="38100" dir="2700000" algn="tl" rotWithShape="0">
                    <a:schemeClr val="accent5">
                      <a:lumMod val="75000"/>
                      <a:alpha val="51000"/>
                    </a:schemeClr>
                  </a:outerShdw>
                </a:effectLst>
                <a:latin typeface="Impact" panose="020B0806030902050204" pitchFamily="34" charset="0"/>
              </a:rPr>
              <a:t>03</a:t>
            </a:r>
            <a:endParaRPr lang="zh-CN" altLang="en-US" sz="4800" dirty="0">
              <a:solidFill>
                <a:srgbClr val="003F88"/>
              </a:solidFill>
              <a:effectLst>
                <a:outerShdw blurRad="38100" dist="38100" dir="2700000" algn="tl" rotWithShape="0">
                  <a:schemeClr val="accent5">
                    <a:lumMod val="75000"/>
                    <a:alpha val="51000"/>
                  </a:schemeClr>
                </a:outerShdw>
              </a:effectLst>
              <a:latin typeface="Impact" panose="020B0806030902050204" pitchFamily="34" charset="0"/>
            </a:endParaRPr>
          </a:p>
        </p:txBody>
      </p:sp>
      <p:sp>
        <p:nvSpPr>
          <p:cNvPr id="40" name="文本框 39"/>
          <p:cNvSpPr txBox="1"/>
          <p:nvPr/>
        </p:nvSpPr>
        <p:spPr>
          <a:xfrm>
            <a:off x="4860815" y="690697"/>
            <a:ext cx="2470365" cy="646331"/>
          </a:xfrm>
          <a:prstGeom prst="rect">
            <a:avLst/>
          </a:prstGeom>
          <a:noFill/>
        </p:spPr>
        <p:txBody>
          <a:bodyPr wrap="square" rtlCol="0">
            <a:spAutoFit/>
          </a:bodyPr>
          <a:lstStyle/>
          <a:p>
            <a:pPr algn="dist"/>
            <a:r>
              <a:rPr lang="en-US" altLang="zh-CN" sz="3600" b="1" dirty="0">
                <a:solidFill>
                  <a:srgbClr val="003F88"/>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Contents</a:t>
            </a:r>
            <a:endParaRPr lang="zh-CN" altLang="en-US" sz="3600" b="1" dirty="0">
              <a:solidFill>
                <a:srgbClr val="003F88"/>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p:txBody>
      </p:sp>
      <p:sp>
        <p:nvSpPr>
          <p:cNvPr id="31" name="文本占位符 9"/>
          <p:cNvSpPr txBox="1"/>
          <p:nvPr/>
        </p:nvSpPr>
        <p:spPr>
          <a:xfrm>
            <a:off x="2941174" y="1570751"/>
            <a:ext cx="8555409" cy="822325"/>
          </a:xfrm>
          <a:prstGeom prst="rect">
            <a:avLst/>
          </a:prstGeom>
          <a:ln>
            <a:noFill/>
          </a:ln>
        </p:spPr>
        <p:txBody>
          <a:bodyPr vert="horz" lIns="91440" tIns="45720" rIns="91440" bIns="45720" rtlCol="0" anchor="ctr">
            <a:noAutofit/>
          </a:bodyPr>
          <a:lstStyle>
            <a:defPPr>
              <a:defRPr lang="zh-CN"/>
            </a:defPPr>
            <a:lvl1pPr marL="0" indent="0" algn="dist" defTabSz="914400" rtl="0" eaLnBrk="1" latinLnBrk="0" hangingPunct="1">
              <a:buNone/>
              <a:defRPr sz="8000" b="1" kern="1200">
                <a:solidFill>
                  <a:srgbClr val="00206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ltLang="zh-CN" sz="3200" spc="400" dirty="0">
                <a:solidFill>
                  <a:srgbClr val="003F88"/>
                </a:solidFill>
              </a:rPr>
              <a:t>Problem Restatement &amp; Our Work</a:t>
            </a:r>
            <a:endParaRPr lang="zh-CN" altLang="en-US" sz="3200" spc="400" dirty="0">
              <a:solidFill>
                <a:srgbClr val="003F88"/>
              </a:solidFill>
            </a:endParaRPr>
          </a:p>
        </p:txBody>
      </p:sp>
      <p:sp>
        <p:nvSpPr>
          <p:cNvPr id="29" name="矩形: 圆角 28"/>
          <p:cNvSpPr/>
          <p:nvPr/>
        </p:nvSpPr>
        <p:spPr>
          <a:xfrm>
            <a:off x="216692" y="242887"/>
            <a:ext cx="11758613" cy="6415088"/>
          </a:xfrm>
          <a:prstGeom prst="roundRect">
            <a:avLst>
              <a:gd name="adj" fmla="val 4863"/>
            </a:avLst>
          </a:prstGeom>
          <a:noFill/>
          <a:ln w="28575">
            <a:solidFill>
              <a:schemeClr val="accent5">
                <a:lumMod val="60000"/>
                <a:lumOff val="4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占位符 9"/>
          <p:cNvSpPr txBox="1"/>
          <p:nvPr/>
        </p:nvSpPr>
        <p:spPr>
          <a:xfrm>
            <a:off x="2941174" y="5243253"/>
            <a:ext cx="8077345" cy="822325"/>
          </a:xfrm>
          <a:prstGeom prst="rect">
            <a:avLst/>
          </a:prstGeom>
          <a:ln>
            <a:noFill/>
          </a:ln>
        </p:spPr>
        <p:txBody>
          <a:bodyPr vert="horz" lIns="91440" tIns="45720" rIns="91440" bIns="45720" rtlCol="0" anchor="ctr">
            <a:noAutofit/>
          </a:bodyPr>
          <a:lstStyle>
            <a:defPPr>
              <a:defRPr lang="zh-CN"/>
            </a:defPPr>
            <a:lvl1pPr marL="0" indent="0" algn="dist" defTabSz="914400" rtl="0" eaLnBrk="1" latinLnBrk="0" hangingPunct="1">
              <a:buNone/>
              <a:defRPr sz="8000" b="1" kern="1200">
                <a:solidFill>
                  <a:srgbClr val="00206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ltLang="zh-CN" sz="2800" spc="400" dirty="0">
                <a:solidFill>
                  <a:srgbClr val="003F88"/>
                </a:solidFill>
              </a:rPr>
              <a:t>Test of Algorithm</a:t>
            </a:r>
            <a:endParaRPr lang="zh-CN" altLang="en-US" sz="2800" spc="400" dirty="0">
              <a:solidFill>
                <a:srgbClr val="003F88"/>
              </a:solidFill>
            </a:endParaRPr>
          </a:p>
        </p:txBody>
      </p:sp>
      <p:sp>
        <p:nvSpPr>
          <p:cNvPr id="15" name="椭圆 14"/>
          <p:cNvSpPr/>
          <p:nvPr/>
        </p:nvSpPr>
        <p:spPr>
          <a:xfrm>
            <a:off x="1247617" y="5367665"/>
            <a:ext cx="1420191" cy="58110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lumMod val="60000"/>
                  <a:lumOff val="40000"/>
                </a:schemeClr>
              </a:solidFill>
            </a:endParaRPr>
          </a:p>
        </p:txBody>
      </p:sp>
      <p:sp>
        <p:nvSpPr>
          <p:cNvPr id="17" name="文本框 16"/>
          <p:cNvSpPr txBox="1"/>
          <p:nvPr/>
        </p:nvSpPr>
        <p:spPr>
          <a:xfrm>
            <a:off x="1512382" y="5247050"/>
            <a:ext cx="890660" cy="830997"/>
          </a:xfrm>
          <a:prstGeom prst="rect">
            <a:avLst/>
          </a:prstGeom>
          <a:noFill/>
        </p:spPr>
        <p:txBody>
          <a:bodyPr wrap="square" rtlCol="0">
            <a:spAutoFit/>
          </a:bodyPr>
          <a:lstStyle/>
          <a:p>
            <a:pPr algn="ctr"/>
            <a:r>
              <a:rPr lang="en-US" altLang="zh-CN" sz="4800" dirty="0">
                <a:solidFill>
                  <a:srgbClr val="003F88"/>
                </a:solidFill>
                <a:effectLst>
                  <a:outerShdw blurRad="38100" dist="38100" dir="2700000" algn="tl" rotWithShape="0">
                    <a:schemeClr val="accent5">
                      <a:lumMod val="75000"/>
                      <a:alpha val="51000"/>
                    </a:schemeClr>
                  </a:outerShdw>
                </a:effectLst>
                <a:latin typeface="Impact" panose="020B0806030902050204" pitchFamily="34" charset="0"/>
              </a:rPr>
              <a:t>04</a:t>
            </a:r>
            <a:endParaRPr lang="zh-CN" altLang="en-US" sz="4800" dirty="0">
              <a:solidFill>
                <a:srgbClr val="003F88"/>
              </a:solidFill>
              <a:effectLst>
                <a:outerShdw blurRad="38100" dist="38100" dir="2700000" algn="tl" rotWithShape="0">
                  <a:schemeClr val="accent5">
                    <a:lumMod val="75000"/>
                    <a:alpha val="51000"/>
                  </a:schemeClr>
                </a:outerShdw>
              </a:effectLst>
              <a:latin typeface="Impact" panose="020B080603090205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7"/>
          <p:cNvSpPr txBox="1"/>
          <p:nvPr/>
        </p:nvSpPr>
        <p:spPr>
          <a:xfrm>
            <a:off x="4388748" y="901132"/>
            <a:ext cx="3414500" cy="1909677"/>
          </a:xfrm>
          <a:prstGeom prst="rect">
            <a:avLst/>
          </a:prstGeom>
        </p:spPr>
        <p:txBody>
          <a:bodyPr vert="horz" lIns="91440" tIns="45720" rIns="91440" bIns="45720" rtlCol="0" anchor="ctr">
            <a:noAutofit/>
          </a:bodyPr>
          <a:lstStyle>
            <a:defPPr>
              <a:defRPr lang="zh-CN"/>
            </a:defPPr>
            <a:lvl1pPr marL="0" indent="0" algn="dist" defTabSz="914400" rtl="0" eaLnBrk="1" latinLnBrk="0" hangingPunct="1">
              <a:buNone/>
              <a:defRPr sz="25000" kern="1200">
                <a:solidFill>
                  <a:schemeClr val="bg1">
                    <a:lumMod val="85000"/>
                  </a:schemeClr>
                </a:solidFill>
                <a:latin typeface="Impact" panose="020B080603090205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8800" dirty="0">
                <a:solidFill>
                  <a:srgbClr val="0070C0"/>
                </a:solidFill>
              </a:rPr>
              <a:t>0  1</a:t>
            </a:r>
            <a:endParaRPr lang="zh-CN" altLang="en-US" sz="8800" dirty="0">
              <a:solidFill>
                <a:srgbClr val="0070C0"/>
              </a:solidFill>
            </a:endParaRPr>
          </a:p>
        </p:txBody>
      </p:sp>
      <p:sp>
        <p:nvSpPr>
          <p:cNvPr id="5" name="矩形 4"/>
          <p:cNvSpPr/>
          <p:nvPr/>
        </p:nvSpPr>
        <p:spPr>
          <a:xfrm>
            <a:off x="2729345" y="4551218"/>
            <a:ext cx="6954705" cy="8312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占位符 9"/>
          <p:cNvSpPr txBox="1"/>
          <p:nvPr/>
        </p:nvSpPr>
        <p:spPr>
          <a:xfrm>
            <a:off x="612559" y="3116837"/>
            <a:ext cx="11274641" cy="822325"/>
          </a:xfrm>
          <a:prstGeom prst="rect">
            <a:avLst/>
          </a:prstGeom>
        </p:spPr>
        <p:txBody>
          <a:bodyPr vert="horz" lIns="91440" tIns="45720" rIns="91440" bIns="45720" rtlCol="0" anchor="ctr">
            <a:noAutofit/>
          </a:bodyPr>
          <a:lstStyle>
            <a:defPPr>
              <a:defRPr lang="zh-CN"/>
            </a:defPPr>
            <a:lvl1pPr marL="0" indent="0" algn="dist" defTabSz="914400" rtl="0" eaLnBrk="1" latinLnBrk="0" hangingPunct="1">
              <a:buNone/>
              <a:defRPr sz="8000" b="1" kern="1200">
                <a:solidFill>
                  <a:srgbClr val="00206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ltLang="zh-CN" sz="4800" spc="400" dirty="0">
                <a:solidFill>
                  <a:srgbClr val="003F88"/>
                </a:solidFill>
              </a:rPr>
              <a:t>Problem Restatement &amp; Our Work</a:t>
            </a:r>
            <a:endParaRPr lang="zh-CN" altLang="en-US" sz="4800" spc="400" dirty="0">
              <a:solidFill>
                <a:srgbClr val="003F88"/>
              </a:solidFill>
            </a:endParaRPr>
          </a:p>
        </p:txBody>
      </p:sp>
      <p:sp>
        <p:nvSpPr>
          <p:cNvPr id="7" name="矩形: 圆角 6"/>
          <p:cNvSpPr/>
          <p:nvPr/>
        </p:nvSpPr>
        <p:spPr>
          <a:xfrm>
            <a:off x="216692" y="242887"/>
            <a:ext cx="11758613" cy="6415088"/>
          </a:xfrm>
          <a:prstGeom prst="roundRect">
            <a:avLst>
              <a:gd name="adj" fmla="val 4863"/>
            </a:avLst>
          </a:prstGeom>
          <a:noFill/>
          <a:ln w="28575">
            <a:solidFill>
              <a:srgbClr val="003F88"/>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332509" y="415637"/>
            <a:ext cx="8035637" cy="411017"/>
            <a:chOff x="387927" y="452582"/>
            <a:chExt cx="8035637" cy="411017"/>
          </a:xfrm>
        </p:grpSpPr>
        <p:sp>
          <p:nvSpPr>
            <p:cNvPr id="2" name="矩形 1"/>
            <p:cNvSpPr/>
            <p:nvPr/>
          </p:nvSpPr>
          <p:spPr>
            <a:xfrm>
              <a:off x="387927" y="452582"/>
              <a:ext cx="387928" cy="184727"/>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581891" y="544945"/>
              <a:ext cx="512618" cy="318654"/>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5" name="直接连接符 4"/>
            <p:cNvCxnSpPr/>
            <p:nvPr/>
          </p:nvCxnSpPr>
          <p:spPr>
            <a:xfrm>
              <a:off x="951345" y="826655"/>
              <a:ext cx="7472219"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grpSp>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929268" y="277013"/>
            <a:ext cx="2045209" cy="568113"/>
          </a:xfrm>
          <a:prstGeom prst="rect">
            <a:avLst/>
          </a:prstGeom>
        </p:spPr>
      </p:pic>
      <p:sp>
        <p:nvSpPr>
          <p:cNvPr id="9" name="文本框 8"/>
          <p:cNvSpPr txBox="1"/>
          <p:nvPr/>
        </p:nvSpPr>
        <p:spPr>
          <a:xfrm>
            <a:off x="1165161" y="269066"/>
            <a:ext cx="7357402" cy="523220"/>
          </a:xfrm>
          <a:prstGeom prst="rect">
            <a:avLst/>
          </a:prstGeom>
          <a:noFill/>
        </p:spPr>
        <p:txBody>
          <a:bodyPr wrap="square" rtlCol="0">
            <a:spAutoFit/>
          </a:bodyPr>
          <a:lstStyle/>
          <a:p>
            <a:r>
              <a:rPr lang="en-US" altLang="zh-CN" sz="2800" spc="400" dirty="0">
                <a:solidFill>
                  <a:srgbClr val="003F88"/>
                </a:solidFill>
              </a:rPr>
              <a:t>Problem Restatement</a:t>
            </a:r>
            <a:endParaRPr lang="zh-CN" altLang="en-US" sz="2800" spc="400" dirty="0">
              <a:solidFill>
                <a:srgbClr val="003F88"/>
              </a:solidFill>
            </a:endParaRPr>
          </a:p>
        </p:txBody>
      </p:sp>
      <mc:AlternateContent xmlns:mc="http://schemas.openxmlformats.org/markup-compatibility/2006">
        <mc:Choice xmlns:a14="http://schemas.microsoft.com/office/drawing/2010/main" Requires="a14">
          <p:sp>
            <p:nvSpPr>
              <p:cNvPr id="10" name="矩形 9"/>
              <p:cNvSpPr/>
              <p:nvPr/>
            </p:nvSpPr>
            <p:spPr>
              <a:xfrm>
                <a:off x="526473" y="1542989"/>
                <a:ext cx="11074400" cy="1918962"/>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dirty="0">
                    <a:solidFill>
                      <a:schemeClr val="tx1"/>
                    </a:solidFill>
                  </a:rPr>
                  <a:t>Given a positive number </a:t>
                </a:r>
                <a14:m>
                  <m:oMath xmlns:m="http://schemas.openxmlformats.org/officeDocument/2006/math">
                    <m:r>
                      <a:rPr lang="en-US" altLang="zh-CN" sz="2400" b="0" i="1" smtClean="0">
                        <a:solidFill>
                          <a:schemeClr val="tx1"/>
                        </a:solidFill>
                        <a:latin typeface="Cambria Math" panose="02040503050406030204" pitchFamily="18" charset="0"/>
                      </a:rPr>
                      <m:t>𝑁</m:t>
                    </m:r>
                  </m:oMath>
                </a14:m>
                <a:r>
                  <a:rPr lang="zh-CN" altLang="en-US" sz="2400" dirty="0">
                    <a:solidFill>
                      <a:schemeClr val="tx1"/>
                    </a:solidFill>
                  </a:rPr>
                  <a:t> </a:t>
                </a:r>
                <a:r>
                  <a:rPr lang="en-US" altLang="zh-CN" sz="2400" dirty="0">
                    <a:solidFill>
                      <a:schemeClr val="tx1"/>
                    </a:solidFill>
                  </a:rPr>
                  <a:t>and </a:t>
                </a:r>
                <a14:m>
                  <m:oMath xmlns:m="http://schemas.openxmlformats.org/officeDocument/2006/math">
                    <m:r>
                      <a:rPr lang="en-US" altLang="zh-CN" sz="2400" b="0" i="1" smtClean="0">
                        <a:solidFill>
                          <a:schemeClr val="tx1"/>
                        </a:solidFill>
                        <a:latin typeface="Cambria Math" panose="02040503050406030204" pitchFamily="18" charset="0"/>
                      </a:rPr>
                      <m:t>𝑁</m:t>
                    </m:r>
                  </m:oMath>
                </a14:m>
                <a:r>
                  <a:rPr lang="zh-CN" altLang="en-US" sz="2400" dirty="0">
                    <a:solidFill>
                      <a:schemeClr val="tx1"/>
                    </a:solidFill>
                  </a:rPr>
                  <a:t> </a:t>
                </a:r>
                <a:r>
                  <a:rPr lang="en-US" altLang="zh-CN" sz="2400" dirty="0">
                    <a:solidFill>
                      <a:schemeClr val="tx1"/>
                    </a:solidFill>
                  </a:rPr>
                  <a:t>positive integers</a:t>
                </a:r>
                <a14:m>
                  <m:oMath xmlns:m="http://schemas.openxmlformats.org/officeDocument/2006/math">
                    <m:r>
                      <a:rPr lang="en-US" altLang="zh-CN" sz="2400" b="0" i="0" smtClean="0">
                        <a:solidFill>
                          <a:schemeClr val="tx1"/>
                        </a:solidFill>
                        <a:latin typeface="Cambria Math" panose="02040503050406030204" pitchFamily="18" charset="0"/>
                      </a:rPr>
                      <m:t> </m:t>
                    </m:r>
                    <m:sSub>
                      <m:sSubPr>
                        <m:ctrlPr>
                          <a:rPr lang="en-US" altLang="zh-CN" sz="2400" i="1" smtClean="0">
                            <a:solidFill>
                              <a:schemeClr val="tx1"/>
                            </a:solidFill>
                            <a:latin typeface="Cambria Math" panose="02040503050406030204" pitchFamily="18" charset="0"/>
                          </a:rPr>
                        </m:ctrlPr>
                      </m:sSubPr>
                      <m:e>
                        <m:r>
                          <a:rPr lang="en-US" altLang="zh-CN" sz="2400" b="0" i="1" smtClean="0">
                            <a:solidFill>
                              <a:schemeClr val="tx1"/>
                            </a:solidFill>
                            <a:latin typeface="Cambria Math" panose="02040503050406030204" pitchFamily="18" charset="0"/>
                          </a:rPr>
                          <m:t>𝑎</m:t>
                        </m:r>
                      </m:e>
                      <m:sub>
                        <m:r>
                          <a:rPr lang="en-US" altLang="zh-CN" sz="2400" b="0" i="1" smtClean="0">
                            <a:solidFill>
                              <a:schemeClr val="tx1"/>
                            </a:solidFill>
                            <a:latin typeface="Cambria Math" panose="02040503050406030204" pitchFamily="18" charset="0"/>
                          </a:rPr>
                          <m:t>1</m:t>
                        </m:r>
                      </m:sub>
                    </m:sSub>
                    <m:r>
                      <a:rPr lang="en-US" altLang="zh-CN" sz="2400" b="0" i="1" smtClean="0">
                        <a:solidFill>
                          <a:schemeClr val="tx1"/>
                        </a:solidFill>
                        <a:latin typeface="Cambria Math" panose="02040503050406030204" pitchFamily="18" charset="0"/>
                      </a:rPr>
                      <m:t>,</m:t>
                    </m:r>
                    <m:sSub>
                      <m:sSubPr>
                        <m:ctrlPr>
                          <a:rPr lang="en-US" altLang="zh-CN" sz="2400" b="0" i="1" smtClean="0">
                            <a:solidFill>
                              <a:schemeClr val="tx1"/>
                            </a:solidFill>
                            <a:latin typeface="Cambria Math" panose="02040503050406030204" pitchFamily="18" charset="0"/>
                          </a:rPr>
                        </m:ctrlPr>
                      </m:sSubPr>
                      <m:e>
                        <m:r>
                          <a:rPr lang="en-US" altLang="zh-CN" sz="2400" b="0" i="1" smtClean="0">
                            <a:solidFill>
                              <a:schemeClr val="tx1"/>
                            </a:solidFill>
                            <a:latin typeface="Cambria Math" panose="02040503050406030204" pitchFamily="18" charset="0"/>
                          </a:rPr>
                          <m:t>𝑎</m:t>
                        </m:r>
                      </m:e>
                      <m:sub>
                        <m:r>
                          <a:rPr lang="en-US" altLang="zh-CN" sz="2400" b="0" i="1" smtClean="0">
                            <a:solidFill>
                              <a:schemeClr val="tx1"/>
                            </a:solidFill>
                            <a:latin typeface="Cambria Math" panose="02040503050406030204" pitchFamily="18" charset="0"/>
                          </a:rPr>
                          <m:t>2</m:t>
                        </m:r>
                      </m:sub>
                    </m:sSub>
                    <m:r>
                      <a:rPr lang="en-US" altLang="zh-CN" sz="2400" b="0" i="1" smtClean="0">
                        <a:solidFill>
                          <a:schemeClr val="tx1"/>
                        </a:solidFill>
                        <a:latin typeface="Cambria Math" panose="02040503050406030204" pitchFamily="18" charset="0"/>
                      </a:rPr>
                      <m:t>,…,</m:t>
                    </m:r>
                    <m:sSub>
                      <m:sSubPr>
                        <m:ctrlPr>
                          <a:rPr lang="en-US" altLang="zh-CN" sz="2400" b="0" i="1" smtClean="0">
                            <a:solidFill>
                              <a:schemeClr val="tx1"/>
                            </a:solidFill>
                            <a:latin typeface="Cambria Math" panose="02040503050406030204" pitchFamily="18" charset="0"/>
                          </a:rPr>
                        </m:ctrlPr>
                      </m:sSubPr>
                      <m:e>
                        <m:r>
                          <a:rPr lang="en-US" altLang="zh-CN" sz="2400" b="0" i="1" smtClean="0">
                            <a:solidFill>
                              <a:schemeClr val="tx1"/>
                            </a:solidFill>
                            <a:latin typeface="Cambria Math" panose="02040503050406030204" pitchFamily="18" charset="0"/>
                          </a:rPr>
                          <m:t>𝑎</m:t>
                        </m:r>
                      </m:e>
                      <m:sub>
                        <m:r>
                          <a:rPr lang="en-US" altLang="zh-CN" sz="2400" b="0" i="1" smtClean="0">
                            <a:solidFill>
                              <a:schemeClr val="tx1"/>
                            </a:solidFill>
                            <a:latin typeface="Cambria Math" panose="02040503050406030204" pitchFamily="18" charset="0"/>
                          </a:rPr>
                          <m:t>𝑛</m:t>
                        </m:r>
                      </m:sub>
                    </m:sSub>
                  </m:oMath>
                </a14:m>
                <a:r>
                  <a:rPr lang="en-US" altLang="zh-CN" sz="2400" dirty="0">
                    <a:solidFill>
                      <a:schemeClr val="tx1"/>
                    </a:solidFill>
                  </a:rPr>
                  <a:t>.Our task is to calculate whether there is a three-partition that can partition them into three parts and their sum is exactly the same. And if the answer is yes, we also need to give a three-partition solution.</a:t>
                </a:r>
                <a:endParaRPr lang="zh-CN" altLang="en-US" sz="2400" dirty="0">
                  <a:solidFill>
                    <a:schemeClr val="tx1"/>
                  </a:solidFill>
                </a:endParaRPr>
              </a:p>
            </p:txBody>
          </p:sp>
        </mc:Choice>
        <mc:Fallback>
          <p:sp>
            <p:nvSpPr>
              <p:cNvPr id="10" name="矩形 9"/>
              <p:cNvSpPr>
                <a:spLocks noRot="1" noChangeAspect="1" noMove="1" noResize="1" noEditPoints="1" noAdjustHandles="1" noChangeArrowheads="1" noChangeShapeType="1" noTextEdit="1"/>
              </p:cNvSpPr>
              <p:nvPr/>
            </p:nvSpPr>
            <p:spPr>
              <a:xfrm>
                <a:off x="526473" y="1542989"/>
                <a:ext cx="11074400" cy="1918962"/>
              </a:xfrm>
              <a:prstGeom prst="rect">
                <a:avLst/>
              </a:prstGeom>
              <a:blipFill rotWithShape="1">
                <a:blip r:embed="rId2"/>
                <a:stretch>
                  <a:fillRect l="-1" t="-30" r="1" b="29"/>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p:sp>
        <p:nvSpPr>
          <p:cNvPr id="12" name="文本框 11"/>
          <p:cNvSpPr txBox="1"/>
          <p:nvPr/>
        </p:nvSpPr>
        <p:spPr>
          <a:xfrm>
            <a:off x="526473" y="972460"/>
            <a:ext cx="3347391" cy="461665"/>
          </a:xfrm>
          <a:prstGeom prst="rect">
            <a:avLst/>
          </a:prstGeom>
          <a:noFill/>
        </p:spPr>
        <p:txBody>
          <a:bodyPr wrap="none" rtlCol="0">
            <a:spAutoFit/>
          </a:bodyPr>
          <a:lstStyle/>
          <a:p>
            <a:r>
              <a:rPr lang="en-US" altLang="zh-CN" sz="2400" dirty="0"/>
              <a:t>Problem Restatement</a:t>
            </a:r>
            <a:r>
              <a:rPr lang="zh-CN" altLang="en-US" sz="2400" dirty="0"/>
              <a:t>：</a:t>
            </a:r>
            <a:endParaRPr lang="zh-CN" altLang="en-US" sz="2400" dirty="0"/>
          </a:p>
        </p:txBody>
      </p:sp>
      <mc:AlternateContent xmlns:mc="http://schemas.openxmlformats.org/markup-compatibility/2006">
        <mc:Choice xmlns:a14="http://schemas.microsoft.com/office/drawing/2010/main" Requires="a14">
          <p:sp>
            <p:nvSpPr>
              <p:cNvPr id="15" name="文本框 14"/>
              <p:cNvSpPr txBox="1"/>
              <p:nvPr/>
            </p:nvSpPr>
            <p:spPr>
              <a:xfrm>
                <a:off x="526473" y="3790482"/>
                <a:ext cx="10528623" cy="2052870"/>
              </a:xfrm>
              <a:prstGeom prst="rect">
                <a:avLst/>
              </a:prstGeom>
              <a:noFill/>
            </p:spPr>
            <p:txBody>
              <a:bodyPr wrap="square" rtlCol="0">
                <a:spAutoFit/>
              </a:bodyPr>
              <a:lstStyle/>
              <a:p>
                <a:r>
                  <a:rPr lang="en-US" altLang="zh-CN" sz="2400" dirty="0"/>
                  <a:t>In order to discuss conveniently, we give some notations and assumptions as follows:</a:t>
                </a:r>
                <a:endParaRPr lang="en-US" altLang="zh-CN" sz="2400" dirty="0"/>
              </a:p>
              <a:p>
                <a:pPr marL="285750" indent="-285750">
                  <a:buFont typeface="Wingdings" panose="05000000000000000000" pitchFamily="2" charset="2"/>
                  <a:buChar char="l"/>
                </a:pPr>
                <a:r>
                  <a:rPr lang="en-US" altLang="zh-CN" sz="2400" dirty="0"/>
                  <a:t>Notations: </a:t>
                </a:r>
                <a14:m>
                  <m:oMath xmlns:m="http://schemas.openxmlformats.org/officeDocument/2006/math">
                    <m:r>
                      <m:rPr>
                        <m:sty m:val="p"/>
                      </m:rPr>
                      <a:rPr lang="en-US" altLang="zh-CN" sz="2400" b="0" i="0" smtClean="0">
                        <a:latin typeface="Cambria Math" panose="02040503050406030204" pitchFamily="18" charset="0"/>
                      </a:rPr>
                      <m:t>T</m:t>
                    </m:r>
                    <m:r>
                      <a:rPr lang="en-US" altLang="zh-CN" sz="2400" b="0" i="0" smtClean="0">
                        <a:latin typeface="Cambria Math" panose="02040503050406030204" pitchFamily="18" charset="0"/>
                      </a:rPr>
                      <m:t>=</m:t>
                    </m:r>
                    <m:func>
                      <m:funcPr>
                        <m:ctrlPr>
                          <a:rPr lang="en-US" altLang="zh-CN" sz="2400" b="0" smtClean="0">
                            <a:latin typeface="Cambria Math" panose="02040503050406030204" pitchFamily="18" charset="0"/>
                          </a:rPr>
                        </m:ctrlPr>
                      </m:funcPr>
                      <m:fName>
                        <m:limLow>
                          <m:limLowPr>
                            <m:ctrlPr>
                              <a:rPr lang="en-US" altLang="zh-CN" sz="2400" b="0" smtClean="0">
                                <a:latin typeface="Cambria Math" panose="02040503050406030204" pitchFamily="18" charset="0"/>
                              </a:rPr>
                            </m:ctrlPr>
                          </m:limLowPr>
                          <m:e>
                            <m:r>
                              <m:rPr>
                                <m:sty m:val="p"/>
                              </m:rPr>
                              <a:rPr lang="en-US" altLang="zh-CN" sz="2400" b="0" i="0" smtClean="0">
                                <a:latin typeface="Cambria Math" panose="02040503050406030204" pitchFamily="18" charset="0"/>
                              </a:rPr>
                              <m:t>max</m:t>
                            </m:r>
                          </m:e>
                          <m:lim>
                            <m:r>
                              <a:rPr lang="en-US" altLang="zh-CN" sz="2400" b="0" i="0" smtClean="0">
                                <a:latin typeface="Cambria Math" panose="02040503050406030204" pitchFamily="18" charset="0"/>
                              </a:rPr>
                              <m:t>1</m:t>
                            </m:r>
                            <m:r>
                              <a:rPr lang="en-US" altLang="zh-CN" sz="2400" i="0" smtClean="0">
                                <a:latin typeface="Cambria Math" panose="02040503050406030204" pitchFamily="18" charset="0"/>
                                <a:ea typeface="Cambria Math" panose="02040503050406030204" pitchFamily="18" charset="0"/>
                              </a:rPr>
                              <m:t>≤</m:t>
                            </m:r>
                            <m:r>
                              <m:rPr>
                                <m:sty m:val="p"/>
                              </m:rPr>
                              <a:rPr lang="en-US" altLang="zh-CN" sz="2400" b="0" i="0" smtClean="0">
                                <a:latin typeface="Cambria Math" panose="02040503050406030204" pitchFamily="18" charset="0"/>
                                <a:ea typeface="Cambria Math" panose="02040503050406030204" pitchFamily="18" charset="0"/>
                              </a:rPr>
                              <m:t>i</m:t>
                            </m:r>
                            <m:r>
                              <a:rPr lang="en-US" altLang="zh-CN" sz="2400" b="0" i="0" smtClean="0">
                                <a:latin typeface="Cambria Math" panose="02040503050406030204" pitchFamily="18" charset="0"/>
                                <a:ea typeface="Cambria Math" panose="02040503050406030204" pitchFamily="18" charset="0"/>
                              </a:rPr>
                              <m:t>≤</m:t>
                            </m:r>
                            <m:r>
                              <m:rPr>
                                <m:sty m:val="p"/>
                              </m:rPr>
                              <a:rPr lang="en-US" altLang="zh-CN" sz="2400" b="0" i="0" smtClean="0">
                                <a:latin typeface="Cambria Math" panose="02040503050406030204" pitchFamily="18" charset="0"/>
                                <a:ea typeface="Cambria Math" panose="02040503050406030204" pitchFamily="18" charset="0"/>
                              </a:rPr>
                              <m:t>n</m:t>
                            </m:r>
                          </m:lim>
                        </m:limLow>
                      </m:fName>
                      <m:e>
                        <m:d>
                          <m:dPr>
                            <m:begChr m:val="{"/>
                            <m:endChr m:val="}"/>
                            <m:ctrlPr>
                              <a:rPr lang="en-US" altLang="zh-CN" sz="2400" b="0" smtClean="0">
                                <a:latin typeface="Cambria Math" panose="02040503050406030204" pitchFamily="18" charset="0"/>
                              </a:rPr>
                            </m:ctrlPr>
                          </m:dPr>
                          <m:e>
                            <m:sSub>
                              <m:sSubPr>
                                <m:ctrlPr>
                                  <a:rPr lang="en-US" altLang="zh-CN" sz="2400" b="0" smtClean="0">
                                    <a:latin typeface="Cambria Math" panose="02040503050406030204" pitchFamily="18" charset="0"/>
                                  </a:rPr>
                                </m:ctrlPr>
                              </m:sSubPr>
                              <m:e>
                                <m:r>
                                  <m:rPr>
                                    <m:sty m:val="p"/>
                                  </m:rPr>
                                  <a:rPr lang="en-US" altLang="zh-CN" sz="2400" b="0" i="0" smtClean="0">
                                    <a:latin typeface="Cambria Math" panose="02040503050406030204" pitchFamily="18" charset="0"/>
                                  </a:rPr>
                                  <m:t>a</m:t>
                                </m:r>
                              </m:e>
                              <m:sub>
                                <m:r>
                                  <m:rPr>
                                    <m:sty m:val="p"/>
                                  </m:rPr>
                                  <a:rPr lang="en-US" altLang="zh-CN" sz="2400" b="0" i="0" smtClean="0">
                                    <a:latin typeface="Cambria Math" panose="02040503050406030204" pitchFamily="18" charset="0"/>
                                  </a:rPr>
                                  <m:t>i</m:t>
                                </m:r>
                              </m:sub>
                            </m:sSub>
                          </m:e>
                        </m:d>
                      </m:e>
                    </m:func>
                    <m:r>
                      <a:rPr lang="en-US" altLang="zh-CN" sz="2400" b="0" i="0" smtClean="0">
                        <a:latin typeface="Cambria Math" panose="02040503050406030204" pitchFamily="18" charset="0"/>
                      </a:rPr>
                      <m:t>,</m:t>
                    </m:r>
                    <m:r>
                      <m:rPr>
                        <m:sty m:val="p"/>
                      </m:rPr>
                      <a:rPr lang="en-US" altLang="zh-CN" sz="2400" b="0" i="0" smtClean="0">
                        <a:latin typeface="Cambria Math" panose="02040503050406030204" pitchFamily="18" charset="0"/>
                      </a:rPr>
                      <m:t>sum</m:t>
                    </m:r>
                    <m:r>
                      <a:rPr lang="en-US" altLang="zh-CN" sz="2400" b="0" i="0" smtClean="0">
                        <a:latin typeface="Cambria Math" panose="02040503050406030204" pitchFamily="18" charset="0"/>
                      </a:rPr>
                      <m:t>=</m:t>
                    </m:r>
                    <m:nary>
                      <m:naryPr>
                        <m:chr m:val="∑"/>
                        <m:ctrlPr>
                          <a:rPr lang="en-US" altLang="zh-CN" sz="2400" b="0" smtClean="0">
                            <a:latin typeface="Cambria Math" panose="02040503050406030204" pitchFamily="18" charset="0"/>
                          </a:rPr>
                        </m:ctrlPr>
                      </m:naryPr>
                      <m:sub>
                        <m:r>
                          <m:rPr>
                            <m:sty m:val="p"/>
                            <m:brk m:alnAt="23"/>
                          </m:rPr>
                          <a:rPr lang="en-US" altLang="zh-CN" sz="2400" b="0" i="0" smtClean="0">
                            <a:latin typeface="Cambria Math" panose="02040503050406030204" pitchFamily="18" charset="0"/>
                          </a:rPr>
                          <m:t>i</m:t>
                        </m:r>
                        <m:r>
                          <a:rPr lang="en-US" altLang="zh-CN" sz="2400" b="0" i="0" smtClean="0">
                            <a:latin typeface="Cambria Math" panose="02040503050406030204" pitchFamily="18" charset="0"/>
                          </a:rPr>
                          <m:t>=</m:t>
                        </m:r>
                        <m:r>
                          <a:rPr lang="en-US" altLang="zh-CN" sz="2400" b="0" i="0" smtClean="0">
                            <a:latin typeface="Cambria Math" panose="02040503050406030204" pitchFamily="18" charset="0"/>
                          </a:rPr>
                          <m:t>1</m:t>
                        </m:r>
                      </m:sub>
                      <m:sup>
                        <m:r>
                          <m:rPr>
                            <m:sty m:val="p"/>
                          </m:rPr>
                          <a:rPr lang="en-US" altLang="zh-CN" sz="2400" b="0" i="0" smtClean="0">
                            <a:latin typeface="Cambria Math" panose="02040503050406030204" pitchFamily="18" charset="0"/>
                          </a:rPr>
                          <m:t>n</m:t>
                        </m:r>
                      </m:sup>
                      <m:e>
                        <m:sSub>
                          <m:sSubPr>
                            <m:ctrlPr>
                              <a:rPr lang="en-US" altLang="zh-CN" sz="2400" b="0" smtClean="0">
                                <a:latin typeface="Cambria Math" panose="02040503050406030204" pitchFamily="18" charset="0"/>
                              </a:rPr>
                            </m:ctrlPr>
                          </m:sSubPr>
                          <m:e>
                            <m:r>
                              <m:rPr>
                                <m:sty m:val="p"/>
                              </m:rPr>
                              <a:rPr lang="en-US" altLang="zh-CN" sz="2400" b="0" i="0" smtClean="0">
                                <a:latin typeface="Cambria Math" panose="02040503050406030204" pitchFamily="18" charset="0"/>
                              </a:rPr>
                              <m:t>a</m:t>
                            </m:r>
                          </m:e>
                          <m:sub>
                            <m:r>
                              <m:rPr>
                                <m:sty m:val="p"/>
                              </m:rPr>
                              <a:rPr lang="en-US" altLang="zh-CN" sz="2400" b="0" i="0" smtClean="0">
                                <a:latin typeface="Cambria Math" panose="02040503050406030204" pitchFamily="18" charset="0"/>
                              </a:rPr>
                              <m:t>i</m:t>
                            </m:r>
                          </m:sub>
                        </m:sSub>
                      </m:e>
                    </m:nary>
                    <m:r>
                      <a:rPr lang="en-US" altLang="zh-CN" sz="2400" b="0" i="0" smtClean="0">
                        <a:latin typeface="Cambria Math" panose="02040503050406030204" pitchFamily="18" charset="0"/>
                      </a:rPr>
                      <m:t>,</m:t>
                    </m:r>
                    <m:r>
                      <m:rPr>
                        <m:sty m:val="p"/>
                      </m:rPr>
                      <a:rPr lang="en-US" altLang="zh-CN" sz="2400" b="0" i="0" smtClean="0">
                        <a:latin typeface="Cambria Math" panose="02040503050406030204" pitchFamily="18" charset="0"/>
                      </a:rPr>
                      <m:t>M</m:t>
                    </m:r>
                    <m:r>
                      <a:rPr lang="en-US" altLang="zh-CN" sz="2400" b="0" i="0" smtClean="0">
                        <a:latin typeface="Cambria Math" panose="02040503050406030204" pitchFamily="18" charset="0"/>
                      </a:rPr>
                      <m:t>=</m:t>
                    </m:r>
                    <m:r>
                      <m:rPr>
                        <m:sty m:val="p"/>
                      </m:rPr>
                      <a:rPr lang="en-US" altLang="zh-CN" sz="2400" b="0" i="0" smtClean="0">
                        <a:latin typeface="Cambria Math" panose="02040503050406030204" pitchFamily="18" charset="0"/>
                      </a:rPr>
                      <m:t>sum</m:t>
                    </m:r>
                    <m:r>
                      <a:rPr lang="en-US" altLang="zh-CN" sz="2400" b="0" i="0" smtClean="0">
                        <a:latin typeface="Cambria Math" panose="02040503050406030204" pitchFamily="18" charset="0"/>
                      </a:rPr>
                      <m:t>/</m:t>
                    </m:r>
                    <m:r>
                      <a:rPr lang="en-US" altLang="zh-CN" sz="2400" b="0" i="0" smtClean="0">
                        <a:latin typeface="Cambria Math" panose="02040503050406030204" pitchFamily="18" charset="0"/>
                      </a:rPr>
                      <m:t>3</m:t>
                    </m:r>
                  </m:oMath>
                </a14:m>
                <a:endParaRPr lang="en-US" altLang="zh-CN" sz="2400" dirty="0"/>
              </a:p>
              <a:p>
                <a:pPr marL="285750" indent="-285750">
                  <a:buFont typeface="Wingdings" panose="05000000000000000000" pitchFamily="2" charset="2"/>
                  <a:buChar char="l"/>
                </a:pPr>
                <a:r>
                  <a:rPr lang="en-US" altLang="zh-CN" sz="2400" dirty="0" err="1"/>
                  <a:t>Assumption:We</a:t>
                </a:r>
                <a:r>
                  <a:rPr lang="en-US" altLang="zh-CN" sz="2400" dirty="0"/>
                  <a:t> assume that </a:t>
                </a:r>
                <a14:m>
                  <m:oMath xmlns:m="http://schemas.openxmlformats.org/officeDocument/2006/math">
                    <m:r>
                      <m:rPr>
                        <m:sty m:val="p"/>
                      </m:rPr>
                      <a:rPr lang="en-US" altLang="zh-CN" sz="2400" b="0" i="0" smtClean="0">
                        <a:latin typeface="Cambria Math" panose="02040503050406030204" pitchFamily="18" charset="0"/>
                      </a:rPr>
                      <m:t>sum</m:t>
                    </m:r>
                  </m:oMath>
                </a14:m>
                <a:r>
                  <a:rPr lang="en-US" altLang="zh-CN" sz="2400" dirty="0"/>
                  <a:t> is divisible by 3. If </a:t>
                </a:r>
                <a14:m>
                  <m:oMath xmlns:m="http://schemas.openxmlformats.org/officeDocument/2006/math">
                    <m:r>
                      <m:rPr>
                        <m:sty m:val="p"/>
                      </m:rPr>
                      <a:rPr lang="en-US" altLang="zh-CN" sz="2400" i="0" dirty="0" smtClean="0">
                        <a:latin typeface="Cambria Math" panose="02040503050406030204" pitchFamily="18" charset="0"/>
                      </a:rPr>
                      <m:t>sum</m:t>
                    </m:r>
                  </m:oMath>
                </a14:m>
                <a:r>
                  <a:rPr lang="en-US" altLang="zh-CN" sz="2400" dirty="0"/>
                  <a:t> isn’t divisible by 3, then the answer is obviously no.</a:t>
                </a:r>
                <a:endParaRPr lang="en-US" altLang="zh-CN" sz="2400" dirty="0"/>
              </a:p>
            </p:txBody>
          </p:sp>
        </mc:Choice>
        <mc:Fallback>
          <p:sp>
            <p:nvSpPr>
              <p:cNvPr id="15" name="文本框 14"/>
              <p:cNvSpPr txBox="1">
                <a:spLocks noRot="1" noChangeAspect="1" noMove="1" noResize="1" noEditPoints="1" noAdjustHandles="1" noChangeArrowheads="1" noChangeShapeType="1" noTextEdit="1"/>
              </p:cNvSpPr>
              <p:nvPr/>
            </p:nvSpPr>
            <p:spPr>
              <a:xfrm>
                <a:off x="526473" y="3790482"/>
                <a:ext cx="10528623" cy="2052870"/>
              </a:xfrm>
              <a:prstGeom prst="rect">
                <a:avLst/>
              </a:prstGeom>
              <a:blipFill rotWithShape="1">
                <a:blip r:embed="rId3"/>
                <a:stretch>
                  <a:fillRect l="-1" t="-8" r="4" b="-1419"/>
                </a:stretch>
              </a:blipFill>
            </p:spPr>
            <p:txBody>
              <a:bodyPr/>
              <a:lstStyle/>
              <a:p>
                <a:r>
                  <a:rPr lang="en-US"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332509" y="415637"/>
            <a:ext cx="8035637" cy="411017"/>
            <a:chOff x="387927" y="452582"/>
            <a:chExt cx="8035637" cy="411017"/>
          </a:xfrm>
        </p:grpSpPr>
        <p:sp>
          <p:nvSpPr>
            <p:cNvPr id="2" name="矩形 1"/>
            <p:cNvSpPr/>
            <p:nvPr/>
          </p:nvSpPr>
          <p:spPr>
            <a:xfrm>
              <a:off x="387927" y="452582"/>
              <a:ext cx="387928" cy="184727"/>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581891" y="544945"/>
              <a:ext cx="512618" cy="318654"/>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5" name="直接连接符 4"/>
            <p:cNvCxnSpPr/>
            <p:nvPr/>
          </p:nvCxnSpPr>
          <p:spPr>
            <a:xfrm>
              <a:off x="951345" y="826655"/>
              <a:ext cx="7472219"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grpSp>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929268" y="277013"/>
            <a:ext cx="2045209" cy="568113"/>
          </a:xfrm>
          <a:prstGeom prst="rect">
            <a:avLst/>
          </a:prstGeom>
        </p:spPr>
      </p:pic>
      <p:sp>
        <p:nvSpPr>
          <p:cNvPr id="9" name="文本框 8"/>
          <p:cNvSpPr txBox="1"/>
          <p:nvPr/>
        </p:nvSpPr>
        <p:spPr>
          <a:xfrm>
            <a:off x="1165161" y="269066"/>
            <a:ext cx="4930839" cy="523220"/>
          </a:xfrm>
          <a:prstGeom prst="rect">
            <a:avLst/>
          </a:prstGeom>
          <a:noFill/>
        </p:spPr>
        <p:txBody>
          <a:bodyPr wrap="square" rtlCol="0">
            <a:spAutoFit/>
          </a:bodyPr>
          <a:lstStyle/>
          <a:p>
            <a:r>
              <a:rPr lang="en-US" altLang="zh-CN" sz="2800" spc="400" dirty="0">
                <a:solidFill>
                  <a:srgbClr val="003F88"/>
                </a:solidFill>
              </a:rPr>
              <a:t>Our Work</a:t>
            </a:r>
            <a:endParaRPr lang="zh-CN" altLang="en-US" sz="2800" spc="400" dirty="0">
              <a:solidFill>
                <a:srgbClr val="003F88"/>
              </a:solidFill>
            </a:endParaRPr>
          </a:p>
        </p:txBody>
      </p:sp>
      <p:sp>
        <p:nvSpPr>
          <p:cNvPr id="4" name="文本框 3"/>
          <p:cNvSpPr txBox="1"/>
          <p:nvPr/>
        </p:nvSpPr>
        <p:spPr>
          <a:xfrm>
            <a:off x="526473" y="1768648"/>
            <a:ext cx="1790875" cy="461665"/>
          </a:xfrm>
          <a:prstGeom prst="rect">
            <a:avLst/>
          </a:prstGeom>
          <a:noFill/>
        </p:spPr>
        <p:txBody>
          <a:bodyPr wrap="none" rtlCol="0">
            <a:spAutoFit/>
          </a:bodyPr>
          <a:lstStyle/>
          <a:p>
            <a:r>
              <a:rPr lang="en-US" altLang="zh-CN" sz="2400" dirty="0"/>
              <a:t>Our Work</a:t>
            </a:r>
            <a:r>
              <a:rPr lang="zh-CN" altLang="en-US" sz="2400" dirty="0"/>
              <a:t>：</a:t>
            </a:r>
            <a:endParaRPr lang="zh-CN" altLang="en-US" sz="2400" dirty="0"/>
          </a:p>
        </p:txBody>
      </p:sp>
      <p:sp>
        <p:nvSpPr>
          <p:cNvPr id="7" name="文本框 6"/>
          <p:cNvSpPr txBox="1"/>
          <p:nvPr/>
        </p:nvSpPr>
        <p:spPr>
          <a:xfrm>
            <a:off x="526473" y="2245871"/>
            <a:ext cx="11074400" cy="2677656"/>
          </a:xfrm>
          <a:prstGeom prst="rect">
            <a:avLst/>
          </a:prstGeom>
          <a:solidFill>
            <a:schemeClr val="accent5">
              <a:lumMod val="20000"/>
              <a:lumOff val="80000"/>
            </a:schemeClr>
          </a:solidFill>
        </p:spPr>
        <p:txBody>
          <a:bodyPr wrap="square" rtlCol="0">
            <a:spAutoFit/>
          </a:bodyPr>
          <a:lstStyle/>
          <a:p>
            <a:r>
              <a:rPr lang="en-US" altLang="zh-CN" sz="2400" b="0" i="0" dirty="0">
                <a:solidFill>
                  <a:srgbClr val="0F1115"/>
                </a:solidFill>
                <a:effectLst/>
                <a:latin typeface="+mn-ea"/>
              </a:rPr>
              <a:t>Initially, we employed a </a:t>
            </a:r>
            <a:r>
              <a:rPr lang="en-US" altLang="zh-CN" sz="2400" b="1" i="0" dirty="0">
                <a:solidFill>
                  <a:srgbClr val="0F1115"/>
                </a:solidFill>
                <a:effectLst/>
                <a:latin typeface="+mn-ea"/>
              </a:rPr>
              <a:t>DFS algorithm with pruning </a:t>
            </a:r>
            <a:r>
              <a:rPr lang="en-US" altLang="zh-CN" sz="2400" b="0" i="0" dirty="0">
                <a:solidFill>
                  <a:srgbClr val="0F1115"/>
                </a:solidFill>
                <a:effectLst/>
                <a:latin typeface="+mn-ea"/>
              </a:rPr>
              <a:t>and a </a:t>
            </a:r>
            <a:r>
              <a:rPr lang="en-US" altLang="zh-CN" sz="2400" b="1" i="0" dirty="0">
                <a:solidFill>
                  <a:srgbClr val="0F1115"/>
                </a:solidFill>
                <a:effectLst/>
                <a:latin typeface="+mn-ea"/>
              </a:rPr>
              <a:t>DP algorithm </a:t>
            </a:r>
            <a:r>
              <a:rPr lang="en-US" altLang="zh-CN" sz="2400" b="0" i="0" dirty="0">
                <a:solidFill>
                  <a:srgbClr val="0F1115"/>
                </a:solidFill>
                <a:effectLst/>
                <a:latin typeface="+mn-ea"/>
              </a:rPr>
              <a:t>to provide an exact solution to the problem. Subsequently, considering that the runtime of the first two algorithms would increase significantly for larger-scale instances, we adopted a </a:t>
            </a:r>
            <a:r>
              <a:rPr lang="en-US" altLang="zh-CN" sz="2400" b="1" i="0" dirty="0">
                <a:solidFill>
                  <a:srgbClr val="0F1115"/>
                </a:solidFill>
                <a:effectLst/>
                <a:latin typeface="+mn-ea"/>
              </a:rPr>
              <a:t>simulated annealing(SA) algorithm </a:t>
            </a:r>
            <a:r>
              <a:rPr lang="en-US" altLang="zh-CN" sz="2400" b="0" i="0" dirty="0">
                <a:solidFill>
                  <a:srgbClr val="0F1115"/>
                </a:solidFill>
                <a:effectLst/>
                <a:latin typeface="+mn-ea"/>
              </a:rPr>
              <a:t>to address this issue. The SA algorithm can determine with a high probability whether the problem has a solution within a relatively short time and, if a solution exists, provide a valid set of assignments.</a:t>
            </a:r>
            <a:endParaRPr lang="zh-CN" altLang="en-US" sz="2400" dirty="0">
              <a:latin typeface="+mn-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7"/>
          <p:cNvSpPr txBox="1"/>
          <p:nvPr/>
        </p:nvSpPr>
        <p:spPr>
          <a:xfrm>
            <a:off x="4388748" y="901132"/>
            <a:ext cx="3414500" cy="1909677"/>
          </a:xfrm>
          <a:prstGeom prst="rect">
            <a:avLst/>
          </a:prstGeom>
        </p:spPr>
        <p:txBody>
          <a:bodyPr vert="horz" lIns="91440" tIns="45720" rIns="91440" bIns="45720" rtlCol="0" anchor="ctr">
            <a:noAutofit/>
          </a:bodyPr>
          <a:lstStyle>
            <a:defPPr>
              <a:defRPr lang="zh-CN"/>
            </a:defPPr>
            <a:lvl1pPr marL="0" indent="0" algn="dist" defTabSz="914400" rtl="0" eaLnBrk="1" latinLnBrk="0" hangingPunct="1">
              <a:buNone/>
              <a:defRPr sz="25000" kern="1200">
                <a:solidFill>
                  <a:schemeClr val="bg1">
                    <a:lumMod val="85000"/>
                  </a:schemeClr>
                </a:solidFill>
                <a:latin typeface="Impact" panose="020B080603090205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8800" dirty="0">
                <a:solidFill>
                  <a:srgbClr val="0070C0"/>
                </a:solidFill>
              </a:rPr>
              <a:t>0  2</a:t>
            </a:r>
            <a:endParaRPr lang="zh-CN" altLang="en-US" sz="8800" dirty="0">
              <a:solidFill>
                <a:srgbClr val="0070C0"/>
              </a:solidFill>
            </a:endParaRPr>
          </a:p>
        </p:txBody>
      </p:sp>
      <p:sp>
        <p:nvSpPr>
          <p:cNvPr id="5" name="矩形 4"/>
          <p:cNvSpPr/>
          <p:nvPr/>
        </p:nvSpPr>
        <p:spPr>
          <a:xfrm>
            <a:off x="2729345" y="4551218"/>
            <a:ext cx="6954705" cy="8312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占位符 9"/>
          <p:cNvSpPr txBox="1"/>
          <p:nvPr/>
        </p:nvSpPr>
        <p:spPr>
          <a:xfrm>
            <a:off x="2414153" y="3116837"/>
            <a:ext cx="7585087" cy="822325"/>
          </a:xfrm>
          <a:prstGeom prst="rect">
            <a:avLst/>
          </a:prstGeom>
        </p:spPr>
        <p:txBody>
          <a:bodyPr vert="horz" lIns="91440" tIns="45720" rIns="91440" bIns="45720" rtlCol="0" anchor="ctr">
            <a:noAutofit/>
          </a:bodyPr>
          <a:lstStyle>
            <a:defPPr>
              <a:defRPr lang="zh-CN"/>
            </a:defPPr>
            <a:lvl1pPr marL="0" indent="0" algn="dist" defTabSz="914400" rtl="0" eaLnBrk="1" latinLnBrk="0" hangingPunct="1">
              <a:buNone/>
              <a:defRPr sz="8000" b="1" kern="1200">
                <a:solidFill>
                  <a:srgbClr val="00206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4800" spc="400" dirty="0">
                <a:solidFill>
                  <a:srgbClr val="003F88"/>
                </a:solidFill>
              </a:rPr>
              <a:t>DFS&amp;DP Algorithm</a:t>
            </a:r>
            <a:endParaRPr lang="zh-CN" altLang="en-US" sz="4800" spc="400" dirty="0">
              <a:solidFill>
                <a:srgbClr val="003F88"/>
              </a:solidFill>
            </a:endParaRPr>
          </a:p>
        </p:txBody>
      </p:sp>
      <p:sp>
        <p:nvSpPr>
          <p:cNvPr id="7" name="矩形: 圆角 6"/>
          <p:cNvSpPr/>
          <p:nvPr/>
        </p:nvSpPr>
        <p:spPr>
          <a:xfrm>
            <a:off x="216692" y="242887"/>
            <a:ext cx="11758613" cy="6415088"/>
          </a:xfrm>
          <a:prstGeom prst="roundRect">
            <a:avLst>
              <a:gd name="adj" fmla="val 4863"/>
            </a:avLst>
          </a:prstGeom>
          <a:noFill/>
          <a:ln w="28575">
            <a:solidFill>
              <a:srgbClr val="003F88"/>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332509" y="415637"/>
            <a:ext cx="8035637" cy="411017"/>
            <a:chOff x="387927" y="452582"/>
            <a:chExt cx="8035637" cy="411017"/>
          </a:xfrm>
        </p:grpSpPr>
        <p:sp>
          <p:nvSpPr>
            <p:cNvPr id="2" name="矩形 1"/>
            <p:cNvSpPr/>
            <p:nvPr/>
          </p:nvSpPr>
          <p:spPr>
            <a:xfrm>
              <a:off x="387927" y="452582"/>
              <a:ext cx="387928" cy="184727"/>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581891" y="544945"/>
              <a:ext cx="512618" cy="318654"/>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5" name="直接连接符 4"/>
            <p:cNvCxnSpPr/>
            <p:nvPr/>
          </p:nvCxnSpPr>
          <p:spPr>
            <a:xfrm>
              <a:off x="951345" y="826655"/>
              <a:ext cx="7472219"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grpSp>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929268" y="277013"/>
            <a:ext cx="2045209" cy="568113"/>
          </a:xfrm>
          <a:prstGeom prst="rect">
            <a:avLst/>
          </a:prstGeom>
        </p:spPr>
      </p:pic>
      <p:sp>
        <p:nvSpPr>
          <p:cNvPr id="9" name="文本框 8"/>
          <p:cNvSpPr txBox="1"/>
          <p:nvPr/>
        </p:nvSpPr>
        <p:spPr>
          <a:xfrm>
            <a:off x="1165161" y="269066"/>
            <a:ext cx="4930839" cy="523220"/>
          </a:xfrm>
          <a:prstGeom prst="rect">
            <a:avLst/>
          </a:prstGeom>
          <a:noFill/>
        </p:spPr>
        <p:txBody>
          <a:bodyPr wrap="square" rtlCol="0">
            <a:spAutoFit/>
          </a:bodyPr>
          <a:lstStyle/>
          <a:p>
            <a:r>
              <a:rPr lang="en-US" altLang="zh-CN" sz="2800" spc="400" dirty="0">
                <a:solidFill>
                  <a:srgbClr val="003F88"/>
                </a:solidFill>
              </a:rPr>
              <a:t>DFS Algorithm</a:t>
            </a:r>
            <a:endParaRPr lang="zh-CN" altLang="en-US" sz="2800" spc="400" dirty="0">
              <a:solidFill>
                <a:srgbClr val="003F88"/>
              </a:solidFill>
            </a:endParaRPr>
          </a:p>
        </p:txBody>
      </p:sp>
      <mc:AlternateContent xmlns:mc="http://schemas.openxmlformats.org/markup-compatibility/2006">
        <mc:Choice xmlns:a14="http://schemas.microsoft.com/office/drawing/2010/main" Requires="a14">
          <p:sp>
            <p:nvSpPr>
              <p:cNvPr id="10" name="矩形 9"/>
              <p:cNvSpPr/>
              <p:nvPr/>
            </p:nvSpPr>
            <p:spPr>
              <a:xfrm>
                <a:off x="526473" y="1135592"/>
                <a:ext cx="11074400" cy="3359552"/>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altLang="zh-CN" sz="2400" b="1" i="0" dirty="0">
                    <a:solidFill>
                      <a:srgbClr val="0F1115"/>
                    </a:solidFill>
                    <a:effectLst/>
                    <a:latin typeface="+mn-ea"/>
                  </a:rPr>
                  <a:t>Core Logic:</a:t>
                </a:r>
                <a:endParaRPr lang="en-US" altLang="zh-CN" sz="2400" b="1" i="0" dirty="0">
                  <a:solidFill>
                    <a:srgbClr val="0F1115"/>
                  </a:solidFill>
                  <a:effectLst/>
                  <a:latin typeface="+mn-ea"/>
                </a:endParaRPr>
              </a:p>
              <a:p>
                <a:pPr algn="l"/>
                <a:r>
                  <a:rPr lang="en-US" altLang="zh-CN" sz="2400" b="1" i="0" dirty="0">
                    <a:solidFill>
                      <a:srgbClr val="0F1115"/>
                    </a:solidFill>
                    <a:effectLst/>
                    <a:latin typeface="+mn-ea"/>
                  </a:rPr>
                  <a:t>Recursive Assignment</a:t>
                </a:r>
                <a:r>
                  <a:rPr lang="en-US" altLang="zh-CN" sz="2400" b="0" i="0" dirty="0">
                    <a:solidFill>
                      <a:srgbClr val="0F1115"/>
                    </a:solidFill>
                    <a:effectLst/>
                    <a:latin typeface="+mn-ea"/>
                  </a:rPr>
                  <a:t>: Systematically try placing each number into one of three </a:t>
                </a:r>
                <a:r>
                  <a:rPr lang="en-US" altLang="zh-CN" sz="2400" b="0" i="0" dirty="0" err="1">
                    <a:solidFill>
                      <a:srgbClr val="0F1115"/>
                    </a:solidFill>
                    <a:effectLst/>
                    <a:latin typeface="+mn-ea"/>
                  </a:rPr>
                  <a:t>buckets,first</a:t>
                </a:r>
                <a:r>
                  <a:rPr lang="en-US" altLang="zh-CN" sz="2400" b="0" i="0" dirty="0">
                    <a:solidFill>
                      <a:srgbClr val="0F1115"/>
                    </a:solidFill>
                    <a:effectLst/>
                    <a:latin typeface="+mn-ea"/>
                  </a:rPr>
                  <a:t> bucket 1, then bucket 2, finally bucket 3</a:t>
                </a:r>
                <a:endParaRPr lang="en-US" altLang="zh-CN" sz="2400" b="0" i="0" dirty="0">
                  <a:solidFill>
                    <a:srgbClr val="0F1115"/>
                  </a:solidFill>
                  <a:effectLst/>
                  <a:latin typeface="+mn-ea"/>
                </a:endParaRPr>
              </a:p>
              <a:p>
                <a:pPr algn="l"/>
                <a:r>
                  <a:rPr lang="en-US" altLang="zh-CN" sz="2400" b="1" i="0" dirty="0">
                    <a:solidFill>
                      <a:srgbClr val="0F1115"/>
                    </a:solidFill>
                    <a:effectLst/>
                    <a:latin typeface="+mn-ea"/>
                  </a:rPr>
                  <a:t>Goal Achievement</a:t>
                </a:r>
                <a:r>
                  <a:rPr lang="en-US" altLang="zh-CN" sz="2400" b="0" i="0" dirty="0">
                    <a:solidFill>
                      <a:srgbClr val="0F1115"/>
                    </a:solidFill>
                    <a:effectLst/>
                    <a:latin typeface="+mn-ea"/>
                  </a:rPr>
                  <a:t>: Ensure each bucket reaches the target sum </a:t>
                </a:r>
                <a14:m>
                  <m:oMath xmlns:m="http://schemas.openxmlformats.org/officeDocument/2006/math">
                    <m:r>
                      <a:rPr lang="en-US" altLang="zh-CN" sz="2400" b="0" i="1" smtClean="0">
                        <a:solidFill>
                          <a:srgbClr val="0F1115"/>
                        </a:solidFill>
                        <a:effectLst/>
                        <a:latin typeface="Cambria Math" panose="02040503050406030204" pitchFamily="18" charset="0"/>
                      </a:rPr>
                      <m:t>𝑀</m:t>
                    </m:r>
                  </m:oMath>
                </a14:m>
                <a:r>
                  <a:rPr lang="en-US" altLang="zh-CN" sz="2400" b="0" i="0" dirty="0">
                    <a:solidFill>
                      <a:srgbClr val="0F1115"/>
                    </a:solidFill>
                    <a:effectLst/>
                    <a:latin typeface="+mn-ea"/>
                  </a:rPr>
                  <a:t>. If we achieve this goal</a:t>
                </a:r>
                <a:r>
                  <a:rPr lang="en-US" altLang="zh-CN" sz="2400" dirty="0">
                    <a:solidFill>
                      <a:srgbClr val="0F1115"/>
                    </a:solidFill>
                    <a:latin typeface="+mn-ea"/>
                  </a:rPr>
                  <a:t>, we also have a solution.</a:t>
                </a:r>
                <a:endParaRPr lang="en-US" altLang="zh-CN" sz="2400" b="0" i="0" dirty="0">
                  <a:solidFill>
                    <a:srgbClr val="0F1115"/>
                  </a:solidFill>
                  <a:effectLst/>
                  <a:latin typeface="+mn-ea"/>
                </a:endParaRPr>
              </a:p>
              <a:p>
                <a:pPr algn="l"/>
                <a:r>
                  <a:rPr lang="en-US" altLang="zh-CN" sz="2400" b="1" i="0" dirty="0">
                    <a:solidFill>
                      <a:srgbClr val="0F1115"/>
                    </a:solidFill>
                    <a:effectLst/>
                    <a:latin typeface="+mn-ea"/>
                  </a:rPr>
                  <a:t>Backtracking Mechanism</a:t>
                </a:r>
                <a:r>
                  <a:rPr lang="en-US" altLang="zh-CN" sz="2400" b="0" i="0" dirty="0">
                    <a:solidFill>
                      <a:srgbClr val="0F1115"/>
                    </a:solidFill>
                    <a:effectLst/>
                    <a:latin typeface="+mn-ea"/>
                  </a:rPr>
                  <a:t>: If current assignment fails, undo and try alternative placements</a:t>
                </a:r>
                <a:endParaRPr lang="en-US" altLang="zh-CN" sz="2400" b="0" i="0" dirty="0">
                  <a:solidFill>
                    <a:srgbClr val="0F1115"/>
                  </a:solidFill>
                  <a:effectLst/>
                  <a:latin typeface="+mn-ea"/>
                </a:endParaRPr>
              </a:p>
              <a:p>
                <a:pPr algn="l"/>
                <a:endParaRPr lang="en-US" altLang="zh-CN" sz="2400" dirty="0">
                  <a:solidFill>
                    <a:srgbClr val="0F1115"/>
                  </a:solidFill>
                  <a:latin typeface="+mn-ea"/>
                </a:endParaRPr>
              </a:p>
              <a:p>
                <a:pPr algn="l"/>
                <a:r>
                  <a:rPr lang="en-US" altLang="zh-CN" sz="2400" b="1" dirty="0">
                    <a:solidFill>
                      <a:srgbClr val="0F1115"/>
                    </a:solidFill>
                    <a:latin typeface="+mn-ea"/>
                  </a:rPr>
                  <a:t>Time Complexity</a:t>
                </a:r>
                <a:r>
                  <a:rPr lang="en-US" altLang="zh-CN" sz="2400" dirty="0">
                    <a:solidFill>
                      <a:srgbClr val="0F1115"/>
                    </a:solidFill>
                    <a:latin typeface="+mn-ea"/>
                  </a:rPr>
                  <a:t>: </a:t>
                </a:r>
                <a14:m>
                  <m:oMath xmlns:m="http://schemas.openxmlformats.org/officeDocument/2006/math">
                    <m:r>
                      <a:rPr lang="en-US" altLang="zh-CN" sz="2400" b="0" i="1" smtClean="0">
                        <a:solidFill>
                          <a:srgbClr val="0F1115"/>
                        </a:solidFill>
                        <a:latin typeface="Cambria Math" panose="02040503050406030204" pitchFamily="18" charset="0"/>
                      </a:rPr>
                      <m:t>𝑂</m:t>
                    </m:r>
                    <m:r>
                      <a:rPr lang="en-US" altLang="zh-CN" sz="2400" b="0" i="1" smtClean="0">
                        <a:solidFill>
                          <a:srgbClr val="0F1115"/>
                        </a:solidFill>
                        <a:latin typeface="Cambria Math" panose="02040503050406030204" pitchFamily="18" charset="0"/>
                      </a:rPr>
                      <m:t>(</m:t>
                    </m:r>
                    <m:sSup>
                      <m:sSupPr>
                        <m:ctrlPr>
                          <a:rPr lang="en-US" altLang="zh-CN" sz="2400" b="0" i="1" smtClean="0">
                            <a:solidFill>
                              <a:srgbClr val="0F1115"/>
                            </a:solidFill>
                            <a:latin typeface="Cambria Math" panose="02040503050406030204" pitchFamily="18" charset="0"/>
                          </a:rPr>
                        </m:ctrlPr>
                      </m:sSupPr>
                      <m:e>
                        <m:r>
                          <a:rPr lang="en-US" altLang="zh-CN" sz="2400" b="0" i="1" smtClean="0">
                            <a:solidFill>
                              <a:srgbClr val="0F1115"/>
                            </a:solidFill>
                            <a:latin typeface="Cambria Math" panose="02040503050406030204" pitchFamily="18" charset="0"/>
                          </a:rPr>
                          <m:t>3</m:t>
                        </m:r>
                      </m:e>
                      <m:sup>
                        <m:r>
                          <a:rPr lang="en-US" altLang="zh-CN" sz="2400" b="0" i="1" smtClean="0">
                            <a:solidFill>
                              <a:srgbClr val="0F1115"/>
                            </a:solidFill>
                            <a:latin typeface="Cambria Math" panose="02040503050406030204" pitchFamily="18" charset="0"/>
                          </a:rPr>
                          <m:t>𝑛</m:t>
                        </m:r>
                      </m:sup>
                    </m:sSup>
                    <m:r>
                      <a:rPr lang="en-US" altLang="zh-CN" sz="2400" b="0" i="1" smtClean="0">
                        <a:solidFill>
                          <a:srgbClr val="0F1115"/>
                        </a:solidFill>
                        <a:latin typeface="Cambria Math" panose="02040503050406030204" pitchFamily="18" charset="0"/>
                      </a:rPr>
                      <m:t>)</m:t>
                    </m:r>
                  </m:oMath>
                </a14:m>
                <a:endParaRPr lang="en-US" altLang="zh-CN" sz="2400" b="0" i="0" dirty="0">
                  <a:solidFill>
                    <a:srgbClr val="0F1115"/>
                  </a:solidFill>
                  <a:effectLst/>
                  <a:latin typeface="+mn-ea"/>
                </a:endParaRPr>
              </a:p>
            </p:txBody>
          </p:sp>
        </mc:Choice>
        <mc:Fallback>
          <p:sp>
            <p:nvSpPr>
              <p:cNvPr id="10" name="矩形 9"/>
              <p:cNvSpPr>
                <a:spLocks noRot="1" noChangeAspect="1" noMove="1" noResize="1" noEditPoints="1" noAdjustHandles="1" noChangeArrowheads="1" noChangeShapeType="1" noTextEdit="1"/>
              </p:cNvSpPr>
              <p:nvPr/>
            </p:nvSpPr>
            <p:spPr>
              <a:xfrm>
                <a:off x="526473" y="1135592"/>
                <a:ext cx="11074400" cy="3359552"/>
              </a:xfrm>
              <a:prstGeom prst="rect">
                <a:avLst/>
              </a:prstGeom>
              <a:blipFill rotWithShape="1">
                <a:blip r:embed="rId2"/>
                <a:stretch>
                  <a:fillRect l="-1" t="-857" r="1" b="-87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p:pic>
        <p:nvPicPr>
          <p:cNvPr id="7" name="图片 6"/>
          <p:cNvPicPr>
            <a:picLocks noChangeAspect="1"/>
          </p:cNvPicPr>
          <p:nvPr/>
        </p:nvPicPr>
        <p:blipFill>
          <a:blip r:embed="rId3"/>
          <a:stretch>
            <a:fillRect/>
          </a:stretch>
        </p:blipFill>
        <p:spPr>
          <a:xfrm>
            <a:off x="4111371" y="4570927"/>
            <a:ext cx="4593717" cy="2018007"/>
          </a:xfrm>
          <a:prstGeom prst="rect">
            <a:avLst/>
          </a:prstGeom>
        </p:spPr>
      </p:pic>
      <p:sp>
        <p:nvSpPr>
          <p:cNvPr id="11" name="文本框 10"/>
          <p:cNvSpPr txBox="1"/>
          <p:nvPr/>
        </p:nvSpPr>
        <p:spPr>
          <a:xfrm>
            <a:off x="2473505" y="5260743"/>
            <a:ext cx="2055371" cy="461665"/>
          </a:xfrm>
          <a:prstGeom prst="rect">
            <a:avLst/>
          </a:prstGeom>
          <a:noFill/>
        </p:spPr>
        <p:txBody>
          <a:bodyPr wrap="none" rtlCol="0">
            <a:spAutoFit/>
          </a:bodyPr>
          <a:lstStyle/>
          <a:p>
            <a:r>
              <a:rPr lang="en-US" altLang="zh-CN" sz="2400" dirty="0"/>
              <a:t>An example</a:t>
            </a:r>
            <a:r>
              <a:rPr lang="zh-CN" altLang="en-US" sz="2400" dirty="0"/>
              <a:t>：</a:t>
            </a:r>
            <a:endParaRPr lang="zh-CN" altLang="en-US" sz="24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332509" y="415637"/>
            <a:ext cx="8035637" cy="411017"/>
            <a:chOff x="387927" y="452582"/>
            <a:chExt cx="8035637" cy="411017"/>
          </a:xfrm>
        </p:grpSpPr>
        <p:sp>
          <p:nvSpPr>
            <p:cNvPr id="2" name="矩形 1"/>
            <p:cNvSpPr/>
            <p:nvPr/>
          </p:nvSpPr>
          <p:spPr>
            <a:xfrm>
              <a:off x="387927" y="452582"/>
              <a:ext cx="387928" cy="184727"/>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581891" y="544945"/>
              <a:ext cx="512618" cy="318654"/>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5" name="直接连接符 4"/>
            <p:cNvCxnSpPr/>
            <p:nvPr/>
          </p:nvCxnSpPr>
          <p:spPr>
            <a:xfrm>
              <a:off x="951345" y="826655"/>
              <a:ext cx="7472219"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grpSp>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929268" y="277013"/>
            <a:ext cx="2045209" cy="568113"/>
          </a:xfrm>
          <a:prstGeom prst="rect">
            <a:avLst/>
          </a:prstGeom>
        </p:spPr>
      </p:pic>
      <p:sp>
        <p:nvSpPr>
          <p:cNvPr id="9" name="文本框 8"/>
          <p:cNvSpPr txBox="1"/>
          <p:nvPr/>
        </p:nvSpPr>
        <p:spPr>
          <a:xfrm>
            <a:off x="1165161" y="269066"/>
            <a:ext cx="4930839" cy="523220"/>
          </a:xfrm>
          <a:prstGeom prst="rect">
            <a:avLst/>
          </a:prstGeom>
          <a:noFill/>
        </p:spPr>
        <p:txBody>
          <a:bodyPr wrap="square" rtlCol="0">
            <a:spAutoFit/>
          </a:bodyPr>
          <a:lstStyle/>
          <a:p>
            <a:r>
              <a:rPr lang="en-US" altLang="zh-CN" sz="2800" spc="400" dirty="0">
                <a:solidFill>
                  <a:srgbClr val="003F88"/>
                </a:solidFill>
              </a:rPr>
              <a:t>DFS Algorithm</a:t>
            </a:r>
            <a:endParaRPr lang="zh-CN" altLang="en-US" sz="2800" spc="400" dirty="0">
              <a:solidFill>
                <a:srgbClr val="003F88"/>
              </a:solidFill>
            </a:endParaRPr>
          </a:p>
        </p:txBody>
      </p:sp>
      <p:sp>
        <p:nvSpPr>
          <p:cNvPr id="4" name="文本框 3"/>
          <p:cNvSpPr txBox="1"/>
          <p:nvPr/>
        </p:nvSpPr>
        <p:spPr>
          <a:xfrm>
            <a:off x="526473" y="923698"/>
            <a:ext cx="5222905" cy="461665"/>
          </a:xfrm>
          <a:prstGeom prst="rect">
            <a:avLst/>
          </a:prstGeom>
          <a:noFill/>
        </p:spPr>
        <p:txBody>
          <a:bodyPr wrap="none" rtlCol="0">
            <a:spAutoFit/>
          </a:bodyPr>
          <a:lstStyle/>
          <a:p>
            <a:r>
              <a:rPr lang="en-US" altLang="zh-CN" sz="2400" dirty="0"/>
              <a:t>Here are two pruning strategy we use:</a:t>
            </a:r>
            <a:endParaRPr lang="en-US" altLang="zh-CN" sz="2400" dirty="0"/>
          </a:p>
        </p:txBody>
      </p:sp>
      <p:sp>
        <p:nvSpPr>
          <p:cNvPr id="7" name="文本框 6"/>
          <p:cNvSpPr txBox="1"/>
          <p:nvPr/>
        </p:nvSpPr>
        <p:spPr>
          <a:xfrm>
            <a:off x="526473" y="1543996"/>
            <a:ext cx="11254040" cy="1200329"/>
          </a:xfrm>
          <a:prstGeom prst="rect">
            <a:avLst/>
          </a:prstGeom>
          <a:solidFill>
            <a:schemeClr val="accent5">
              <a:lumMod val="20000"/>
              <a:lumOff val="80000"/>
            </a:schemeClr>
          </a:solidFill>
        </p:spPr>
        <p:txBody>
          <a:bodyPr wrap="square" rtlCol="0">
            <a:spAutoFit/>
          </a:bodyPr>
          <a:lstStyle/>
          <a:p>
            <a:r>
              <a:rPr lang="en-US" altLang="zh-CN" sz="2400" b="1" dirty="0"/>
              <a:t>Sort Descending</a:t>
            </a:r>
            <a:r>
              <a:rPr lang="en-US" altLang="zh-CN" sz="2400" dirty="0"/>
              <a:t>: </a:t>
            </a:r>
            <a:r>
              <a:rPr lang="en-US" altLang="zh-CN" sz="2400" b="1" i="0" dirty="0">
                <a:solidFill>
                  <a:srgbClr val="0F1115"/>
                </a:solidFill>
                <a:effectLst/>
                <a:latin typeface="+mn-ea"/>
              </a:rPr>
              <a:t>Prioritize processing large numbers.</a:t>
            </a:r>
            <a:r>
              <a:rPr lang="en-US" altLang="zh-CN" sz="2400" i="0" dirty="0">
                <a:solidFill>
                  <a:srgbClr val="0F1115"/>
                </a:solidFill>
                <a:effectLst/>
                <a:latin typeface="+mn-ea"/>
              </a:rPr>
              <a:t> Large numbers have less flexibility, which can either fill up buckets faster or trigger capacity overflow, thereby leading to faster backtracking.</a:t>
            </a:r>
            <a:endParaRPr lang="zh-CN" altLang="en-US" dirty="0">
              <a:latin typeface="+mn-ea"/>
            </a:endParaRPr>
          </a:p>
        </p:txBody>
      </p:sp>
      <p:sp>
        <p:nvSpPr>
          <p:cNvPr id="11" name="文本框 10"/>
          <p:cNvSpPr txBox="1"/>
          <p:nvPr/>
        </p:nvSpPr>
        <p:spPr>
          <a:xfrm>
            <a:off x="526473" y="3144180"/>
            <a:ext cx="10958391" cy="1938992"/>
          </a:xfrm>
          <a:prstGeom prst="rect">
            <a:avLst/>
          </a:prstGeom>
          <a:solidFill>
            <a:schemeClr val="accent5">
              <a:lumMod val="20000"/>
              <a:lumOff val="80000"/>
            </a:schemeClr>
          </a:solidFill>
        </p:spPr>
        <p:txBody>
          <a:bodyPr wrap="square" rtlCol="0">
            <a:spAutoFit/>
          </a:bodyPr>
          <a:lstStyle/>
          <a:p>
            <a:r>
              <a:rPr lang="en-US" altLang="zh-CN" sz="2400" b="1" i="0" dirty="0">
                <a:solidFill>
                  <a:srgbClr val="0F1115"/>
                </a:solidFill>
                <a:effectLst/>
                <a:latin typeface="+mn-ea"/>
              </a:rPr>
              <a:t>Symmetry Breaking Pruning(crucial)</a:t>
            </a:r>
            <a:r>
              <a:rPr lang="en-US" altLang="zh-CN" sz="2400" i="0" dirty="0">
                <a:solidFill>
                  <a:srgbClr val="0F1115"/>
                </a:solidFill>
                <a:effectLst/>
                <a:latin typeface="+mn-ea"/>
              </a:rPr>
              <a:t>: If the current bucket is empty, and our attempt to place the current number into it fails, then there's no need to try subsequent empty buckets. That’s because empty buckets are mathematically completely equivalent - failure in the first empty bucket means failure in all empty buckets.</a:t>
            </a:r>
            <a:endParaRPr lang="zh-CN" altLang="en-US" sz="2400" dirty="0">
              <a:latin typeface="+mn-ea"/>
            </a:endParaRPr>
          </a:p>
        </p:txBody>
      </p:sp>
      <p:sp>
        <p:nvSpPr>
          <p:cNvPr id="12" name="文本框 11"/>
          <p:cNvSpPr txBox="1"/>
          <p:nvPr/>
        </p:nvSpPr>
        <p:spPr>
          <a:xfrm>
            <a:off x="526473" y="5483027"/>
            <a:ext cx="10216258" cy="461665"/>
          </a:xfrm>
          <a:prstGeom prst="rect">
            <a:avLst/>
          </a:prstGeom>
          <a:noFill/>
        </p:spPr>
        <p:txBody>
          <a:bodyPr wrap="none" rtlCol="0">
            <a:spAutoFit/>
          </a:bodyPr>
          <a:lstStyle/>
          <a:p>
            <a:r>
              <a:rPr lang="en-US" altLang="zh-CN" sz="2400" dirty="0"/>
              <a:t>After pruning, </a:t>
            </a:r>
            <a:r>
              <a:rPr lang="en-US" altLang="zh-CN" sz="2400" i="0" dirty="0">
                <a:solidFill>
                  <a:srgbClr val="0F1115"/>
                </a:solidFill>
                <a:effectLst/>
                <a:latin typeface="+mn-ea"/>
              </a:rPr>
              <a:t>it runs fast in practice. We can see this in “Test of Algorithm”.</a:t>
            </a:r>
            <a:r>
              <a:rPr lang="en-US" altLang="zh-CN" sz="2400" dirty="0"/>
              <a:t> </a:t>
            </a:r>
            <a:endParaRPr lang="zh-CN" altLang="en-US" sz="24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332509" y="415637"/>
            <a:ext cx="8035637" cy="411017"/>
            <a:chOff x="387927" y="452582"/>
            <a:chExt cx="8035637" cy="411017"/>
          </a:xfrm>
        </p:grpSpPr>
        <p:sp>
          <p:nvSpPr>
            <p:cNvPr id="2" name="矩形 1"/>
            <p:cNvSpPr/>
            <p:nvPr/>
          </p:nvSpPr>
          <p:spPr>
            <a:xfrm>
              <a:off x="387927" y="452582"/>
              <a:ext cx="387928" cy="184727"/>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581891" y="544945"/>
              <a:ext cx="512618" cy="318654"/>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5" name="直接连接符 4"/>
            <p:cNvCxnSpPr/>
            <p:nvPr/>
          </p:nvCxnSpPr>
          <p:spPr>
            <a:xfrm>
              <a:off x="951345" y="826655"/>
              <a:ext cx="7472219"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grpSp>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929268" y="277013"/>
            <a:ext cx="2045209" cy="568113"/>
          </a:xfrm>
          <a:prstGeom prst="rect">
            <a:avLst/>
          </a:prstGeom>
        </p:spPr>
      </p:pic>
      <p:sp>
        <p:nvSpPr>
          <p:cNvPr id="9" name="文本框 8"/>
          <p:cNvSpPr txBox="1"/>
          <p:nvPr/>
        </p:nvSpPr>
        <p:spPr>
          <a:xfrm>
            <a:off x="1165161" y="269066"/>
            <a:ext cx="4930839" cy="523220"/>
          </a:xfrm>
          <a:prstGeom prst="rect">
            <a:avLst/>
          </a:prstGeom>
          <a:noFill/>
        </p:spPr>
        <p:txBody>
          <a:bodyPr wrap="square" rtlCol="0">
            <a:spAutoFit/>
          </a:bodyPr>
          <a:lstStyle/>
          <a:p>
            <a:r>
              <a:rPr lang="en-US" altLang="zh-CN" sz="2800" spc="400" dirty="0">
                <a:solidFill>
                  <a:srgbClr val="003F88"/>
                </a:solidFill>
              </a:rPr>
              <a:t>DP</a:t>
            </a:r>
            <a:r>
              <a:rPr lang="zh-CN" altLang="en-US" sz="2800" spc="400" dirty="0">
                <a:solidFill>
                  <a:srgbClr val="003F88"/>
                </a:solidFill>
              </a:rPr>
              <a:t> </a:t>
            </a:r>
            <a:r>
              <a:rPr lang="en-US" altLang="zh-CN" sz="2800" spc="400" dirty="0">
                <a:solidFill>
                  <a:srgbClr val="003F88"/>
                </a:solidFill>
              </a:rPr>
              <a:t>Algorithm</a:t>
            </a:r>
            <a:endParaRPr lang="zh-CN" altLang="en-US" sz="2800" spc="400" dirty="0">
              <a:solidFill>
                <a:srgbClr val="003F88"/>
              </a:solidFill>
            </a:endParaRPr>
          </a:p>
        </p:txBody>
      </p:sp>
      <p:sp>
        <p:nvSpPr>
          <p:cNvPr id="4" name="文本框 3"/>
          <p:cNvSpPr txBox="1"/>
          <p:nvPr/>
        </p:nvSpPr>
        <p:spPr>
          <a:xfrm>
            <a:off x="526473" y="1243584"/>
            <a:ext cx="11232711" cy="1569660"/>
          </a:xfrm>
          <a:prstGeom prst="rect">
            <a:avLst/>
          </a:prstGeom>
          <a:solidFill>
            <a:schemeClr val="accent5">
              <a:lumMod val="20000"/>
              <a:lumOff val="80000"/>
            </a:schemeClr>
          </a:solidFill>
        </p:spPr>
        <p:txBody>
          <a:bodyPr wrap="square" rtlCol="0">
            <a:spAutoFit/>
          </a:bodyPr>
          <a:lstStyle/>
          <a:p>
            <a:pPr algn="l"/>
            <a:r>
              <a:rPr lang="en-US" altLang="zh-CN" sz="2400" b="1" dirty="0">
                <a:solidFill>
                  <a:srgbClr val="0F1115"/>
                </a:solidFill>
                <a:effectLst/>
                <a:latin typeface="+mn-ea"/>
              </a:rPr>
              <a:t>Problem Classification</a:t>
            </a:r>
            <a:endParaRPr lang="en-US" altLang="zh-CN" sz="2400" b="1" dirty="0">
              <a:solidFill>
                <a:srgbClr val="0F1115"/>
              </a:solidFill>
              <a:effectLst/>
              <a:latin typeface="+mn-ea"/>
            </a:endParaRPr>
          </a:p>
          <a:p>
            <a:pPr algn="l">
              <a:buFont typeface="Arial" panose="020B0604020202090204" pitchFamily="34" charset="0"/>
              <a:buChar char="•"/>
            </a:pPr>
            <a:r>
              <a:rPr lang="en-US" altLang="zh-CN" sz="2400" b="1" i="0" dirty="0">
                <a:solidFill>
                  <a:srgbClr val="0F1115"/>
                </a:solidFill>
                <a:effectLst/>
                <a:latin typeface="+mn-ea"/>
              </a:rPr>
              <a:t>Multidimensional 0/1 Knapsack Variant</a:t>
            </a:r>
            <a:endParaRPr lang="en-US" altLang="zh-CN" sz="2400" b="0" i="0" dirty="0">
              <a:solidFill>
                <a:srgbClr val="0F1115"/>
              </a:solidFill>
              <a:effectLst/>
              <a:latin typeface="+mn-ea"/>
            </a:endParaRPr>
          </a:p>
          <a:p>
            <a:pPr algn="l">
              <a:buFont typeface="Arial" panose="020B0604020202090204" pitchFamily="34" charset="0"/>
              <a:buChar char="•"/>
            </a:pPr>
            <a:r>
              <a:rPr lang="en-US" altLang="zh-CN" sz="2400" b="1" i="0" dirty="0">
                <a:solidFill>
                  <a:srgbClr val="0F1115"/>
                </a:solidFill>
                <a:effectLst/>
                <a:latin typeface="+mn-ea"/>
              </a:rPr>
              <a:t>Key Difference</a:t>
            </a:r>
            <a:r>
              <a:rPr lang="en-US" altLang="zh-CN" sz="2400" b="0" i="0" dirty="0">
                <a:solidFill>
                  <a:srgbClr val="0F1115"/>
                </a:solidFill>
                <a:effectLst/>
                <a:latin typeface="+mn-ea"/>
              </a:rPr>
              <a:t>: Standard 0/1 knapsack allows incomplete filling, while this requires </a:t>
            </a:r>
            <a:r>
              <a:rPr lang="en-US" altLang="zh-CN" sz="2400" b="1" i="0" dirty="0">
                <a:solidFill>
                  <a:srgbClr val="0F1115"/>
                </a:solidFill>
                <a:effectLst/>
                <a:latin typeface="+mn-ea"/>
              </a:rPr>
              <a:t>exactly filling three buckets</a:t>
            </a:r>
            <a:r>
              <a:rPr lang="en-US" altLang="zh-CN" sz="2400" b="0" i="0" dirty="0">
                <a:solidFill>
                  <a:srgbClr val="0F1115"/>
                </a:solidFill>
                <a:effectLst/>
                <a:latin typeface="+mn-ea"/>
              </a:rPr>
              <a:t> of size M each.</a:t>
            </a:r>
            <a:endParaRPr lang="en-US" altLang="zh-CN" sz="2400" b="0" i="0" dirty="0">
              <a:solidFill>
                <a:srgbClr val="0F1115"/>
              </a:solidFill>
              <a:effectLst/>
              <a:latin typeface="+mn-ea"/>
            </a:endParaRPr>
          </a:p>
        </p:txBody>
      </p:sp>
      <mc:AlternateContent xmlns:mc="http://schemas.openxmlformats.org/markup-compatibility/2006">
        <mc:Choice xmlns:a14="http://schemas.microsoft.com/office/drawing/2010/main" Requires="a14">
          <p:sp>
            <p:nvSpPr>
              <p:cNvPr id="7" name="文本框 6"/>
              <p:cNvSpPr txBox="1"/>
              <p:nvPr/>
            </p:nvSpPr>
            <p:spPr>
              <a:xfrm>
                <a:off x="526473" y="2980944"/>
                <a:ext cx="11232710" cy="2019207"/>
              </a:xfrm>
              <a:prstGeom prst="rect">
                <a:avLst/>
              </a:prstGeom>
              <a:solidFill>
                <a:schemeClr val="accent5">
                  <a:lumMod val="20000"/>
                  <a:lumOff val="80000"/>
                </a:schemeClr>
              </a:solidFill>
            </p:spPr>
            <p:txBody>
              <a:bodyPr wrap="square" rtlCol="0">
                <a:spAutoFit/>
              </a:bodyPr>
              <a:lstStyle/>
              <a:p>
                <a:r>
                  <a:rPr lang="en-US" altLang="zh-CN" sz="2400" b="1" dirty="0">
                    <a:solidFill>
                      <a:srgbClr val="0F1115"/>
                    </a:solidFill>
                    <a:effectLst/>
                    <a:latin typeface="+mn-ea"/>
                  </a:rPr>
                  <a:t>State Representation:</a:t>
                </a:r>
                <a:endParaRPr lang="en-US" altLang="zh-CN" sz="2400" b="1" dirty="0">
                  <a:solidFill>
                    <a:srgbClr val="0F1115"/>
                  </a:solidFill>
                  <a:effectLst/>
                  <a:latin typeface="+mn-ea"/>
                </a:endParaRPr>
              </a:p>
              <a:p>
                <a:pPr marL="285750" indent="-285750">
                  <a:buFont typeface="Wingdings" panose="05000000000000000000" pitchFamily="2" charset="2"/>
                  <a:buChar char="l"/>
                </a:pPr>
                <a14:m>
                  <m:oMath xmlns:m="http://schemas.openxmlformats.org/officeDocument/2006/math">
                    <m:sSub>
                      <m:sSubPr>
                        <m:ctrlPr>
                          <a:rPr lang="en-US" altLang="zh-CN" sz="2400" i="1" smtClean="0">
                            <a:solidFill>
                              <a:srgbClr val="0F1115"/>
                            </a:solidFill>
                            <a:effectLst/>
                            <a:latin typeface="Cambria Math" panose="02040503050406030204" pitchFamily="18" charset="0"/>
                          </a:rPr>
                        </m:ctrlPr>
                      </m:sSubPr>
                      <m:e>
                        <m:r>
                          <m:rPr>
                            <m:sty m:val="p"/>
                          </m:rPr>
                          <a:rPr lang="en-US" altLang="zh-CN" sz="2400" b="0" i="0" smtClean="0">
                            <a:solidFill>
                              <a:srgbClr val="0F1115"/>
                            </a:solidFill>
                            <a:effectLst/>
                            <a:latin typeface="Cambria Math" panose="02040503050406030204" pitchFamily="18" charset="0"/>
                          </a:rPr>
                          <m:t>dp</m:t>
                        </m:r>
                      </m:e>
                      <m:sub>
                        <m:r>
                          <m:rPr>
                            <m:sty m:val="p"/>
                          </m:rPr>
                          <a:rPr lang="en-US" altLang="zh-CN" sz="2400" b="0" i="0" smtClean="0">
                            <a:solidFill>
                              <a:srgbClr val="0F1115"/>
                            </a:solidFill>
                            <a:effectLst/>
                            <a:latin typeface="Cambria Math" panose="02040503050406030204" pitchFamily="18" charset="0"/>
                          </a:rPr>
                          <m:t>k</m:t>
                        </m:r>
                        <m:r>
                          <a:rPr lang="en-US" altLang="zh-CN" sz="2400" b="0" i="0" smtClean="0">
                            <a:solidFill>
                              <a:srgbClr val="0F1115"/>
                            </a:solidFill>
                            <a:effectLst/>
                            <a:latin typeface="Cambria Math" panose="02040503050406030204" pitchFamily="18" charset="0"/>
                          </a:rPr>
                          <m:t>,</m:t>
                        </m:r>
                        <m:r>
                          <m:rPr>
                            <m:sty m:val="p"/>
                          </m:rPr>
                          <a:rPr lang="en-US" altLang="zh-CN" sz="2400" b="0" i="0" smtClean="0">
                            <a:solidFill>
                              <a:srgbClr val="0F1115"/>
                            </a:solidFill>
                            <a:effectLst/>
                            <a:latin typeface="Cambria Math" panose="02040503050406030204" pitchFamily="18" charset="0"/>
                          </a:rPr>
                          <m:t>i</m:t>
                        </m:r>
                        <m:r>
                          <a:rPr lang="en-US" altLang="zh-CN" sz="2400" b="0" i="0" smtClean="0">
                            <a:solidFill>
                              <a:srgbClr val="0F1115"/>
                            </a:solidFill>
                            <a:effectLst/>
                            <a:latin typeface="Cambria Math" panose="02040503050406030204" pitchFamily="18" charset="0"/>
                          </a:rPr>
                          <m:t>,</m:t>
                        </m:r>
                        <m:r>
                          <m:rPr>
                            <m:sty m:val="p"/>
                          </m:rPr>
                          <a:rPr lang="en-US" altLang="zh-CN" sz="2400" b="0" i="0" smtClean="0">
                            <a:solidFill>
                              <a:srgbClr val="0F1115"/>
                            </a:solidFill>
                            <a:effectLst/>
                            <a:latin typeface="Cambria Math" panose="02040503050406030204" pitchFamily="18" charset="0"/>
                          </a:rPr>
                          <m:t>j</m:t>
                        </m:r>
                      </m:sub>
                    </m:sSub>
                  </m:oMath>
                </a14:m>
                <a:r>
                  <a:rPr lang="en-US" altLang="zh-CN" sz="2400" dirty="0">
                    <a:solidFill>
                      <a:srgbClr val="0F1115"/>
                    </a:solidFill>
                    <a:effectLst/>
                    <a:latin typeface="+mn-ea"/>
                  </a:rPr>
                  <a:t>, a </a:t>
                </a:r>
                <a:r>
                  <a:rPr lang="en-US" altLang="zh-CN" sz="2400" dirty="0" err="1">
                    <a:solidFill>
                      <a:srgbClr val="0F1115"/>
                    </a:solidFill>
                    <a:latin typeface="+mn-ea"/>
                  </a:rPr>
                  <a:t>b</a:t>
                </a:r>
                <a:r>
                  <a:rPr lang="en-US" altLang="zh-CN" sz="2400" dirty="0" err="1">
                    <a:solidFill>
                      <a:srgbClr val="0F1115"/>
                    </a:solidFill>
                    <a:effectLst/>
                    <a:latin typeface="+mn-ea"/>
                  </a:rPr>
                  <a:t>oolean</a:t>
                </a:r>
                <a:r>
                  <a:rPr lang="en-US" altLang="zh-CN" sz="2400" dirty="0">
                    <a:solidFill>
                      <a:srgbClr val="0F1115"/>
                    </a:solidFill>
                    <a:effectLst/>
                    <a:latin typeface="+mn-ea"/>
                  </a:rPr>
                  <a:t> value, means </a:t>
                </a:r>
                <a:r>
                  <a:rPr lang="en-US" altLang="zh-CN" sz="2400" dirty="0">
                    <a:latin typeface="+mn-ea"/>
                  </a:rPr>
                  <a:t>Whether it‘s possible to select items from the first k items to fill bucket 1 to sum </a:t>
                </a:r>
                <a14:m>
                  <m:oMath xmlns:m="http://schemas.openxmlformats.org/officeDocument/2006/math">
                    <m:r>
                      <m:rPr>
                        <m:sty m:val="p"/>
                      </m:rPr>
                      <a:rPr lang="en-US" altLang="zh-CN" sz="2400" b="0" i="0" smtClean="0">
                        <a:latin typeface="Cambria Math" panose="02040503050406030204" pitchFamily="18" charset="0"/>
                      </a:rPr>
                      <m:t>i</m:t>
                    </m:r>
                  </m:oMath>
                </a14:m>
                <a:r>
                  <a:rPr lang="en-US" altLang="zh-CN" sz="2400" b="1" dirty="0">
                    <a:solidFill>
                      <a:srgbClr val="0F1115"/>
                    </a:solidFill>
                    <a:effectLst/>
                    <a:latin typeface="+mn-ea"/>
                  </a:rPr>
                  <a:t> </a:t>
                </a:r>
                <a:r>
                  <a:rPr lang="en-US" altLang="zh-CN" sz="2400" dirty="0">
                    <a:solidFill>
                      <a:srgbClr val="0F1115"/>
                    </a:solidFill>
                    <a:effectLst/>
                    <a:latin typeface="+mn-ea"/>
                  </a:rPr>
                  <a:t>and fill bucket 2 to sum </a:t>
                </a:r>
                <a14:m>
                  <m:oMath xmlns:m="http://schemas.openxmlformats.org/officeDocument/2006/math">
                    <m:r>
                      <m:rPr>
                        <m:sty m:val="p"/>
                      </m:rPr>
                      <a:rPr lang="en-US" altLang="zh-CN" sz="2400" b="0" i="0" smtClean="0">
                        <a:solidFill>
                          <a:srgbClr val="0F1115"/>
                        </a:solidFill>
                        <a:effectLst/>
                        <a:latin typeface="Cambria Math" panose="02040503050406030204" pitchFamily="18" charset="0"/>
                      </a:rPr>
                      <m:t>j</m:t>
                    </m:r>
                  </m:oMath>
                </a14:m>
                <a:r>
                  <a:rPr lang="en-US" altLang="zh-CN" sz="2400" dirty="0">
                    <a:solidFill>
                      <a:srgbClr val="0F1115"/>
                    </a:solidFill>
                    <a:effectLst/>
                    <a:latin typeface="+mn-ea"/>
                  </a:rPr>
                  <a:t>. The sum of bucket 3 is </a:t>
                </a:r>
                <a:r>
                  <a:rPr lang="en-US" altLang="zh-CN" sz="2400" dirty="0">
                    <a:latin typeface="+mn-ea"/>
                  </a:rPr>
                  <a:t>implicitly determined, that means we only have to check whether </a:t>
                </a:r>
                <a14:m>
                  <m:oMath xmlns:m="http://schemas.openxmlformats.org/officeDocument/2006/math">
                    <m:sSub>
                      <m:sSubPr>
                        <m:ctrlPr>
                          <a:rPr lang="en-US" altLang="zh-CN" sz="2400" i="1" smtClean="0">
                            <a:latin typeface="Cambria Math" panose="02040503050406030204" pitchFamily="18" charset="0"/>
                          </a:rPr>
                        </m:ctrlPr>
                      </m:sSubPr>
                      <m:e>
                        <m:r>
                          <m:rPr>
                            <m:sty m:val="p"/>
                          </m:rPr>
                          <a:rPr lang="en-US" altLang="zh-CN" sz="2400" b="0" i="0" smtClean="0">
                            <a:latin typeface="Cambria Math" panose="02040503050406030204" pitchFamily="18" charset="0"/>
                          </a:rPr>
                          <m:t>dp</m:t>
                        </m:r>
                      </m:e>
                      <m:sub>
                        <m:r>
                          <m:rPr>
                            <m:sty m:val="p"/>
                          </m:rPr>
                          <a:rPr lang="en-US" altLang="zh-CN" sz="2400" b="0" i="0" smtClean="0">
                            <a:latin typeface="Cambria Math" panose="02040503050406030204" pitchFamily="18" charset="0"/>
                          </a:rPr>
                          <m:t>n</m:t>
                        </m:r>
                        <m:r>
                          <a:rPr lang="en-US" altLang="zh-CN" sz="2400" b="0" i="0" smtClean="0">
                            <a:latin typeface="Cambria Math" panose="02040503050406030204" pitchFamily="18" charset="0"/>
                          </a:rPr>
                          <m:t>,</m:t>
                        </m:r>
                        <m:r>
                          <m:rPr>
                            <m:sty m:val="p"/>
                          </m:rPr>
                          <a:rPr lang="en-US" altLang="zh-CN" sz="2400" b="0" i="0" smtClean="0">
                            <a:latin typeface="Cambria Math" panose="02040503050406030204" pitchFamily="18" charset="0"/>
                          </a:rPr>
                          <m:t>M</m:t>
                        </m:r>
                        <m:r>
                          <a:rPr lang="en-US" altLang="zh-CN" sz="2400" b="0" i="0" smtClean="0">
                            <a:latin typeface="Cambria Math" panose="02040503050406030204" pitchFamily="18" charset="0"/>
                          </a:rPr>
                          <m:t>,</m:t>
                        </m:r>
                        <m:r>
                          <m:rPr>
                            <m:sty m:val="p"/>
                          </m:rPr>
                          <a:rPr lang="en-US" altLang="zh-CN" sz="2400" b="0" i="0" smtClean="0">
                            <a:latin typeface="Cambria Math" panose="02040503050406030204" pitchFamily="18" charset="0"/>
                          </a:rPr>
                          <m:t>M</m:t>
                        </m:r>
                      </m:sub>
                    </m:sSub>
                  </m:oMath>
                </a14:m>
                <a:r>
                  <a:rPr lang="en-US" altLang="zh-CN" sz="2400" dirty="0">
                    <a:solidFill>
                      <a:srgbClr val="0F1115"/>
                    </a:solidFill>
                    <a:effectLst/>
                    <a:latin typeface="+mn-ea"/>
                  </a:rPr>
                  <a:t> is true.</a:t>
                </a:r>
                <a:endParaRPr lang="en-US" altLang="zh-CN" sz="2400" dirty="0">
                  <a:solidFill>
                    <a:srgbClr val="0F1115"/>
                  </a:solidFill>
                  <a:effectLst/>
                  <a:latin typeface="+mn-ea"/>
                </a:endParaRPr>
              </a:p>
              <a:p>
                <a:pPr marL="285750" indent="-285750">
                  <a:buFont typeface="Wingdings" panose="05000000000000000000" pitchFamily="2" charset="2"/>
                  <a:buChar char="l"/>
                </a:pPr>
                <a14:m>
                  <m:oMath xmlns:m="http://schemas.openxmlformats.org/officeDocument/2006/math">
                    <m:sSub>
                      <m:sSubPr>
                        <m:ctrlPr>
                          <a:rPr lang="en-US" altLang="zh-CN" sz="2400" i="1" smtClean="0">
                            <a:solidFill>
                              <a:srgbClr val="0F1115"/>
                            </a:solidFill>
                            <a:effectLst/>
                            <a:latin typeface="Cambria Math" panose="02040503050406030204" pitchFamily="18" charset="0"/>
                          </a:rPr>
                        </m:ctrlPr>
                      </m:sSubPr>
                      <m:e>
                        <m:r>
                          <m:rPr>
                            <m:sty m:val="p"/>
                          </m:rPr>
                          <a:rPr lang="en-US" altLang="zh-CN" sz="2400" b="0" i="0" smtClean="0">
                            <a:solidFill>
                              <a:srgbClr val="0F1115"/>
                            </a:solidFill>
                            <a:effectLst/>
                            <a:latin typeface="Cambria Math" panose="02040503050406030204" pitchFamily="18" charset="0"/>
                          </a:rPr>
                          <m:t>path</m:t>
                        </m:r>
                      </m:e>
                      <m:sub>
                        <m:r>
                          <m:rPr>
                            <m:sty m:val="p"/>
                          </m:rPr>
                          <a:rPr lang="en-US" altLang="zh-CN" sz="2400" b="0" i="0" smtClean="0">
                            <a:solidFill>
                              <a:srgbClr val="0F1115"/>
                            </a:solidFill>
                            <a:effectLst/>
                            <a:latin typeface="Cambria Math" panose="02040503050406030204" pitchFamily="18" charset="0"/>
                          </a:rPr>
                          <m:t>k</m:t>
                        </m:r>
                        <m:r>
                          <a:rPr lang="en-US" altLang="zh-CN" sz="2400" b="0" i="0" smtClean="0">
                            <a:solidFill>
                              <a:srgbClr val="0F1115"/>
                            </a:solidFill>
                            <a:effectLst/>
                            <a:latin typeface="Cambria Math" panose="02040503050406030204" pitchFamily="18" charset="0"/>
                          </a:rPr>
                          <m:t>,</m:t>
                        </m:r>
                        <m:r>
                          <m:rPr>
                            <m:sty m:val="p"/>
                          </m:rPr>
                          <a:rPr lang="en-US" altLang="zh-CN" sz="2400" b="0" i="0" smtClean="0">
                            <a:solidFill>
                              <a:srgbClr val="0F1115"/>
                            </a:solidFill>
                            <a:effectLst/>
                            <a:latin typeface="Cambria Math" panose="02040503050406030204" pitchFamily="18" charset="0"/>
                          </a:rPr>
                          <m:t>i</m:t>
                        </m:r>
                        <m:r>
                          <a:rPr lang="en-US" altLang="zh-CN" sz="2400" b="0" i="0" smtClean="0">
                            <a:solidFill>
                              <a:srgbClr val="0F1115"/>
                            </a:solidFill>
                            <a:effectLst/>
                            <a:latin typeface="Cambria Math" panose="02040503050406030204" pitchFamily="18" charset="0"/>
                          </a:rPr>
                          <m:t>,</m:t>
                        </m:r>
                        <m:r>
                          <m:rPr>
                            <m:sty m:val="p"/>
                          </m:rPr>
                          <a:rPr lang="en-US" altLang="zh-CN" sz="2400" b="0" i="0" smtClean="0">
                            <a:solidFill>
                              <a:srgbClr val="0F1115"/>
                            </a:solidFill>
                            <a:effectLst/>
                            <a:latin typeface="Cambria Math" panose="02040503050406030204" pitchFamily="18" charset="0"/>
                          </a:rPr>
                          <m:t>j</m:t>
                        </m:r>
                      </m:sub>
                    </m:sSub>
                  </m:oMath>
                </a14:m>
                <a:r>
                  <a:rPr lang="en-US" altLang="zh-CN" sz="2400" dirty="0">
                    <a:solidFill>
                      <a:srgbClr val="0F1115"/>
                    </a:solidFill>
                    <a:effectLst/>
                    <a:latin typeface="+mn-ea"/>
                  </a:rPr>
                  <a:t>, </a:t>
                </a:r>
                <a:r>
                  <a:rPr lang="en-US" altLang="zh-CN" sz="2400" dirty="0"/>
                  <a:t>records which bucket the k-</a:t>
                </a:r>
                <a:r>
                  <a:rPr lang="en-US" altLang="zh-CN" sz="2400" dirty="0" err="1"/>
                  <a:t>th</a:t>
                </a:r>
                <a:r>
                  <a:rPr lang="en-US" altLang="zh-CN" sz="2400" dirty="0"/>
                  <a:t> item was placed into.</a:t>
                </a:r>
                <a:endParaRPr lang="en-US" altLang="zh-CN" sz="3200" dirty="0">
                  <a:solidFill>
                    <a:srgbClr val="0F1115"/>
                  </a:solidFill>
                  <a:effectLst/>
                  <a:latin typeface="+mn-ea"/>
                </a:endParaRPr>
              </a:p>
            </p:txBody>
          </p:sp>
        </mc:Choice>
        <mc:Fallback>
          <p:sp>
            <p:nvSpPr>
              <p:cNvPr id="7" name="文本框 6"/>
              <p:cNvSpPr txBox="1">
                <a:spLocks noRot="1" noChangeAspect="1" noMove="1" noResize="1" noEditPoints="1" noAdjustHandles="1" noChangeArrowheads="1" noChangeShapeType="1" noTextEdit="1"/>
              </p:cNvSpPr>
              <p:nvPr/>
            </p:nvSpPr>
            <p:spPr>
              <a:xfrm>
                <a:off x="526473" y="2980944"/>
                <a:ext cx="11232710" cy="2019207"/>
              </a:xfrm>
              <a:prstGeom prst="rect">
                <a:avLst/>
              </a:prstGeom>
              <a:blipFill rotWithShape="1">
                <a:blip r:embed="rId2"/>
                <a:stretch>
                  <a:fillRect l="-1" t="-13" r="2" b="-22697"/>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13" name="文本框 12"/>
              <p:cNvSpPr txBox="1"/>
              <p:nvPr/>
            </p:nvSpPr>
            <p:spPr>
              <a:xfrm>
                <a:off x="526473" y="5256735"/>
                <a:ext cx="11232710" cy="495905"/>
              </a:xfrm>
              <a:prstGeom prst="rect">
                <a:avLst/>
              </a:prstGeom>
              <a:solidFill>
                <a:schemeClr val="accent5">
                  <a:lumMod val="20000"/>
                  <a:lumOff val="80000"/>
                </a:schemeClr>
              </a:solidFill>
            </p:spPr>
            <p:txBody>
              <a:bodyPr wrap="square" rtlCol="0">
                <a:spAutoFit/>
              </a:bodyPr>
              <a:lstStyle/>
              <a:p>
                <a:r>
                  <a:rPr lang="en-US" altLang="zh-CN" sz="2400" b="1" dirty="0"/>
                  <a:t>Initialization</a:t>
                </a:r>
                <a:r>
                  <a:rPr lang="en-US" altLang="zh-CN" sz="2400" dirty="0"/>
                  <a:t>: All </a:t>
                </a:r>
                <a14:m>
                  <m:oMath xmlns:m="http://schemas.openxmlformats.org/officeDocument/2006/math">
                    <m:sSub>
                      <m:sSubPr>
                        <m:ctrlPr>
                          <a:rPr lang="en-US" altLang="zh-CN" sz="2400" i="1" smtClean="0">
                            <a:solidFill>
                              <a:srgbClr val="0F1115"/>
                            </a:solidFill>
                            <a:effectLst/>
                            <a:latin typeface="Cambria Math" panose="02040503050406030204" pitchFamily="18" charset="0"/>
                          </a:rPr>
                        </m:ctrlPr>
                      </m:sSubPr>
                      <m:e>
                        <m:r>
                          <m:rPr>
                            <m:sty m:val="p"/>
                          </m:rPr>
                          <a:rPr lang="en-US" altLang="zh-CN" sz="2400" b="0" i="0" smtClean="0">
                            <a:solidFill>
                              <a:srgbClr val="0F1115"/>
                            </a:solidFill>
                            <a:effectLst/>
                            <a:latin typeface="Cambria Math" panose="02040503050406030204" pitchFamily="18" charset="0"/>
                          </a:rPr>
                          <m:t>dp</m:t>
                        </m:r>
                      </m:e>
                      <m:sub>
                        <m:r>
                          <m:rPr>
                            <m:sty m:val="p"/>
                          </m:rPr>
                          <a:rPr lang="en-US" altLang="zh-CN" sz="2400" b="0" i="0" smtClean="0">
                            <a:solidFill>
                              <a:srgbClr val="0F1115"/>
                            </a:solidFill>
                            <a:effectLst/>
                            <a:latin typeface="Cambria Math" panose="02040503050406030204" pitchFamily="18" charset="0"/>
                          </a:rPr>
                          <m:t>k</m:t>
                        </m:r>
                        <m:r>
                          <a:rPr lang="en-US" altLang="zh-CN" sz="2400" b="0" i="0" smtClean="0">
                            <a:solidFill>
                              <a:srgbClr val="0F1115"/>
                            </a:solidFill>
                            <a:effectLst/>
                            <a:latin typeface="Cambria Math" panose="02040503050406030204" pitchFamily="18" charset="0"/>
                          </a:rPr>
                          <m:t>,</m:t>
                        </m:r>
                        <m:r>
                          <m:rPr>
                            <m:sty m:val="p"/>
                          </m:rPr>
                          <a:rPr lang="en-US" altLang="zh-CN" sz="2400" b="0" i="0" smtClean="0">
                            <a:solidFill>
                              <a:srgbClr val="0F1115"/>
                            </a:solidFill>
                            <a:effectLst/>
                            <a:latin typeface="Cambria Math" panose="02040503050406030204" pitchFamily="18" charset="0"/>
                          </a:rPr>
                          <m:t>i</m:t>
                        </m:r>
                        <m:r>
                          <a:rPr lang="en-US" altLang="zh-CN" sz="2400" b="0" i="0" smtClean="0">
                            <a:solidFill>
                              <a:srgbClr val="0F1115"/>
                            </a:solidFill>
                            <a:effectLst/>
                            <a:latin typeface="Cambria Math" panose="02040503050406030204" pitchFamily="18" charset="0"/>
                          </a:rPr>
                          <m:t>,</m:t>
                        </m:r>
                        <m:r>
                          <m:rPr>
                            <m:sty m:val="p"/>
                          </m:rPr>
                          <a:rPr lang="en-US" altLang="zh-CN" sz="2400" b="0" i="0" smtClean="0">
                            <a:solidFill>
                              <a:srgbClr val="0F1115"/>
                            </a:solidFill>
                            <a:effectLst/>
                            <a:latin typeface="Cambria Math" panose="02040503050406030204" pitchFamily="18" charset="0"/>
                          </a:rPr>
                          <m:t>j</m:t>
                        </m:r>
                      </m:sub>
                    </m:sSub>
                  </m:oMath>
                </a14:m>
                <a:r>
                  <a:rPr lang="zh-CN" altLang="en-US" sz="2400" dirty="0"/>
                  <a:t> </a:t>
                </a:r>
                <a:r>
                  <a:rPr lang="en-US" altLang="zh-CN" sz="2400" dirty="0"/>
                  <a:t>set to false, and all </a:t>
                </a:r>
                <a14:m>
                  <m:oMath xmlns:m="http://schemas.openxmlformats.org/officeDocument/2006/math">
                    <m:sSub>
                      <m:sSubPr>
                        <m:ctrlPr>
                          <a:rPr lang="en-US" altLang="zh-CN" sz="2400" i="1">
                            <a:solidFill>
                              <a:srgbClr val="0F1115"/>
                            </a:solidFill>
                            <a:latin typeface="Cambria Math" panose="02040503050406030204" pitchFamily="18" charset="0"/>
                          </a:rPr>
                        </m:ctrlPr>
                      </m:sSubPr>
                      <m:e>
                        <m:r>
                          <m:rPr>
                            <m:sty m:val="p"/>
                          </m:rPr>
                          <a:rPr lang="en-US" altLang="zh-CN" sz="2400">
                            <a:solidFill>
                              <a:srgbClr val="0F1115"/>
                            </a:solidFill>
                            <a:latin typeface="Cambria Math" panose="02040503050406030204" pitchFamily="18" charset="0"/>
                          </a:rPr>
                          <m:t>path</m:t>
                        </m:r>
                      </m:e>
                      <m:sub>
                        <m:r>
                          <m:rPr>
                            <m:sty m:val="p"/>
                          </m:rPr>
                          <a:rPr lang="en-US" altLang="zh-CN" sz="2400">
                            <a:solidFill>
                              <a:srgbClr val="0F1115"/>
                            </a:solidFill>
                            <a:latin typeface="Cambria Math" panose="02040503050406030204" pitchFamily="18" charset="0"/>
                          </a:rPr>
                          <m:t>k</m:t>
                        </m:r>
                        <m:r>
                          <a:rPr lang="en-US" altLang="zh-CN" sz="2400">
                            <a:solidFill>
                              <a:srgbClr val="0F1115"/>
                            </a:solidFill>
                            <a:latin typeface="Cambria Math" panose="02040503050406030204" pitchFamily="18" charset="0"/>
                          </a:rPr>
                          <m:t>,</m:t>
                        </m:r>
                        <m:r>
                          <m:rPr>
                            <m:sty m:val="p"/>
                          </m:rPr>
                          <a:rPr lang="en-US" altLang="zh-CN" sz="2400">
                            <a:solidFill>
                              <a:srgbClr val="0F1115"/>
                            </a:solidFill>
                            <a:latin typeface="Cambria Math" panose="02040503050406030204" pitchFamily="18" charset="0"/>
                          </a:rPr>
                          <m:t>i</m:t>
                        </m:r>
                        <m:r>
                          <a:rPr lang="en-US" altLang="zh-CN" sz="2400">
                            <a:solidFill>
                              <a:srgbClr val="0F1115"/>
                            </a:solidFill>
                            <a:latin typeface="Cambria Math" panose="02040503050406030204" pitchFamily="18" charset="0"/>
                          </a:rPr>
                          <m:t>,</m:t>
                        </m:r>
                        <m:r>
                          <m:rPr>
                            <m:sty m:val="p"/>
                          </m:rPr>
                          <a:rPr lang="en-US" altLang="zh-CN" sz="2400">
                            <a:solidFill>
                              <a:srgbClr val="0F1115"/>
                            </a:solidFill>
                            <a:latin typeface="Cambria Math" panose="02040503050406030204" pitchFamily="18" charset="0"/>
                          </a:rPr>
                          <m:t>j</m:t>
                        </m:r>
                      </m:sub>
                    </m:sSub>
                  </m:oMath>
                </a14:m>
                <a:r>
                  <a:rPr lang="zh-CN" altLang="en-US" sz="2400" dirty="0"/>
                  <a:t> </a:t>
                </a:r>
                <a:r>
                  <a:rPr lang="en-US" altLang="zh-CN" sz="2400" dirty="0"/>
                  <a:t>set to 0.</a:t>
                </a:r>
                <a:endParaRPr lang="zh-CN" altLang="en-US" sz="2400" dirty="0"/>
              </a:p>
            </p:txBody>
          </p:sp>
        </mc:Choice>
        <mc:Fallback>
          <p:sp>
            <p:nvSpPr>
              <p:cNvPr id="13" name="文本框 12"/>
              <p:cNvSpPr txBox="1">
                <a:spLocks noRot="1" noChangeAspect="1" noMove="1" noResize="1" noEditPoints="1" noAdjustHandles="1" noChangeArrowheads="1" noChangeShapeType="1" noTextEdit="1"/>
              </p:cNvSpPr>
              <p:nvPr/>
            </p:nvSpPr>
            <p:spPr>
              <a:xfrm>
                <a:off x="526473" y="5256735"/>
                <a:ext cx="11232710" cy="495905"/>
              </a:xfrm>
              <a:prstGeom prst="rect">
                <a:avLst/>
              </a:prstGeom>
              <a:blipFill rotWithShape="1">
                <a:blip r:embed="rId3"/>
                <a:stretch>
                  <a:fillRect l="-1" t="-41" r="2" b="35"/>
                </a:stretch>
              </a:blipFill>
            </p:spPr>
            <p:txBody>
              <a:bodyPr/>
              <a:lstStyle/>
              <a:p>
                <a:r>
                  <a:rPr lang="en-US"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332509" y="415637"/>
            <a:ext cx="8035637" cy="411017"/>
            <a:chOff x="387927" y="452582"/>
            <a:chExt cx="8035637" cy="411017"/>
          </a:xfrm>
        </p:grpSpPr>
        <p:sp>
          <p:nvSpPr>
            <p:cNvPr id="2" name="矩形 1"/>
            <p:cNvSpPr/>
            <p:nvPr/>
          </p:nvSpPr>
          <p:spPr>
            <a:xfrm>
              <a:off x="387927" y="452582"/>
              <a:ext cx="387928" cy="184727"/>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581891" y="544945"/>
              <a:ext cx="512618" cy="318654"/>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5" name="直接连接符 4"/>
            <p:cNvCxnSpPr/>
            <p:nvPr/>
          </p:nvCxnSpPr>
          <p:spPr>
            <a:xfrm>
              <a:off x="951345" y="826655"/>
              <a:ext cx="7472219"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grpSp>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929268" y="277013"/>
            <a:ext cx="2045209" cy="568113"/>
          </a:xfrm>
          <a:prstGeom prst="rect">
            <a:avLst/>
          </a:prstGeom>
        </p:spPr>
      </p:pic>
      <p:sp>
        <p:nvSpPr>
          <p:cNvPr id="9" name="文本框 8"/>
          <p:cNvSpPr txBox="1"/>
          <p:nvPr/>
        </p:nvSpPr>
        <p:spPr>
          <a:xfrm>
            <a:off x="1165161" y="269066"/>
            <a:ext cx="4930839" cy="523220"/>
          </a:xfrm>
          <a:prstGeom prst="rect">
            <a:avLst/>
          </a:prstGeom>
          <a:noFill/>
        </p:spPr>
        <p:txBody>
          <a:bodyPr wrap="square" rtlCol="0">
            <a:spAutoFit/>
          </a:bodyPr>
          <a:lstStyle/>
          <a:p>
            <a:r>
              <a:rPr lang="en-US" altLang="zh-CN" sz="2800" spc="400" dirty="0">
                <a:solidFill>
                  <a:srgbClr val="003F88"/>
                </a:solidFill>
              </a:rPr>
              <a:t>DP</a:t>
            </a:r>
            <a:r>
              <a:rPr lang="zh-CN" altLang="en-US" sz="2800" spc="400" dirty="0">
                <a:solidFill>
                  <a:srgbClr val="003F88"/>
                </a:solidFill>
              </a:rPr>
              <a:t> </a:t>
            </a:r>
            <a:r>
              <a:rPr lang="en-US" altLang="zh-CN" sz="2800" spc="400" dirty="0">
                <a:solidFill>
                  <a:srgbClr val="003F88"/>
                </a:solidFill>
              </a:rPr>
              <a:t>Algorithm</a:t>
            </a:r>
            <a:endParaRPr lang="zh-CN" altLang="en-US" sz="2800" spc="400" dirty="0">
              <a:solidFill>
                <a:srgbClr val="003F88"/>
              </a:solidFill>
            </a:endParaRPr>
          </a:p>
        </p:txBody>
      </p:sp>
      <p:sp>
        <p:nvSpPr>
          <p:cNvPr id="7" name="文本框 6"/>
          <p:cNvSpPr txBox="1"/>
          <p:nvPr/>
        </p:nvSpPr>
        <p:spPr>
          <a:xfrm>
            <a:off x="526473" y="1085688"/>
            <a:ext cx="10985824" cy="461665"/>
          </a:xfrm>
          <a:prstGeom prst="rect">
            <a:avLst/>
          </a:prstGeom>
          <a:solidFill>
            <a:schemeClr val="accent5">
              <a:lumMod val="20000"/>
              <a:lumOff val="80000"/>
            </a:schemeClr>
          </a:solidFill>
        </p:spPr>
        <p:txBody>
          <a:bodyPr wrap="square">
            <a:spAutoFit/>
          </a:bodyPr>
          <a:lstStyle/>
          <a:p>
            <a:pPr algn="l"/>
            <a:r>
              <a:rPr lang="en-US" altLang="zh-CN" sz="2400" b="1" dirty="0">
                <a:solidFill>
                  <a:srgbClr val="0F1115"/>
                </a:solidFill>
                <a:effectLst/>
                <a:latin typeface="+mn-ea"/>
              </a:rPr>
              <a:t>State Transition Equations(</a:t>
            </a:r>
            <a:r>
              <a:rPr lang="en-US" altLang="zh-CN" sz="2400" b="0" i="0" dirty="0">
                <a:effectLst/>
                <a:latin typeface="+mn-ea"/>
              </a:rPr>
              <a:t>Pseudocode</a:t>
            </a:r>
            <a:r>
              <a:rPr lang="en-US" altLang="zh-CN" sz="2400" b="1" dirty="0">
                <a:solidFill>
                  <a:srgbClr val="0F1115"/>
                </a:solidFill>
                <a:effectLst/>
                <a:latin typeface="+mn-ea"/>
              </a:rPr>
              <a:t>)</a:t>
            </a:r>
            <a:r>
              <a:rPr lang="en-US" altLang="zh-CN" sz="2400" b="1" dirty="0">
                <a:solidFill>
                  <a:srgbClr val="0F1115"/>
                </a:solidFill>
                <a:latin typeface="+mn-ea"/>
              </a:rPr>
              <a:t>:</a:t>
            </a:r>
            <a:endParaRPr lang="en-US" altLang="zh-CN" sz="2400" b="1" dirty="0">
              <a:solidFill>
                <a:srgbClr val="0F1115"/>
              </a:solidFill>
              <a:latin typeface="+mn-ea"/>
            </a:endParaRPr>
          </a:p>
        </p:txBody>
      </p:sp>
      <p:pic>
        <p:nvPicPr>
          <p:cNvPr id="12" name="图片 11"/>
          <p:cNvPicPr>
            <a:picLocks noChangeAspect="1"/>
          </p:cNvPicPr>
          <p:nvPr/>
        </p:nvPicPr>
        <p:blipFill>
          <a:blip r:embed="rId2"/>
          <a:stretch>
            <a:fillRect/>
          </a:stretch>
        </p:blipFill>
        <p:spPr>
          <a:xfrm>
            <a:off x="603884" y="1714690"/>
            <a:ext cx="10646447" cy="1348550"/>
          </a:xfrm>
          <a:prstGeom prst="rect">
            <a:avLst/>
          </a:prstGeom>
          <a:solidFill>
            <a:schemeClr val="accent5">
              <a:lumMod val="20000"/>
              <a:lumOff val="80000"/>
            </a:schemeClr>
          </a:solidFill>
        </p:spPr>
      </p:pic>
      <mc:AlternateContent xmlns:mc="http://schemas.openxmlformats.org/markup-compatibility/2006">
        <mc:Choice xmlns:a14="http://schemas.microsoft.com/office/drawing/2010/main" Requires="a14">
          <p:sp>
            <p:nvSpPr>
              <p:cNvPr id="13" name="文本框 12"/>
              <p:cNvSpPr txBox="1"/>
              <p:nvPr/>
            </p:nvSpPr>
            <p:spPr>
              <a:xfrm>
                <a:off x="526473" y="3308249"/>
                <a:ext cx="10985824" cy="2324547"/>
              </a:xfrm>
              <a:prstGeom prst="rect">
                <a:avLst/>
              </a:prstGeom>
              <a:solidFill>
                <a:schemeClr val="accent5">
                  <a:lumMod val="20000"/>
                  <a:lumOff val="80000"/>
                </a:schemeClr>
              </a:solidFill>
              <a:ln>
                <a:solidFill>
                  <a:schemeClr val="accent5">
                    <a:lumMod val="20000"/>
                    <a:lumOff val="80000"/>
                  </a:schemeClr>
                </a:solidFill>
              </a:ln>
            </p:spPr>
            <p:txBody>
              <a:bodyPr wrap="square" rtlCol="0">
                <a:spAutoFit/>
              </a:bodyPr>
              <a:lstStyle/>
              <a:p>
                <a:r>
                  <a:rPr lang="en-US" altLang="zh-CN" sz="2400" dirty="0"/>
                  <a:t>If </a:t>
                </a:r>
                <a14:m>
                  <m:oMath xmlns:m="http://schemas.openxmlformats.org/officeDocument/2006/math">
                    <m:sSub>
                      <m:sSubPr>
                        <m:ctrlPr>
                          <a:rPr lang="en-US" altLang="zh-CN" sz="2400" i="1" smtClean="0">
                            <a:latin typeface="Cambria Math" panose="02040503050406030204" pitchFamily="18" charset="0"/>
                          </a:rPr>
                        </m:ctrlPr>
                      </m:sSubPr>
                      <m:e>
                        <m:r>
                          <m:rPr>
                            <m:sty m:val="p"/>
                          </m:rPr>
                          <a:rPr lang="en-US" altLang="zh-CN" sz="2400" b="0" i="0" smtClean="0">
                            <a:latin typeface="Cambria Math" panose="02040503050406030204" pitchFamily="18" charset="0"/>
                          </a:rPr>
                          <m:t>dp</m:t>
                        </m:r>
                      </m:e>
                      <m:sub>
                        <m:r>
                          <m:rPr>
                            <m:sty m:val="p"/>
                          </m:rPr>
                          <a:rPr lang="en-US" altLang="zh-CN" sz="2400" b="0" i="0" smtClean="0">
                            <a:latin typeface="Cambria Math" panose="02040503050406030204" pitchFamily="18" charset="0"/>
                          </a:rPr>
                          <m:t>n</m:t>
                        </m:r>
                        <m:r>
                          <a:rPr lang="en-US" altLang="zh-CN" sz="2400" b="0" i="0" smtClean="0">
                            <a:latin typeface="Cambria Math" panose="02040503050406030204" pitchFamily="18" charset="0"/>
                          </a:rPr>
                          <m:t>,</m:t>
                        </m:r>
                        <m:r>
                          <m:rPr>
                            <m:sty m:val="p"/>
                          </m:rPr>
                          <a:rPr lang="en-US" altLang="zh-CN" sz="2400" b="0" i="0" smtClean="0">
                            <a:latin typeface="Cambria Math" panose="02040503050406030204" pitchFamily="18" charset="0"/>
                          </a:rPr>
                          <m:t>M</m:t>
                        </m:r>
                        <m:r>
                          <a:rPr lang="en-US" altLang="zh-CN" sz="2400" b="0" i="0" smtClean="0">
                            <a:latin typeface="Cambria Math" panose="02040503050406030204" pitchFamily="18" charset="0"/>
                          </a:rPr>
                          <m:t>,</m:t>
                        </m:r>
                        <m:r>
                          <m:rPr>
                            <m:sty m:val="p"/>
                          </m:rPr>
                          <a:rPr lang="en-US" altLang="zh-CN" sz="2400" b="0" i="0" smtClean="0">
                            <a:latin typeface="Cambria Math" panose="02040503050406030204" pitchFamily="18" charset="0"/>
                          </a:rPr>
                          <m:t>M</m:t>
                        </m:r>
                      </m:sub>
                    </m:sSub>
                  </m:oMath>
                </a14:m>
                <a:r>
                  <a:rPr lang="zh-CN" altLang="en-US" sz="2400" dirty="0"/>
                  <a:t> </a:t>
                </a:r>
                <a:r>
                  <a:rPr lang="en-US" altLang="zh-CN" sz="2400" dirty="0"/>
                  <a:t>is true, that means we find a solution, otherwise there is no solution.</a:t>
                </a:r>
                <a:endParaRPr lang="en-US" altLang="zh-CN" sz="2400" dirty="0"/>
              </a:p>
              <a:p>
                <a:r>
                  <a:rPr lang="en-US" altLang="zh-CN" sz="2400" dirty="0"/>
                  <a:t>We can print solution by using the array </a:t>
                </a:r>
                <a14:m>
                  <m:oMath xmlns:m="http://schemas.openxmlformats.org/officeDocument/2006/math">
                    <m:r>
                      <m:rPr>
                        <m:sty m:val="p"/>
                      </m:rPr>
                      <a:rPr lang="en-US" altLang="zh-CN" sz="2400" b="0" i="0" smtClean="0">
                        <a:latin typeface="Cambria Math" panose="02040503050406030204" pitchFamily="18" charset="0"/>
                      </a:rPr>
                      <m:t>path</m:t>
                    </m:r>
                  </m:oMath>
                </a14:m>
                <a:r>
                  <a:rPr lang="en-US" altLang="zh-CN" sz="2400" dirty="0"/>
                  <a:t>.</a:t>
                </a:r>
                <a:endParaRPr lang="en-US" altLang="zh-CN" sz="2400" dirty="0"/>
              </a:p>
              <a:p>
                <a:r>
                  <a:rPr lang="en-US" altLang="zh-CN" sz="2400" b="1" dirty="0"/>
                  <a:t>Time Complexity</a:t>
                </a:r>
                <a:r>
                  <a:rPr lang="en-US" altLang="zh-CN" sz="2400" dirty="0"/>
                  <a:t>: </a:t>
                </a:r>
                <a14:m>
                  <m:oMath xmlns:m="http://schemas.openxmlformats.org/officeDocument/2006/math">
                    <m:r>
                      <a:rPr lang="en-US" altLang="zh-CN" sz="2400" b="0" i="1" smtClean="0">
                        <a:latin typeface="Cambria Math" panose="02040503050406030204" pitchFamily="18" charset="0"/>
                      </a:rPr>
                      <m:t>𝑂</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𝑛</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𝑇</m:t>
                            </m:r>
                          </m:e>
                          <m:sup>
                            <m:r>
                              <a:rPr lang="en-US" altLang="zh-CN" sz="2400" b="0" i="1" smtClean="0">
                                <a:latin typeface="Cambria Math" panose="02040503050406030204" pitchFamily="18" charset="0"/>
                              </a:rPr>
                              <m:t>2</m:t>
                            </m:r>
                          </m:sup>
                        </m:sSup>
                      </m:e>
                    </m:d>
                    <m:r>
                      <a:rPr lang="en-US" altLang="zh-CN" sz="2400" b="0" i="1" smtClean="0">
                        <a:latin typeface="Cambria Math" panose="02040503050406030204" pitchFamily="18" charset="0"/>
                      </a:rPr>
                      <m:t>.</m:t>
                    </m:r>
                  </m:oMath>
                </a14:m>
                <a:endParaRPr lang="en-US" altLang="zh-CN" sz="2400" dirty="0"/>
              </a:p>
              <a:p>
                <a:r>
                  <a:rPr lang="en-US" altLang="zh-CN" sz="2400" b="1" dirty="0"/>
                  <a:t>Space Complexity</a:t>
                </a:r>
                <a:r>
                  <a:rPr lang="en-US" altLang="zh-CN" sz="2400" dirty="0"/>
                  <a:t>: </a:t>
                </a:r>
                <a14:m>
                  <m:oMath xmlns:m="http://schemas.openxmlformats.org/officeDocument/2006/math">
                    <m:r>
                      <a:rPr lang="en-US" altLang="zh-CN" sz="2400" b="0" i="1" smtClean="0">
                        <a:latin typeface="Cambria Math" panose="02040503050406030204" pitchFamily="18" charset="0"/>
                      </a:rPr>
                      <m:t>𝑂</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𝑛</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𝑇</m:t>
                            </m:r>
                          </m:e>
                          <m:sup>
                            <m:r>
                              <a:rPr lang="en-US" altLang="zh-CN" sz="2400" b="0" i="1" smtClean="0">
                                <a:latin typeface="Cambria Math" panose="02040503050406030204" pitchFamily="18" charset="0"/>
                              </a:rPr>
                              <m:t>2</m:t>
                            </m:r>
                          </m:sup>
                        </m:sSup>
                      </m:e>
                    </m:d>
                    <m:r>
                      <a:rPr lang="en-US" altLang="zh-CN" sz="2400" b="0" i="0" smtClean="0">
                        <a:latin typeface="Cambria Math" panose="02040503050406030204" pitchFamily="18" charset="0"/>
                      </a:rPr>
                      <m:t>.</m:t>
                    </m:r>
                  </m:oMath>
                </a14:m>
                <a:endParaRPr lang="en-US" altLang="zh-CN" sz="2400" dirty="0"/>
              </a:p>
              <a:p>
                <a:r>
                  <a:rPr lang="en-US" altLang="zh-CN" sz="2400" dirty="0"/>
                  <a:t>This is </a:t>
                </a:r>
                <a:r>
                  <a:rPr lang="en-US" altLang="zh-CN" sz="2400" b="1" i="0" dirty="0">
                    <a:effectLst/>
                    <a:latin typeface="+mn-ea"/>
                  </a:rPr>
                  <a:t>Pseudo-polynomial time</a:t>
                </a:r>
                <a:r>
                  <a:rPr lang="en-US" altLang="zh-CN" sz="2400" i="0" dirty="0">
                    <a:effectLst/>
                    <a:latin typeface="+mn-ea"/>
                  </a:rPr>
                  <a:t>. Noted that </a:t>
                </a:r>
                <a:r>
                  <a:rPr lang="en-US" altLang="zh-CN" sz="2400" b="1" i="0" dirty="0">
                    <a:solidFill>
                      <a:srgbClr val="0F1115"/>
                    </a:solidFill>
                    <a:effectLst/>
                    <a:latin typeface="+mn-ea"/>
                  </a:rPr>
                  <a:t>Memory/Timeout Issues</a:t>
                </a:r>
                <a:r>
                  <a:rPr lang="en-US" altLang="zh-CN" sz="2400" b="0" i="0" dirty="0">
                    <a:solidFill>
                      <a:srgbClr val="0F1115"/>
                    </a:solidFill>
                    <a:effectLst/>
                    <a:latin typeface="+mn-ea"/>
                  </a:rPr>
                  <a:t> will happen if </a:t>
                </a:r>
                <a14:m>
                  <m:oMath xmlns:m="http://schemas.openxmlformats.org/officeDocument/2006/math">
                    <m:r>
                      <a:rPr lang="en-US" altLang="zh-CN" sz="2400" b="0" i="1" smtClean="0">
                        <a:solidFill>
                          <a:srgbClr val="0F1115"/>
                        </a:solidFill>
                        <a:effectLst/>
                        <a:latin typeface="Cambria Math" panose="02040503050406030204" pitchFamily="18" charset="0"/>
                      </a:rPr>
                      <m:t>𝑛</m:t>
                    </m:r>
                    <m:r>
                      <a:rPr lang="en-US" altLang="zh-CN" sz="2400" b="0" i="1" smtClean="0">
                        <a:solidFill>
                          <a:srgbClr val="0F1115"/>
                        </a:solidFill>
                        <a:effectLst/>
                        <a:latin typeface="Cambria Math" panose="02040503050406030204" pitchFamily="18" charset="0"/>
                      </a:rPr>
                      <m:t>,</m:t>
                    </m:r>
                    <m:r>
                      <a:rPr lang="en-US" altLang="zh-CN" sz="2400" b="0" i="1" smtClean="0">
                        <a:solidFill>
                          <a:srgbClr val="0F1115"/>
                        </a:solidFill>
                        <a:effectLst/>
                        <a:latin typeface="Cambria Math" panose="02040503050406030204" pitchFamily="18" charset="0"/>
                      </a:rPr>
                      <m:t>𝑇</m:t>
                    </m:r>
                  </m:oMath>
                </a14:m>
                <a:r>
                  <a:rPr lang="en-US" altLang="zh-CN" sz="2400" b="0" i="0" dirty="0">
                    <a:solidFill>
                      <a:srgbClr val="0F1115"/>
                    </a:solidFill>
                    <a:effectLst/>
                    <a:latin typeface="+mn-ea"/>
                  </a:rPr>
                  <a:t> are too large.</a:t>
                </a:r>
                <a:endParaRPr lang="en-US" altLang="zh-CN" sz="2400" b="0" i="0" dirty="0">
                  <a:solidFill>
                    <a:srgbClr val="0F1115"/>
                  </a:solidFill>
                  <a:effectLst/>
                  <a:latin typeface="+mn-ea"/>
                </a:endParaRPr>
              </a:p>
            </p:txBody>
          </p:sp>
        </mc:Choice>
        <mc:Fallback>
          <p:sp>
            <p:nvSpPr>
              <p:cNvPr id="13" name="文本框 12"/>
              <p:cNvSpPr txBox="1">
                <a:spLocks noRot="1" noChangeAspect="1" noMove="1" noResize="1" noEditPoints="1" noAdjustHandles="1" noChangeArrowheads="1" noChangeShapeType="1" noTextEdit="1"/>
              </p:cNvSpPr>
              <p:nvPr/>
            </p:nvSpPr>
            <p:spPr>
              <a:xfrm>
                <a:off x="526473" y="3308249"/>
                <a:ext cx="10985824" cy="2324547"/>
              </a:xfrm>
              <a:prstGeom prst="rect">
                <a:avLst/>
              </a:prstGeom>
              <a:blipFill rotWithShape="1">
                <a:blip r:embed="rId3"/>
                <a:stretch>
                  <a:fillRect l="-58" t="-296" r="-54" b="-10256"/>
                </a:stretch>
              </a:blipFill>
              <a:ln>
                <a:solidFill>
                  <a:schemeClr val="accent5">
                    <a:lumMod val="20000"/>
                    <a:lumOff val="80000"/>
                  </a:schemeClr>
                </a:solidFill>
              </a:ln>
            </p:spPr>
            <p:txBody>
              <a:bodyPr/>
              <a:lstStyle/>
              <a:p>
                <a:r>
                  <a:rPr lang="en-US" altLang="en-US">
                    <a:noFill/>
                  </a:rPr>
                  <a:t> </a:t>
                </a:r>
              </a:p>
            </p:txBody>
          </p:sp>
        </mc:Fallback>
      </mc:AlternateContent>
      <p:sp>
        <p:nvSpPr>
          <p:cNvPr id="16" name="文本框 15"/>
          <p:cNvSpPr txBox="1"/>
          <p:nvPr/>
        </p:nvSpPr>
        <p:spPr>
          <a:xfrm>
            <a:off x="526473" y="5877805"/>
            <a:ext cx="12023371" cy="707886"/>
          </a:xfrm>
          <a:prstGeom prst="rect">
            <a:avLst/>
          </a:prstGeom>
          <a:noFill/>
        </p:spPr>
        <p:txBody>
          <a:bodyPr wrap="square" rtlCol="0">
            <a:spAutoFit/>
          </a:bodyPr>
          <a:lstStyle/>
          <a:p>
            <a:r>
              <a:rPr lang="en-US" altLang="zh-CN" sz="2000" i="0" dirty="0">
                <a:solidFill>
                  <a:srgbClr val="0F1115"/>
                </a:solidFill>
                <a:effectLst/>
                <a:latin typeface="+mn-ea"/>
              </a:rPr>
              <a:t>The fact is </a:t>
            </a:r>
            <a:r>
              <a:rPr lang="en-US" altLang="zh-CN" sz="2000" dirty="0">
                <a:solidFill>
                  <a:srgbClr val="0F1115"/>
                </a:solidFill>
                <a:latin typeface="+mn-ea"/>
              </a:rPr>
              <a:t>that three-partition problem is strongly NP-C problem. So i</a:t>
            </a:r>
            <a:r>
              <a:rPr lang="en-US" altLang="zh-CN" sz="2000" i="0" dirty="0">
                <a:solidFill>
                  <a:srgbClr val="0F1115"/>
                </a:solidFill>
                <a:effectLst/>
                <a:latin typeface="+mn-ea"/>
              </a:rPr>
              <a:t>s there an algorithm that can solve this problem </a:t>
            </a:r>
            <a:r>
              <a:rPr lang="en-US" altLang="zh-CN" sz="2000" dirty="0">
                <a:solidFill>
                  <a:srgbClr val="0F1115"/>
                </a:solidFill>
                <a:latin typeface="+mn-ea"/>
              </a:rPr>
              <a:t>in high probability</a:t>
            </a:r>
            <a:r>
              <a:rPr lang="en-US" altLang="zh-CN" sz="2000" i="0" dirty="0">
                <a:solidFill>
                  <a:srgbClr val="0F1115"/>
                </a:solidFill>
                <a:effectLst/>
                <a:latin typeface="+mn-ea"/>
              </a:rPr>
              <a:t> within a reasonable amount of time?</a:t>
            </a:r>
            <a:endParaRPr lang="zh-CN" altLang="en-US" sz="2000" dirty="0">
              <a:latin typeface="+mn-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7"/>
          <p:cNvSpPr txBox="1"/>
          <p:nvPr/>
        </p:nvSpPr>
        <p:spPr>
          <a:xfrm>
            <a:off x="4388748" y="901132"/>
            <a:ext cx="3414500" cy="1909677"/>
          </a:xfrm>
          <a:prstGeom prst="rect">
            <a:avLst/>
          </a:prstGeom>
        </p:spPr>
        <p:txBody>
          <a:bodyPr vert="horz" lIns="91440" tIns="45720" rIns="91440" bIns="45720" rtlCol="0" anchor="ctr">
            <a:noAutofit/>
          </a:bodyPr>
          <a:lstStyle>
            <a:defPPr>
              <a:defRPr lang="zh-CN"/>
            </a:defPPr>
            <a:lvl1pPr marL="0" indent="0" algn="dist" defTabSz="914400" rtl="0" eaLnBrk="1" latinLnBrk="0" hangingPunct="1">
              <a:buNone/>
              <a:defRPr sz="25000" kern="1200">
                <a:solidFill>
                  <a:schemeClr val="bg1">
                    <a:lumMod val="85000"/>
                  </a:schemeClr>
                </a:solidFill>
                <a:latin typeface="Impact" panose="020B080603090205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8800" dirty="0">
                <a:solidFill>
                  <a:srgbClr val="0070C0"/>
                </a:solidFill>
              </a:rPr>
              <a:t>0  3</a:t>
            </a:r>
            <a:endParaRPr lang="zh-CN" altLang="en-US" sz="8800" dirty="0">
              <a:solidFill>
                <a:srgbClr val="0070C0"/>
              </a:solidFill>
            </a:endParaRPr>
          </a:p>
        </p:txBody>
      </p:sp>
      <p:sp>
        <p:nvSpPr>
          <p:cNvPr id="5" name="矩形 4"/>
          <p:cNvSpPr/>
          <p:nvPr/>
        </p:nvSpPr>
        <p:spPr>
          <a:xfrm>
            <a:off x="2729345" y="4551218"/>
            <a:ext cx="6954705" cy="8312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占位符 9"/>
          <p:cNvSpPr txBox="1"/>
          <p:nvPr/>
        </p:nvSpPr>
        <p:spPr>
          <a:xfrm>
            <a:off x="420625" y="3116837"/>
            <a:ext cx="11868912" cy="822325"/>
          </a:xfrm>
          <a:prstGeom prst="rect">
            <a:avLst/>
          </a:prstGeom>
        </p:spPr>
        <p:txBody>
          <a:bodyPr vert="horz" lIns="91440" tIns="45720" rIns="91440" bIns="45720" rtlCol="0" anchor="ctr">
            <a:noAutofit/>
          </a:bodyPr>
          <a:lstStyle>
            <a:defPPr>
              <a:defRPr lang="zh-CN"/>
            </a:defPPr>
            <a:lvl1pPr marL="0" indent="0" algn="dist" defTabSz="914400" rtl="0" eaLnBrk="1" latinLnBrk="0" hangingPunct="1">
              <a:buNone/>
              <a:defRPr sz="8000" b="1" kern="1200">
                <a:solidFill>
                  <a:srgbClr val="00206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4800" spc="400" dirty="0">
                <a:solidFill>
                  <a:srgbClr val="003F88"/>
                </a:solidFill>
              </a:rPr>
              <a:t>Simulated Annealing Algorithm</a:t>
            </a:r>
            <a:endParaRPr lang="zh-CN" altLang="en-US" sz="4800" spc="400" dirty="0">
              <a:solidFill>
                <a:srgbClr val="003F88"/>
              </a:solidFill>
            </a:endParaRPr>
          </a:p>
        </p:txBody>
      </p:sp>
      <p:sp>
        <p:nvSpPr>
          <p:cNvPr id="7" name="矩形: 圆角 6"/>
          <p:cNvSpPr/>
          <p:nvPr/>
        </p:nvSpPr>
        <p:spPr>
          <a:xfrm>
            <a:off x="216692" y="242887"/>
            <a:ext cx="11758613" cy="6415088"/>
          </a:xfrm>
          <a:prstGeom prst="roundRect">
            <a:avLst>
              <a:gd name="adj" fmla="val 4863"/>
            </a:avLst>
          </a:prstGeom>
          <a:noFill/>
          <a:ln w="28575">
            <a:solidFill>
              <a:srgbClr val="003F88"/>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332509" y="415637"/>
            <a:ext cx="8035637" cy="411017"/>
            <a:chOff x="387927" y="452582"/>
            <a:chExt cx="8035637" cy="411017"/>
          </a:xfrm>
        </p:grpSpPr>
        <p:sp>
          <p:nvSpPr>
            <p:cNvPr id="2" name="矩形 1"/>
            <p:cNvSpPr/>
            <p:nvPr/>
          </p:nvSpPr>
          <p:spPr>
            <a:xfrm>
              <a:off x="387927" y="452582"/>
              <a:ext cx="387928" cy="184727"/>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581891" y="544945"/>
              <a:ext cx="512618" cy="318654"/>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5" name="直接连接符 4"/>
            <p:cNvCxnSpPr/>
            <p:nvPr/>
          </p:nvCxnSpPr>
          <p:spPr>
            <a:xfrm>
              <a:off x="951345" y="826655"/>
              <a:ext cx="7472219"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grpSp>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929268" y="277013"/>
            <a:ext cx="2045209" cy="568113"/>
          </a:xfrm>
          <a:prstGeom prst="rect">
            <a:avLst/>
          </a:prstGeom>
        </p:spPr>
      </p:pic>
      <p:sp>
        <p:nvSpPr>
          <p:cNvPr id="9" name="文本框 8"/>
          <p:cNvSpPr txBox="1"/>
          <p:nvPr/>
        </p:nvSpPr>
        <p:spPr>
          <a:xfrm>
            <a:off x="1165161" y="154027"/>
            <a:ext cx="6662103" cy="523220"/>
          </a:xfrm>
          <a:prstGeom prst="rect">
            <a:avLst/>
          </a:prstGeom>
          <a:noFill/>
        </p:spPr>
        <p:txBody>
          <a:bodyPr wrap="square" rtlCol="0">
            <a:spAutoFit/>
          </a:bodyPr>
          <a:lstStyle/>
          <a:p>
            <a:r>
              <a:rPr lang="en-US" altLang="zh-CN" sz="2800" spc="400" dirty="0">
                <a:solidFill>
                  <a:srgbClr val="003F88"/>
                </a:solidFill>
              </a:rPr>
              <a:t>Simulated Annealing Algorithm</a:t>
            </a:r>
            <a:endParaRPr lang="zh-CN" altLang="en-US" sz="2800" spc="400" dirty="0">
              <a:solidFill>
                <a:srgbClr val="003F88"/>
              </a:solidFill>
            </a:endParaRPr>
          </a:p>
        </p:txBody>
      </p:sp>
      <p:sp>
        <p:nvSpPr>
          <p:cNvPr id="4" name="文本框 3"/>
          <p:cNvSpPr txBox="1"/>
          <p:nvPr/>
        </p:nvSpPr>
        <p:spPr>
          <a:xfrm>
            <a:off x="526473" y="1195355"/>
            <a:ext cx="11448004" cy="3416320"/>
          </a:xfrm>
          <a:prstGeom prst="rect">
            <a:avLst/>
          </a:prstGeom>
          <a:solidFill>
            <a:schemeClr val="accent5">
              <a:lumMod val="20000"/>
              <a:lumOff val="80000"/>
            </a:schemeClr>
          </a:solidFill>
        </p:spPr>
        <p:txBody>
          <a:bodyPr wrap="square" rtlCol="0">
            <a:spAutoFit/>
          </a:bodyPr>
          <a:lstStyle/>
          <a:p>
            <a:r>
              <a:rPr lang="en-US" altLang="zh-CN" sz="2400" b="0" i="0" dirty="0">
                <a:solidFill>
                  <a:srgbClr val="0F1115"/>
                </a:solidFill>
                <a:effectLst/>
                <a:latin typeface="+mn-ea"/>
              </a:rPr>
              <a:t>Introduction:</a:t>
            </a:r>
            <a:endParaRPr lang="en-US" altLang="zh-CN" sz="2400" b="0" i="0" dirty="0">
              <a:solidFill>
                <a:srgbClr val="0F1115"/>
              </a:solidFill>
              <a:effectLst/>
              <a:latin typeface="+mn-ea"/>
            </a:endParaRPr>
          </a:p>
          <a:p>
            <a:r>
              <a:rPr lang="en-US" altLang="zh-CN" sz="2400" b="0" i="0" dirty="0">
                <a:solidFill>
                  <a:srgbClr val="0F1115"/>
                </a:solidFill>
                <a:effectLst/>
                <a:latin typeface="+mn-ea"/>
              </a:rPr>
              <a:t>Simulated Annealing is </a:t>
            </a:r>
            <a:r>
              <a:rPr lang="en-US" altLang="zh-CN" sz="2400" b="1" i="0" dirty="0">
                <a:solidFill>
                  <a:srgbClr val="0F1115"/>
                </a:solidFill>
                <a:effectLst/>
                <a:latin typeface="+mn-ea"/>
              </a:rPr>
              <a:t>a probabilistic optimization algorithm</a:t>
            </a:r>
            <a:r>
              <a:rPr lang="en-US" altLang="zh-CN" sz="2400" b="0" i="0" dirty="0">
                <a:solidFill>
                  <a:srgbClr val="0F1115"/>
                </a:solidFill>
                <a:effectLst/>
                <a:latin typeface="+mn-ea"/>
              </a:rPr>
              <a:t> inspired by the metallurgical process of annealing, where materials are heated and slowly cooled to reduce defects. In computer science, it solves complex</a:t>
            </a:r>
            <a:r>
              <a:rPr lang="en-US" altLang="zh-CN" sz="2400" b="1" i="0" dirty="0">
                <a:solidFill>
                  <a:srgbClr val="0F1115"/>
                </a:solidFill>
                <a:effectLst/>
                <a:latin typeface="+mn-ea"/>
              </a:rPr>
              <a:t> optimization problems</a:t>
            </a:r>
            <a:r>
              <a:rPr lang="en-US" altLang="zh-CN" sz="2400" b="0" i="0" dirty="0">
                <a:solidFill>
                  <a:srgbClr val="0F1115"/>
                </a:solidFill>
                <a:effectLst/>
                <a:latin typeface="+mn-ea"/>
              </a:rPr>
              <a:t> by mimicking this thermal process. The algorithm explores the solution space by occasionally accepting worse solutions with a probability, which helps escape local optima and gradually converges toward a global optimum. This makes it particularly effective for combinatorial optimization problems where traditional methods might get stuck.</a:t>
            </a:r>
            <a:endParaRPr lang="zh-CN" altLang="en-US" sz="2400" dirty="0">
              <a:latin typeface="+mn-ea"/>
            </a:endParaRPr>
          </a:p>
        </p:txBody>
      </p:sp>
      <p:pic>
        <p:nvPicPr>
          <p:cNvPr id="11" name="图片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14750" y="4895882"/>
            <a:ext cx="4762500" cy="1533525"/>
          </a:xfrm>
          <a:prstGeom prst="rect">
            <a:avLst/>
          </a:prstGeom>
        </p:spPr>
      </p:pic>
      <p:sp>
        <p:nvSpPr>
          <p:cNvPr id="12" name="文本框 11"/>
          <p:cNvSpPr txBox="1"/>
          <p:nvPr/>
        </p:nvSpPr>
        <p:spPr>
          <a:xfrm>
            <a:off x="5222748" y="6498987"/>
            <a:ext cx="1746504" cy="369332"/>
          </a:xfrm>
          <a:prstGeom prst="rect">
            <a:avLst/>
          </a:prstGeom>
          <a:noFill/>
        </p:spPr>
        <p:txBody>
          <a:bodyPr wrap="square" rtlCol="0">
            <a:spAutoFit/>
          </a:bodyPr>
          <a:lstStyle/>
          <a:p>
            <a:r>
              <a:rPr lang="en-US" altLang="zh-CN" dirty="0"/>
              <a:t>Cited from </a:t>
            </a:r>
            <a:r>
              <a:rPr lang="en-US" altLang="zh-CN" dirty="0">
                <a:hlinkClick r:id="rId3"/>
              </a:rPr>
              <a:t>here</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332509" y="415637"/>
            <a:ext cx="8035637" cy="411017"/>
            <a:chOff x="387927" y="452582"/>
            <a:chExt cx="8035637" cy="411017"/>
          </a:xfrm>
        </p:grpSpPr>
        <p:sp>
          <p:nvSpPr>
            <p:cNvPr id="2" name="矩形 1"/>
            <p:cNvSpPr/>
            <p:nvPr/>
          </p:nvSpPr>
          <p:spPr>
            <a:xfrm>
              <a:off x="387927" y="452582"/>
              <a:ext cx="387928" cy="184727"/>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581891" y="544945"/>
              <a:ext cx="512618" cy="318654"/>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5" name="直接连接符 4"/>
            <p:cNvCxnSpPr/>
            <p:nvPr/>
          </p:nvCxnSpPr>
          <p:spPr>
            <a:xfrm>
              <a:off x="951345" y="826655"/>
              <a:ext cx="7472219"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grpSp>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929268" y="277013"/>
            <a:ext cx="2045209" cy="568113"/>
          </a:xfrm>
          <a:prstGeom prst="rect">
            <a:avLst/>
          </a:prstGeom>
        </p:spPr>
      </p:pic>
      <p:sp>
        <p:nvSpPr>
          <p:cNvPr id="9" name="文本框 8"/>
          <p:cNvSpPr txBox="1"/>
          <p:nvPr/>
        </p:nvSpPr>
        <p:spPr>
          <a:xfrm>
            <a:off x="1165161" y="269066"/>
            <a:ext cx="6982143" cy="523220"/>
          </a:xfrm>
          <a:prstGeom prst="rect">
            <a:avLst/>
          </a:prstGeom>
          <a:noFill/>
        </p:spPr>
        <p:txBody>
          <a:bodyPr wrap="square" rtlCol="0">
            <a:spAutoFit/>
          </a:bodyPr>
          <a:lstStyle/>
          <a:p>
            <a:r>
              <a:rPr lang="en-US" altLang="zh-CN" sz="2800" spc="400" dirty="0">
                <a:solidFill>
                  <a:srgbClr val="003F88"/>
                </a:solidFill>
              </a:rPr>
              <a:t>Simulated Annealing Algorithm</a:t>
            </a:r>
            <a:endParaRPr lang="zh-CN" altLang="en-US" sz="2800" spc="400" dirty="0">
              <a:solidFill>
                <a:srgbClr val="003F88"/>
              </a:solidFill>
            </a:endParaRPr>
          </a:p>
        </p:txBody>
      </p:sp>
      <mc:AlternateContent xmlns:mc="http://schemas.openxmlformats.org/markup-compatibility/2006">
        <mc:Choice xmlns:a14="http://schemas.microsoft.com/office/drawing/2010/main" Requires="a14">
          <p:sp>
            <p:nvSpPr>
              <p:cNvPr id="13" name="Rectangle 3"/>
              <p:cNvSpPr>
                <a:spLocks noChangeArrowheads="1"/>
              </p:cNvSpPr>
              <p:nvPr/>
            </p:nvSpPr>
            <p:spPr bwMode="auto">
              <a:xfrm>
                <a:off x="431292" y="2123518"/>
                <a:ext cx="11329416" cy="2610963"/>
              </a:xfrm>
              <a:prstGeom prst="rect">
                <a:avLst/>
              </a:prstGeom>
              <a:solidFill>
                <a:schemeClr val="accent5">
                  <a:lumMod val="20000"/>
                  <a:lumOff val="80000"/>
                </a:schemeClr>
              </a:solidFill>
              <a:ln w="9525">
                <a:solidFill>
                  <a:schemeClr val="accent5">
                    <a:lumMod val="20000"/>
                    <a:lumOff val="80000"/>
                  </a:schemeClr>
                </a:solidFill>
                <a:miter lim="800000"/>
              </a:ln>
              <a:effectLst/>
            </p:spPr>
            <p:txBody>
              <a:bodyPr vert="horz" wrap="square" lIns="0" tIns="25392" rIns="0" bIns="0" numCol="1" anchor="ctr" anchorCtr="0" compatLnSpc="1">
                <a:spAutoFit/>
              </a:bodyPr>
              <a:lstStyle/>
              <a:p>
                <a:pPr eaLnBrk="0" fontAlgn="base" hangingPunct="0">
                  <a:spcBef>
                    <a:spcPct val="0"/>
                  </a:spcBef>
                  <a:spcAft>
                    <a:spcPct val="0"/>
                  </a:spcAft>
                </a:pPr>
                <a:r>
                  <a:rPr lang="en-US" altLang="zh-CN" sz="2400" b="1" dirty="0">
                    <a:effectLst/>
                    <a:latin typeface="+mn-ea"/>
                  </a:rPr>
                  <a:t>State Generation Function (Neighborhood Function)</a:t>
                </a:r>
                <a:r>
                  <a:rPr lang="en-US" altLang="zh-CN" sz="2400" b="0" dirty="0">
                    <a:effectLst/>
                    <a:latin typeface="+mn-ea"/>
                  </a:rPr>
                  <a:t>:This function is responsible for generating a new solution </a:t>
                </a:r>
                <a14:m>
                  <m:oMath xmlns:m="http://schemas.openxmlformats.org/officeDocument/2006/math">
                    <m:sSub>
                      <m:sSubPr>
                        <m:ctrlPr>
                          <a:rPr lang="en-US" altLang="zh-CN" sz="2400" b="0" i="1" smtClean="0">
                            <a:effectLst/>
                            <a:latin typeface="Cambria Math" panose="02040503050406030204" pitchFamily="18" charset="0"/>
                          </a:rPr>
                        </m:ctrlPr>
                      </m:sSubPr>
                      <m:e>
                        <m:r>
                          <a:rPr lang="en-US" altLang="zh-CN" sz="2400" b="0" i="1" smtClean="0">
                            <a:effectLst/>
                            <a:latin typeface="Cambria Math" panose="02040503050406030204" pitchFamily="18" charset="0"/>
                          </a:rPr>
                          <m:t>𝑆</m:t>
                        </m:r>
                      </m:e>
                      <m:sub>
                        <m:r>
                          <a:rPr lang="en-US" altLang="zh-CN" sz="2400" b="0" i="1" smtClean="0">
                            <a:effectLst/>
                            <a:latin typeface="Cambria Math" panose="02040503050406030204" pitchFamily="18" charset="0"/>
                          </a:rPr>
                          <m:t>𝑛𝑒𝑤</m:t>
                        </m:r>
                      </m:sub>
                    </m:sSub>
                  </m:oMath>
                </a14:m>
                <a:r>
                  <a:rPr lang="en-US" altLang="zh-CN" sz="2400" b="0" dirty="0">
                    <a:effectLst/>
                    <a:latin typeface="+mn-ea"/>
                  </a:rPr>
                  <a:t> in the neighborhood of the current solution </a:t>
                </a:r>
                <a14:m>
                  <m:oMath xmlns:m="http://schemas.openxmlformats.org/officeDocument/2006/math">
                    <m:r>
                      <a:rPr lang="en-US" altLang="zh-CN" sz="2400" b="0" i="1" smtClean="0">
                        <a:effectLst/>
                        <a:latin typeface="Cambria Math" panose="02040503050406030204" pitchFamily="18" charset="0"/>
                      </a:rPr>
                      <m:t>𝑆</m:t>
                    </m:r>
                  </m:oMath>
                </a14:m>
                <a:r>
                  <a:rPr lang="en-US" altLang="zh-CN" sz="2400" b="0" dirty="0">
                    <a:effectLst/>
                    <a:latin typeface="+mn-ea"/>
                  </a:rPr>
                  <a:t>. How the "neighborhood" is defined is crucial, as it determines the search space of the algorithm. For example, in the Traveling Salesman Problem, neighborhood operations could include swapping two cities or reversing a segment of the route.</a:t>
                </a:r>
                <a:endParaRPr lang="en-US" altLang="zh-CN" sz="2400" b="0" dirty="0">
                  <a:effectLst/>
                  <a:latin typeface="+mn-ea"/>
                </a:endParaRPr>
              </a:p>
              <a:p>
                <a:pPr eaLnBrk="0" fontAlgn="base" hangingPunct="0">
                  <a:spcBef>
                    <a:spcPct val="0"/>
                  </a:spcBef>
                  <a:spcAft>
                    <a:spcPct val="0"/>
                  </a:spcAft>
                </a:pPr>
                <a:r>
                  <a:rPr lang="en-US" altLang="zh-CN" sz="2400" dirty="0">
                    <a:latin typeface="+mn-ea"/>
                  </a:rPr>
                  <a:t>We define </a:t>
                </a:r>
                <a14:m>
                  <m:oMath xmlns:m="http://schemas.openxmlformats.org/officeDocument/2006/math">
                    <m:r>
                      <a:rPr lang="en-US" altLang="zh-CN" sz="240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𝐸</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𝑆</m:t>
                    </m:r>
                    <m:r>
                      <a:rPr lang="en-US" altLang="zh-CN" sz="2400" b="0" i="1" smtClean="0">
                        <a:latin typeface="Cambria Math" panose="02040503050406030204" pitchFamily="18" charset="0"/>
                        <a:ea typeface="Cambria Math" panose="02040503050406030204" pitchFamily="18" charset="0"/>
                      </a:rPr>
                      <m:t>−</m:t>
                    </m:r>
                    <m:sSub>
                      <m:sSubPr>
                        <m:ctrlPr>
                          <a:rPr lang="en-US" altLang="zh-CN" sz="2400" b="0" i="1" smtClean="0">
                            <a:latin typeface="Cambria Math" panose="02040503050406030204" pitchFamily="18" charset="0"/>
                            <a:ea typeface="Cambria Math" panose="02040503050406030204" pitchFamily="18" charset="0"/>
                          </a:rPr>
                        </m:ctrlPr>
                      </m:sSubPr>
                      <m:e>
                        <m:r>
                          <a:rPr lang="en-US" altLang="zh-CN" sz="2400" b="0" i="1" smtClean="0">
                            <a:latin typeface="Cambria Math" panose="02040503050406030204" pitchFamily="18" charset="0"/>
                            <a:ea typeface="Cambria Math" panose="02040503050406030204" pitchFamily="18" charset="0"/>
                          </a:rPr>
                          <m:t>𝑆</m:t>
                        </m:r>
                      </m:e>
                      <m:sub>
                        <m:r>
                          <a:rPr lang="en-US" altLang="zh-CN" sz="2400" b="0" i="1" smtClean="0">
                            <a:latin typeface="Cambria Math" panose="02040503050406030204" pitchFamily="18" charset="0"/>
                            <a:ea typeface="Cambria Math" panose="02040503050406030204" pitchFamily="18" charset="0"/>
                          </a:rPr>
                          <m:t>𝑛𝑒𝑤</m:t>
                        </m:r>
                      </m:sub>
                    </m:sSub>
                    <m:r>
                      <a:rPr lang="en-US" altLang="zh-CN" sz="2400" b="0" i="1" smtClean="0">
                        <a:latin typeface="Cambria Math" panose="02040503050406030204" pitchFamily="18" charset="0"/>
                        <a:ea typeface="Cambria Math" panose="02040503050406030204" pitchFamily="18" charset="0"/>
                      </a:rPr>
                      <m:t>|</m:t>
                    </m:r>
                  </m:oMath>
                </a14:m>
                <a:endParaRPr lang="en-US" altLang="zh-CN" sz="2400" b="0" dirty="0">
                  <a:effectLst/>
                  <a:latin typeface="+mn-ea"/>
                </a:endParaRPr>
              </a:p>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2400" b="0" i="0" u="none" strike="noStrike" cap="none" normalizeH="0" baseline="0" dirty="0">
                  <a:ln>
                    <a:noFill/>
                  </a:ln>
                  <a:effectLst/>
                  <a:latin typeface="+mn-ea"/>
                </a:endParaRPr>
              </a:p>
            </p:txBody>
          </p:sp>
        </mc:Choice>
        <mc:Fallback>
          <p:sp>
            <p:nvSpPr>
              <p:cNvPr id="13" name="Rectangle 3"/>
              <p:cNvSpPr>
                <a:spLocks noRot="1" noChangeAspect="1" noMove="1" noResize="1" noEditPoints="1" noAdjustHandles="1" noChangeArrowheads="1" noChangeShapeType="1" noTextEdit="1"/>
              </p:cNvSpPr>
              <p:nvPr/>
            </p:nvSpPr>
            <p:spPr bwMode="auto">
              <a:xfrm>
                <a:off x="431292" y="2123518"/>
                <a:ext cx="11329416" cy="2610963"/>
              </a:xfrm>
              <a:prstGeom prst="rect">
                <a:avLst/>
              </a:prstGeom>
              <a:blipFill rotWithShape="1">
                <a:blip r:embed="rId2"/>
                <a:stretch>
                  <a:fillRect l="-57" t="-951" r="-52" b="-1924"/>
                </a:stretch>
              </a:blipFill>
              <a:ln w="9525">
                <a:solidFill>
                  <a:schemeClr val="accent5">
                    <a:lumMod val="20000"/>
                    <a:lumOff val="80000"/>
                  </a:schemeClr>
                </a:solidFill>
                <a:miter lim="800000"/>
              </a:ln>
              <a:effectLst/>
            </p:spPr>
            <p:txBody>
              <a:bodyPr/>
              <a:lstStyle/>
              <a:p>
                <a:r>
                  <a:rPr lang="en-US"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332509" y="415637"/>
            <a:ext cx="8035637" cy="411017"/>
            <a:chOff x="387927" y="452582"/>
            <a:chExt cx="8035637" cy="411017"/>
          </a:xfrm>
        </p:grpSpPr>
        <p:sp>
          <p:nvSpPr>
            <p:cNvPr id="2" name="矩形 1"/>
            <p:cNvSpPr/>
            <p:nvPr/>
          </p:nvSpPr>
          <p:spPr>
            <a:xfrm>
              <a:off x="387927" y="452582"/>
              <a:ext cx="387928" cy="184727"/>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581891" y="544945"/>
              <a:ext cx="512618" cy="318654"/>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5" name="直接连接符 4"/>
            <p:cNvCxnSpPr/>
            <p:nvPr/>
          </p:nvCxnSpPr>
          <p:spPr>
            <a:xfrm>
              <a:off x="951345" y="826655"/>
              <a:ext cx="7472219"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grpSp>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929268" y="277013"/>
            <a:ext cx="2045209" cy="568113"/>
          </a:xfrm>
          <a:prstGeom prst="rect">
            <a:avLst/>
          </a:prstGeom>
        </p:spPr>
      </p:pic>
      <p:sp>
        <p:nvSpPr>
          <p:cNvPr id="9" name="文本框 8"/>
          <p:cNvSpPr txBox="1"/>
          <p:nvPr/>
        </p:nvSpPr>
        <p:spPr>
          <a:xfrm>
            <a:off x="1165161" y="269066"/>
            <a:ext cx="6982143" cy="523220"/>
          </a:xfrm>
          <a:prstGeom prst="rect">
            <a:avLst/>
          </a:prstGeom>
          <a:noFill/>
        </p:spPr>
        <p:txBody>
          <a:bodyPr wrap="square" rtlCol="0">
            <a:spAutoFit/>
          </a:bodyPr>
          <a:lstStyle/>
          <a:p>
            <a:r>
              <a:rPr lang="en-US" altLang="zh-CN" sz="2800" spc="400" dirty="0">
                <a:solidFill>
                  <a:srgbClr val="003F88"/>
                </a:solidFill>
              </a:rPr>
              <a:t>Simulated Annealing Algorithm</a:t>
            </a:r>
            <a:endParaRPr lang="zh-CN" altLang="en-US" sz="2800" spc="400" dirty="0">
              <a:solidFill>
                <a:srgbClr val="003F88"/>
              </a:solidFill>
            </a:endParaRPr>
          </a:p>
        </p:txBody>
      </p:sp>
      <p:sp>
        <p:nvSpPr>
          <p:cNvPr id="4" name="文本框 3"/>
          <p:cNvSpPr txBox="1"/>
          <p:nvPr/>
        </p:nvSpPr>
        <p:spPr>
          <a:xfrm>
            <a:off x="526473" y="1097173"/>
            <a:ext cx="955711" cy="461665"/>
          </a:xfrm>
          <a:prstGeom prst="rect">
            <a:avLst/>
          </a:prstGeom>
          <a:noFill/>
        </p:spPr>
        <p:txBody>
          <a:bodyPr wrap="none" rtlCol="0">
            <a:spAutoFit/>
          </a:bodyPr>
          <a:lstStyle/>
          <a:p>
            <a:r>
              <a:rPr lang="en-US" altLang="zh-CN" sz="2400" dirty="0"/>
              <a:t>Logic:</a:t>
            </a:r>
            <a:endParaRPr lang="zh-CN" altLang="en-US" sz="2400" dirty="0"/>
          </a:p>
        </p:txBody>
      </p:sp>
      <mc:AlternateContent xmlns:mc="http://schemas.openxmlformats.org/markup-compatibility/2006">
        <mc:Choice xmlns:a14="http://schemas.microsoft.com/office/drawing/2010/main" Requires="a14">
          <p:sp>
            <p:nvSpPr>
              <p:cNvPr id="7" name="文本框 6"/>
              <p:cNvSpPr txBox="1"/>
              <p:nvPr/>
            </p:nvSpPr>
            <p:spPr>
              <a:xfrm>
                <a:off x="526473" y="1535764"/>
                <a:ext cx="10630599" cy="4303871"/>
              </a:xfrm>
              <a:prstGeom prst="rect">
                <a:avLst/>
              </a:prstGeom>
              <a:solidFill>
                <a:schemeClr val="accent5">
                  <a:lumMod val="20000"/>
                  <a:lumOff val="80000"/>
                </a:schemeClr>
              </a:solidFill>
              <a:ln>
                <a:solidFill>
                  <a:schemeClr val="accent5">
                    <a:lumMod val="20000"/>
                    <a:lumOff val="80000"/>
                  </a:schemeClr>
                </a:solidFill>
              </a:ln>
            </p:spPr>
            <p:txBody>
              <a:bodyPr wrap="square" rtlCol="0">
                <a:spAutoFit/>
              </a:bodyPr>
              <a:lstStyle/>
              <a:p>
                <a:r>
                  <a:rPr lang="en-US" altLang="zh-CN" sz="2400" dirty="0">
                    <a:solidFill>
                      <a:schemeClr val="tx1"/>
                    </a:solidFill>
                    <a:effectLst/>
                    <a:latin typeface="+mn-ea"/>
                  </a:rPr>
                  <a:t>First, we set the initial temperature </a:t>
                </a:r>
                <a14:m>
                  <m:oMath xmlns:m="http://schemas.openxmlformats.org/officeDocument/2006/math">
                    <m:sSub>
                      <m:sSubPr>
                        <m:ctrlPr>
                          <a:rPr lang="en-US" altLang="zh-CN" sz="2400" i="1" smtClean="0">
                            <a:solidFill>
                              <a:schemeClr val="tx1"/>
                            </a:solidFill>
                            <a:effectLst/>
                            <a:latin typeface="Cambria Math" panose="02040503050406030204" pitchFamily="18" charset="0"/>
                          </a:rPr>
                        </m:ctrlPr>
                      </m:sSubPr>
                      <m:e>
                        <m:r>
                          <m:rPr>
                            <m:sty m:val="p"/>
                          </m:rPr>
                          <a:rPr lang="en-US" altLang="zh-CN" sz="2400" b="0" i="0" smtClean="0">
                            <a:solidFill>
                              <a:schemeClr val="tx1"/>
                            </a:solidFill>
                            <a:effectLst/>
                            <a:latin typeface="Cambria Math" panose="02040503050406030204" pitchFamily="18" charset="0"/>
                          </a:rPr>
                          <m:t>T</m:t>
                        </m:r>
                      </m:e>
                      <m:sub>
                        <m:r>
                          <a:rPr lang="en-US" altLang="zh-CN" sz="2400" b="0" i="0" smtClean="0">
                            <a:solidFill>
                              <a:schemeClr val="tx1"/>
                            </a:solidFill>
                            <a:effectLst/>
                            <a:latin typeface="Cambria Math" panose="02040503050406030204" pitchFamily="18" charset="0"/>
                          </a:rPr>
                          <m:t>0</m:t>
                        </m:r>
                      </m:sub>
                    </m:sSub>
                  </m:oMath>
                </a14:m>
                <a:r>
                  <a:rPr lang="en-US" altLang="zh-CN" sz="2400" dirty="0">
                    <a:solidFill>
                      <a:schemeClr val="tx1"/>
                    </a:solidFill>
                    <a:effectLst/>
                    <a:latin typeface="+mn-ea"/>
                  </a:rPr>
                  <a:t>,</a:t>
                </a:r>
                <a:r>
                  <a:rPr lang="en-US" altLang="zh-CN" sz="2400" dirty="0">
                    <a:solidFill>
                      <a:schemeClr val="tx1"/>
                    </a:solidFill>
                    <a:latin typeface="+mn-ea"/>
                  </a:rPr>
                  <a:t> the cooling coefficient </a:t>
                </a:r>
                <a14:m>
                  <m:oMath xmlns:m="http://schemas.openxmlformats.org/officeDocument/2006/math">
                    <m:r>
                      <m:rPr>
                        <m:sty m:val="p"/>
                      </m:rPr>
                      <a:rPr lang="zh-CN" altLang="en-US" sz="2400" b="0" i="0" smtClean="0">
                        <a:solidFill>
                          <a:schemeClr val="tx1"/>
                        </a:solidFill>
                        <a:latin typeface="Cambria Math" panose="02040503050406030204" pitchFamily="18" charset="0"/>
                      </a:rPr>
                      <m:t>α</m:t>
                    </m:r>
                  </m:oMath>
                </a14:m>
                <a:r>
                  <a:rPr lang="en-US" altLang="zh-CN" sz="2400" dirty="0">
                    <a:solidFill>
                      <a:schemeClr val="tx1"/>
                    </a:solidFill>
                    <a:latin typeface="+mn-ea"/>
                  </a:rPr>
                  <a:t>,and the stopping temperature </a:t>
                </a:r>
                <a14:m>
                  <m:oMath xmlns:m="http://schemas.openxmlformats.org/officeDocument/2006/math">
                    <m:sSub>
                      <m:sSubPr>
                        <m:ctrlPr>
                          <a:rPr lang="en-US" altLang="zh-CN" sz="2400" i="1" smtClean="0">
                            <a:solidFill>
                              <a:schemeClr val="tx1"/>
                            </a:solidFill>
                            <a:latin typeface="Cambria Math" panose="02040503050406030204" pitchFamily="18" charset="0"/>
                          </a:rPr>
                        </m:ctrlPr>
                      </m:sSubPr>
                      <m:e>
                        <m:r>
                          <m:rPr>
                            <m:sty m:val="p"/>
                          </m:rPr>
                          <a:rPr lang="en-US" altLang="zh-CN" sz="2400" b="0" i="0" smtClean="0">
                            <a:solidFill>
                              <a:schemeClr val="tx1"/>
                            </a:solidFill>
                            <a:latin typeface="Cambria Math" panose="02040503050406030204" pitchFamily="18" charset="0"/>
                          </a:rPr>
                          <m:t>T</m:t>
                        </m:r>
                      </m:e>
                      <m:sub>
                        <m:r>
                          <m:rPr>
                            <m:sty m:val="p"/>
                          </m:rPr>
                          <a:rPr lang="en-US" altLang="zh-CN" sz="2400" b="0" i="0" smtClean="0">
                            <a:solidFill>
                              <a:schemeClr val="tx1"/>
                            </a:solidFill>
                            <a:latin typeface="Cambria Math" panose="02040503050406030204" pitchFamily="18" charset="0"/>
                          </a:rPr>
                          <m:t>min</m:t>
                        </m:r>
                      </m:sub>
                    </m:sSub>
                  </m:oMath>
                </a14:m>
                <a:r>
                  <a:rPr lang="en-US" altLang="zh-CN" sz="2400" dirty="0">
                    <a:solidFill>
                      <a:schemeClr val="tx1"/>
                    </a:solidFill>
                    <a:latin typeface="+mn-ea"/>
                  </a:rPr>
                  <a:t>.Then we repeat the following steps:</a:t>
                </a:r>
                <a:endParaRPr lang="en-US" altLang="zh-CN" sz="2400" dirty="0">
                  <a:solidFill>
                    <a:schemeClr val="tx1"/>
                  </a:solidFill>
                  <a:latin typeface="+mn-ea"/>
                </a:endParaRPr>
              </a:p>
              <a:p>
                <a:pPr marL="342900" indent="-342900">
                  <a:buFont typeface="+mj-lt"/>
                  <a:buAutoNum type="arabicPeriod"/>
                </a:pPr>
                <a:r>
                  <a:rPr lang="en-US" altLang="zh-CN" sz="2400" dirty="0">
                    <a:solidFill>
                      <a:schemeClr val="tx1"/>
                    </a:solidFill>
                    <a:effectLst/>
                    <a:latin typeface="+mn-ea"/>
                  </a:rPr>
                  <a:t>Perform a random </a:t>
                </a:r>
                <a:r>
                  <a:rPr lang="en-US" altLang="zh-CN" sz="2400" b="1" dirty="0">
                    <a:solidFill>
                      <a:schemeClr val="tx1"/>
                    </a:solidFill>
                    <a:effectLst/>
                    <a:latin typeface="+mn-ea"/>
                  </a:rPr>
                  <a:t>perturbation</a:t>
                </a:r>
                <a:r>
                  <a:rPr lang="en-US" altLang="zh-CN" sz="2400" dirty="0">
                    <a:solidFill>
                      <a:schemeClr val="tx1"/>
                    </a:solidFill>
                    <a:effectLst/>
                    <a:latin typeface="+mn-ea"/>
                  </a:rPr>
                  <a:t> to generate a new solution </a:t>
                </a:r>
                <a14:m>
                  <m:oMath xmlns:m="http://schemas.openxmlformats.org/officeDocument/2006/math">
                    <m:sSub>
                      <m:sSubPr>
                        <m:ctrlPr>
                          <a:rPr lang="en-US" altLang="zh-CN" sz="2400" i="1" smtClean="0">
                            <a:solidFill>
                              <a:schemeClr val="tx1"/>
                            </a:solidFill>
                            <a:effectLst/>
                            <a:latin typeface="Cambria Math" panose="02040503050406030204" pitchFamily="18" charset="0"/>
                          </a:rPr>
                        </m:ctrlPr>
                      </m:sSubPr>
                      <m:e>
                        <m:r>
                          <m:rPr>
                            <m:sty m:val="p"/>
                          </m:rPr>
                          <a:rPr lang="en-US" altLang="zh-CN" sz="2400" b="0" i="0" smtClean="0">
                            <a:solidFill>
                              <a:schemeClr val="tx1"/>
                            </a:solidFill>
                            <a:effectLst/>
                            <a:latin typeface="Cambria Math" panose="02040503050406030204" pitchFamily="18" charset="0"/>
                          </a:rPr>
                          <m:t>S</m:t>
                        </m:r>
                      </m:e>
                      <m:sub>
                        <m:r>
                          <m:rPr>
                            <m:sty m:val="p"/>
                          </m:rPr>
                          <a:rPr lang="en-US" altLang="zh-CN" sz="2400" b="0" i="0" smtClean="0">
                            <a:solidFill>
                              <a:schemeClr val="tx1"/>
                            </a:solidFill>
                            <a:effectLst/>
                            <a:latin typeface="Cambria Math" panose="02040503050406030204" pitchFamily="18" charset="0"/>
                          </a:rPr>
                          <m:t>new</m:t>
                        </m:r>
                      </m:sub>
                    </m:sSub>
                  </m:oMath>
                </a14:m>
                <a:r>
                  <a:rPr lang="en-US" altLang="zh-CN" sz="2400" dirty="0">
                    <a:solidFill>
                      <a:schemeClr val="tx1"/>
                    </a:solidFill>
                    <a:effectLst/>
                    <a:latin typeface="+mn-ea"/>
                  </a:rPr>
                  <a:t> based on the original solution </a:t>
                </a:r>
                <a14:m>
                  <m:oMath xmlns:m="http://schemas.openxmlformats.org/officeDocument/2006/math">
                    <m:r>
                      <m:rPr>
                        <m:sty m:val="p"/>
                      </m:rPr>
                      <a:rPr lang="en-US" altLang="zh-CN" sz="2400" b="0" i="0" dirty="0" smtClean="0">
                        <a:solidFill>
                          <a:schemeClr val="tx1"/>
                        </a:solidFill>
                        <a:effectLst/>
                        <a:latin typeface="Cambria Math" panose="02040503050406030204" pitchFamily="18" charset="0"/>
                      </a:rPr>
                      <m:t>S</m:t>
                    </m:r>
                  </m:oMath>
                </a14:m>
                <a:r>
                  <a:rPr lang="en-US" altLang="zh-CN" sz="2400" dirty="0">
                    <a:solidFill>
                      <a:schemeClr val="tx1"/>
                    </a:solidFill>
                    <a:effectLst/>
                    <a:latin typeface="+mn-ea"/>
                  </a:rPr>
                  <a:t>.</a:t>
                </a:r>
                <a:endParaRPr lang="en-US" altLang="zh-CN" sz="2400" dirty="0">
                  <a:solidFill>
                    <a:schemeClr val="tx1"/>
                  </a:solidFill>
                  <a:effectLst/>
                  <a:latin typeface="+mn-ea"/>
                </a:endParaRPr>
              </a:p>
              <a:p>
                <a:pPr marL="342900" indent="-342900">
                  <a:buFont typeface="+mj-lt"/>
                  <a:buAutoNum type="arabicPeriod"/>
                </a:pPr>
                <a:r>
                  <a:rPr lang="en-US" altLang="zh-CN" sz="2400" dirty="0">
                    <a:solidFill>
                      <a:schemeClr val="tx1"/>
                    </a:solidFill>
                    <a:effectLst/>
                    <a:latin typeface="+mn-ea"/>
                  </a:rPr>
                  <a:t>Determine whether the new solution </a:t>
                </a:r>
                <a14:m>
                  <m:oMath xmlns:m="http://schemas.openxmlformats.org/officeDocument/2006/math">
                    <m:sSub>
                      <m:sSubPr>
                        <m:ctrlPr>
                          <a:rPr lang="en-US" altLang="zh-CN" sz="2400" i="1" smtClean="0">
                            <a:solidFill>
                              <a:schemeClr val="tx1"/>
                            </a:solidFill>
                            <a:effectLst/>
                            <a:latin typeface="Cambria Math" panose="02040503050406030204" pitchFamily="18" charset="0"/>
                          </a:rPr>
                        </m:ctrlPr>
                      </m:sSubPr>
                      <m:e>
                        <m:r>
                          <m:rPr>
                            <m:sty m:val="p"/>
                          </m:rPr>
                          <a:rPr lang="en-US" altLang="zh-CN" sz="2400" b="0" i="0" smtClean="0">
                            <a:solidFill>
                              <a:schemeClr val="tx1"/>
                            </a:solidFill>
                            <a:effectLst/>
                            <a:latin typeface="Cambria Math" panose="02040503050406030204" pitchFamily="18" charset="0"/>
                          </a:rPr>
                          <m:t>S</m:t>
                        </m:r>
                      </m:e>
                      <m:sub>
                        <m:r>
                          <m:rPr>
                            <m:sty m:val="p"/>
                          </m:rPr>
                          <a:rPr lang="en-US" altLang="zh-CN" sz="2400" b="0" i="0" smtClean="0">
                            <a:solidFill>
                              <a:schemeClr val="tx1"/>
                            </a:solidFill>
                            <a:effectLst/>
                            <a:latin typeface="Cambria Math" panose="02040503050406030204" pitchFamily="18" charset="0"/>
                          </a:rPr>
                          <m:t>new</m:t>
                        </m:r>
                      </m:sub>
                    </m:sSub>
                    <m:r>
                      <a:rPr lang="en-US" altLang="zh-CN" sz="2400" b="0" i="0" smtClean="0">
                        <a:solidFill>
                          <a:schemeClr val="tx1"/>
                        </a:solidFill>
                        <a:effectLst/>
                        <a:latin typeface="Cambria Math" panose="02040503050406030204" pitchFamily="18" charset="0"/>
                      </a:rPr>
                      <m:t> </m:t>
                    </m:r>
                  </m:oMath>
                </a14:m>
                <a:r>
                  <a:rPr lang="en-US" altLang="zh-CN" sz="2400" dirty="0">
                    <a:solidFill>
                      <a:schemeClr val="tx1"/>
                    </a:solidFill>
                    <a:effectLst/>
                    <a:latin typeface="+mn-ea"/>
                  </a:rPr>
                  <a:t>is better than the original solution </a:t>
                </a:r>
                <a14:m>
                  <m:oMath xmlns:m="http://schemas.openxmlformats.org/officeDocument/2006/math">
                    <m:r>
                      <m:rPr>
                        <m:sty m:val="p"/>
                      </m:rPr>
                      <a:rPr lang="en-US" altLang="zh-CN" sz="2400" b="0" i="0" dirty="0">
                        <a:solidFill>
                          <a:schemeClr val="tx1"/>
                        </a:solidFill>
                        <a:latin typeface="Cambria Math" panose="02040503050406030204" pitchFamily="18" charset="0"/>
                      </a:rPr>
                      <m:t>S</m:t>
                    </m:r>
                  </m:oMath>
                </a14:m>
                <a:r>
                  <a:rPr lang="en-US" altLang="zh-CN" sz="2400" dirty="0">
                    <a:solidFill>
                      <a:schemeClr val="tx1"/>
                    </a:solidFill>
                    <a:effectLst/>
                    <a:latin typeface="+mn-ea"/>
                  </a:rPr>
                  <a:t>. If it is better, accept this solution; otherwise, accept it with probability </a:t>
                </a:r>
                <a14:m>
                  <m:oMath xmlns:m="http://schemas.openxmlformats.org/officeDocument/2006/math">
                    <m:r>
                      <m:rPr>
                        <m:sty m:val="p"/>
                      </m:rPr>
                      <a:rPr lang="en-US" altLang="zh-CN" sz="2400" b="0" i="0">
                        <a:solidFill>
                          <a:schemeClr val="tx1"/>
                        </a:solidFill>
                        <a:latin typeface="Cambria Math" panose="02040503050406030204" pitchFamily="18" charset="0"/>
                      </a:rPr>
                      <m:t>P</m:t>
                    </m:r>
                    <m:r>
                      <a:rPr lang="en-US" altLang="zh-CN" sz="2400" b="0" i="0">
                        <a:solidFill>
                          <a:schemeClr val="tx1"/>
                        </a:solidFill>
                        <a:latin typeface="Cambria Math" panose="02040503050406030204" pitchFamily="18" charset="0"/>
                      </a:rPr>
                      <m:t>=</m:t>
                    </m:r>
                    <m:sSup>
                      <m:sSupPr>
                        <m:ctrlPr>
                          <a:rPr lang="en-US" altLang="zh-CN" sz="2400" i="1">
                            <a:solidFill>
                              <a:schemeClr val="tx1"/>
                            </a:solidFill>
                            <a:latin typeface="Cambria Math" panose="02040503050406030204" pitchFamily="18" charset="0"/>
                          </a:rPr>
                        </m:ctrlPr>
                      </m:sSupPr>
                      <m:e>
                        <m:r>
                          <m:rPr>
                            <m:sty m:val="p"/>
                          </m:rPr>
                          <a:rPr lang="en-US" altLang="zh-CN" sz="2400" b="0" i="0">
                            <a:solidFill>
                              <a:schemeClr val="tx1"/>
                            </a:solidFill>
                            <a:latin typeface="Cambria Math" panose="02040503050406030204" pitchFamily="18" charset="0"/>
                          </a:rPr>
                          <m:t>e</m:t>
                        </m:r>
                      </m:e>
                      <m:sup>
                        <m:f>
                          <m:fPr>
                            <m:ctrlPr>
                              <a:rPr lang="en-US" altLang="zh-CN" sz="2400" i="1">
                                <a:solidFill>
                                  <a:schemeClr val="tx1"/>
                                </a:solidFill>
                                <a:latin typeface="Cambria Math" panose="02040503050406030204" pitchFamily="18" charset="0"/>
                              </a:rPr>
                            </m:ctrlPr>
                          </m:fPr>
                          <m:num>
                            <m:r>
                              <a:rPr lang="en-US" altLang="zh-CN" sz="2400" b="0" i="0">
                                <a:solidFill>
                                  <a:schemeClr val="tx1"/>
                                </a:solidFill>
                                <a:latin typeface="Cambria Math" panose="02040503050406030204" pitchFamily="18" charset="0"/>
                              </a:rPr>
                              <m:t>−∆</m:t>
                            </m:r>
                            <m:r>
                              <m:rPr>
                                <m:sty m:val="p"/>
                              </m:rPr>
                              <a:rPr lang="en-US" altLang="zh-CN" sz="2400" b="0" i="0">
                                <a:solidFill>
                                  <a:schemeClr val="tx1"/>
                                </a:solidFill>
                                <a:latin typeface="Cambria Math" panose="02040503050406030204" pitchFamily="18" charset="0"/>
                              </a:rPr>
                              <m:t>E</m:t>
                            </m:r>
                          </m:num>
                          <m:den>
                            <m:r>
                              <m:rPr>
                                <m:sty m:val="p"/>
                              </m:rPr>
                              <a:rPr lang="en-US" altLang="zh-CN" sz="2400" b="0" i="0">
                                <a:solidFill>
                                  <a:schemeClr val="tx1"/>
                                </a:solidFill>
                                <a:latin typeface="Cambria Math" panose="02040503050406030204" pitchFamily="18" charset="0"/>
                              </a:rPr>
                              <m:t>T</m:t>
                            </m:r>
                          </m:den>
                        </m:f>
                      </m:sup>
                    </m:sSup>
                  </m:oMath>
                </a14:m>
                <a:r>
                  <a:rPr lang="en-US" altLang="zh-CN" sz="2400" dirty="0">
                    <a:solidFill>
                      <a:schemeClr val="tx1"/>
                    </a:solidFill>
                    <a:latin typeface="+mn-ea"/>
                  </a:rPr>
                  <a:t>(using </a:t>
                </a:r>
                <a:r>
                  <a:rPr lang="en-US" altLang="zh-CN" sz="2400" b="1" dirty="0">
                    <a:latin typeface="+mn-ea"/>
                  </a:rPr>
                  <a:t>Metropolis Criterion</a:t>
                </a:r>
                <a:r>
                  <a:rPr lang="en-US" altLang="zh-CN" sz="2400" dirty="0">
                    <a:solidFill>
                      <a:schemeClr val="tx1"/>
                    </a:solidFill>
                    <a:latin typeface="+mn-ea"/>
                  </a:rPr>
                  <a:t>).</a:t>
                </a:r>
                <a:endParaRPr lang="en-US" altLang="zh-CN" sz="2400" dirty="0">
                  <a:solidFill>
                    <a:schemeClr val="tx1"/>
                  </a:solidFill>
                  <a:latin typeface="+mn-ea"/>
                </a:endParaRPr>
              </a:p>
              <a:p>
                <a:pPr marL="342900" indent="-342900">
                  <a:buFont typeface="+mj-lt"/>
                  <a:buAutoNum type="arabicPeriod"/>
                </a:pPr>
                <a:r>
                  <a:rPr lang="en-US" altLang="zh-CN" sz="2400" dirty="0">
                    <a:solidFill>
                      <a:schemeClr val="tx1"/>
                    </a:solidFill>
                    <a:effectLst/>
                    <a:latin typeface="+mn-ea"/>
                  </a:rPr>
                  <a:t>Cool down the temperature:</a:t>
                </a:r>
                <a14:m>
                  <m:oMath xmlns:m="http://schemas.openxmlformats.org/officeDocument/2006/math">
                    <m:r>
                      <a:rPr lang="en-US" altLang="zh-CN" sz="2400" b="0" i="0" smtClean="0">
                        <a:solidFill>
                          <a:schemeClr val="tx1"/>
                        </a:solidFill>
                        <a:effectLst/>
                        <a:latin typeface="Cambria Math" panose="02040503050406030204" pitchFamily="18" charset="0"/>
                      </a:rPr>
                      <m:t> </m:t>
                    </m:r>
                    <m:r>
                      <m:rPr>
                        <m:sty m:val="p"/>
                      </m:rPr>
                      <a:rPr lang="en-US" altLang="zh-CN" sz="2400" b="0" i="0" smtClean="0">
                        <a:solidFill>
                          <a:schemeClr val="tx1"/>
                        </a:solidFill>
                        <a:effectLst/>
                        <a:latin typeface="Cambria Math" panose="02040503050406030204" pitchFamily="18" charset="0"/>
                      </a:rPr>
                      <m:t>T</m:t>
                    </m:r>
                    <m:r>
                      <a:rPr lang="en-US" altLang="zh-CN" sz="2400" b="0" i="0" smtClean="0">
                        <a:solidFill>
                          <a:schemeClr val="tx1"/>
                        </a:solidFill>
                        <a:effectLst/>
                        <a:latin typeface="Cambria Math" panose="02040503050406030204" pitchFamily="18" charset="0"/>
                      </a:rPr>
                      <m:t>=</m:t>
                    </m:r>
                    <m:r>
                      <m:rPr>
                        <m:sty m:val="p"/>
                      </m:rPr>
                      <a:rPr lang="zh-CN" altLang="en-US" sz="2400" b="0" i="0" smtClean="0">
                        <a:solidFill>
                          <a:schemeClr val="tx1"/>
                        </a:solidFill>
                        <a:effectLst/>
                        <a:latin typeface="Cambria Math" panose="02040503050406030204" pitchFamily="18" charset="0"/>
                      </a:rPr>
                      <m:t>α</m:t>
                    </m:r>
                    <m:r>
                      <m:rPr>
                        <m:sty m:val="p"/>
                      </m:rPr>
                      <a:rPr lang="en-US" altLang="zh-CN" sz="2400" b="0" i="0" smtClean="0">
                        <a:solidFill>
                          <a:schemeClr val="tx1"/>
                        </a:solidFill>
                        <a:effectLst/>
                        <a:latin typeface="Cambria Math" panose="02040503050406030204" pitchFamily="18" charset="0"/>
                      </a:rPr>
                      <m:t>T</m:t>
                    </m:r>
                  </m:oMath>
                </a14:m>
                <a:endParaRPr lang="en-US" altLang="zh-CN" sz="2400" dirty="0">
                  <a:solidFill>
                    <a:schemeClr val="tx1"/>
                  </a:solidFill>
                  <a:effectLst/>
                  <a:latin typeface="+mn-ea"/>
                </a:endParaRPr>
              </a:p>
              <a:p>
                <a:pPr marL="342900" indent="-342900">
                  <a:buFont typeface="+mj-lt"/>
                  <a:buAutoNum type="arabicPeriod"/>
                </a:pPr>
                <a:r>
                  <a:rPr lang="en-US" altLang="zh-CN" sz="2400" dirty="0">
                    <a:solidFill>
                      <a:schemeClr val="tx1"/>
                    </a:solidFill>
                    <a:effectLst/>
                    <a:latin typeface="+mn-ea"/>
                  </a:rPr>
                  <a:t>Termination condition: </a:t>
                </a:r>
                <a14:m>
                  <m:oMath xmlns:m="http://schemas.openxmlformats.org/officeDocument/2006/math">
                    <m:r>
                      <m:rPr>
                        <m:sty m:val="p"/>
                      </m:rPr>
                      <a:rPr lang="en-US" altLang="zh-CN" sz="2400" b="0" i="0" smtClean="0">
                        <a:solidFill>
                          <a:schemeClr val="tx1"/>
                        </a:solidFill>
                        <a:effectLst/>
                        <a:latin typeface="Cambria Math" panose="02040503050406030204" pitchFamily="18" charset="0"/>
                      </a:rPr>
                      <m:t>T</m:t>
                    </m:r>
                    <m:r>
                      <a:rPr lang="en-US" altLang="zh-CN" sz="2400" b="0" i="0" smtClean="0">
                        <a:solidFill>
                          <a:schemeClr val="tx1"/>
                        </a:solidFill>
                        <a:effectLst/>
                        <a:latin typeface="Cambria Math" panose="02040503050406030204" pitchFamily="18" charset="0"/>
                      </a:rPr>
                      <m:t>&lt;</m:t>
                    </m:r>
                    <m:sSub>
                      <m:sSubPr>
                        <m:ctrlPr>
                          <a:rPr lang="en-US" altLang="zh-CN" sz="2400" i="1" smtClean="0">
                            <a:solidFill>
                              <a:schemeClr val="tx1"/>
                            </a:solidFill>
                            <a:effectLst/>
                            <a:latin typeface="Cambria Math" panose="02040503050406030204" pitchFamily="18" charset="0"/>
                          </a:rPr>
                        </m:ctrlPr>
                      </m:sSubPr>
                      <m:e>
                        <m:r>
                          <m:rPr>
                            <m:sty m:val="p"/>
                          </m:rPr>
                          <a:rPr lang="en-US" altLang="zh-CN" sz="2400" b="0" i="0" smtClean="0">
                            <a:solidFill>
                              <a:schemeClr val="tx1"/>
                            </a:solidFill>
                            <a:effectLst/>
                            <a:latin typeface="Cambria Math" panose="02040503050406030204" pitchFamily="18" charset="0"/>
                          </a:rPr>
                          <m:t>T</m:t>
                        </m:r>
                      </m:e>
                      <m:sub>
                        <m:r>
                          <m:rPr>
                            <m:sty m:val="p"/>
                          </m:rPr>
                          <a:rPr lang="en-US" altLang="zh-CN" sz="2400" b="0" i="0" smtClean="0">
                            <a:solidFill>
                              <a:schemeClr val="tx1"/>
                            </a:solidFill>
                            <a:effectLst/>
                            <a:latin typeface="Cambria Math" panose="02040503050406030204" pitchFamily="18" charset="0"/>
                          </a:rPr>
                          <m:t>min</m:t>
                        </m:r>
                      </m:sub>
                    </m:sSub>
                  </m:oMath>
                </a14:m>
                <a:r>
                  <a:rPr lang="en-US" altLang="zh-CN" sz="2400" dirty="0">
                    <a:solidFill>
                      <a:schemeClr val="tx1"/>
                    </a:solidFill>
                    <a:effectLst/>
                    <a:latin typeface="+mn-ea"/>
                  </a:rPr>
                  <a:t>,</a:t>
                </a:r>
                <a:r>
                  <a:rPr lang="en-US" altLang="zh-CN" sz="2400" dirty="0">
                    <a:solidFill>
                      <a:schemeClr val="tx1"/>
                    </a:solidFill>
                    <a:latin typeface="+mn-ea"/>
                  </a:rPr>
                  <a:t> meaning the "steady state" is reached. The solution obtained at this point is considered the optimal solution.</a:t>
                </a:r>
                <a:endParaRPr lang="en-US" altLang="zh-CN" sz="2400" dirty="0">
                  <a:solidFill>
                    <a:schemeClr val="tx1"/>
                  </a:solidFill>
                  <a:effectLst/>
                  <a:latin typeface="+mn-ea"/>
                </a:endParaRPr>
              </a:p>
              <a:p>
                <a:pPr marL="342900" indent="-342900">
                  <a:buFont typeface="+mj-lt"/>
                  <a:buAutoNum type="arabicPeriod"/>
                </a:pPr>
                <a:endParaRPr lang="en-US" altLang="zh-CN" sz="2400" dirty="0">
                  <a:solidFill>
                    <a:schemeClr val="tx1"/>
                  </a:solidFill>
                  <a:latin typeface="+mn-ea"/>
                </a:endParaRPr>
              </a:p>
            </p:txBody>
          </p:sp>
        </mc:Choice>
        <mc:Fallback>
          <p:sp>
            <p:nvSpPr>
              <p:cNvPr id="7" name="文本框 6"/>
              <p:cNvSpPr txBox="1">
                <a:spLocks noRot="1" noChangeAspect="1" noMove="1" noResize="1" noEditPoints="1" noAdjustHandles="1" noChangeArrowheads="1" noChangeShapeType="1" noTextEdit="1"/>
              </p:cNvSpPr>
              <p:nvPr/>
            </p:nvSpPr>
            <p:spPr>
              <a:xfrm>
                <a:off x="526473" y="1535764"/>
                <a:ext cx="10630599" cy="4303871"/>
              </a:xfrm>
              <a:prstGeom prst="rect">
                <a:avLst/>
              </a:prstGeom>
              <a:blipFill rotWithShape="1">
                <a:blip r:embed="rId2"/>
                <a:stretch>
                  <a:fillRect l="-60" t="-155" r="-59" b="-8804"/>
                </a:stretch>
              </a:blipFill>
              <a:ln>
                <a:solidFill>
                  <a:schemeClr val="accent5">
                    <a:lumMod val="20000"/>
                    <a:lumOff val="80000"/>
                  </a:schemeClr>
                </a:solidFill>
              </a:ln>
            </p:spPr>
            <p:txBody>
              <a:bodyPr/>
              <a:lstStyle/>
              <a:p>
                <a:r>
                  <a:rPr lang="en-US"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332509" y="415637"/>
            <a:ext cx="8035637" cy="411017"/>
            <a:chOff x="387927" y="452582"/>
            <a:chExt cx="8035637" cy="411017"/>
          </a:xfrm>
        </p:grpSpPr>
        <p:sp>
          <p:nvSpPr>
            <p:cNvPr id="2" name="矩形 1"/>
            <p:cNvSpPr/>
            <p:nvPr/>
          </p:nvSpPr>
          <p:spPr>
            <a:xfrm>
              <a:off x="387927" y="452582"/>
              <a:ext cx="387928" cy="184727"/>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581891" y="544945"/>
              <a:ext cx="512618" cy="318654"/>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5" name="直接连接符 4"/>
            <p:cNvCxnSpPr/>
            <p:nvPr/>
          </p:nvCxnSpPr>
          <p:spPr>
            <a:xfrm>
              <a:off x="951345" y="826655"/>
              <a:ext cx="7472219"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grpSp>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929268" y="277013"/>
            <a:ext cx="2045209" cy="568113"/>
          </a:xfrm>
          <a:prstGeom prst="rect">
            <a:avLst/>
          </a:prstGeom>
        </p:spPr>
      </p:pic>
      <p:sp>
        <p:nvSpPr>
          <p:cNvPr id="9" name="文本框 8"/>
          <p:cNvSpPr txBox="1"/>
          <p:nvPr/>
        </p:nvSpPr>
        <p:spPr>
          <a:xfrm>
            <a:off x="1165161" y="269066"/>
            <a:ext cx="6982143" cy="523220"/>
          </a:xfrm>
          <a:prstGeom prst="rect">
            <a:avLst/>
          </a:prstGeom>
          <a:noFill/>
        </p:spPr>
        <p:txBody>
          <a:bodyPr wrap="square" rtlCol="0">
            <a:spAutoFit/>
          </a:bodyPr>
          <a:lstStyle/>
          <a:p>
            <a:r>
              <a:rPr lang="en-US" altLang="zh-CN" sz="2800" spc="400" dirty="0">
                <a:solidFill>
                  <a:srgbClr val="003F88"/>
                </a:solidFill>
              </a:rPr>
              <a:t>Simulated Annealing Algorithm</a:t>
            </a:r>
            <a:endParaRPr lang="zh-CN" altLang="en-US" sz="2800" spc="400" dirty="0">
              <a:solidFill>
                <a:srgbClr val="003F88"/>
              </a:solidFill>
            </a:endParaRPr>
          </a:p>
        </p:txBody>
      </p:sp>
      <mc:AlternateContent xmlns:mc="http://schemas.openxmlformats.org/markup-compatibility/2006">
        <mc:Choice xmlns:a14="http://schemas.microsoft.com/office/drawing/2010/main" Requires="a14">
          <p:sp>
            <p:nvSpPr>
              <p:cNvPr id="4" name="文本框 3"/>
              <p:cNvSpPr txBox="1"/>
              <p:nvPr/>
            </p:nvSpPr>
            <p:spPr>
              <a:xfrm>
                <a:off x="526473" y="1310353"/>
                <a:ext cx="10976679" cy="4673202"/>
              </a:xfrm>
              <a:prstGeom prst="rect">
                <a:avLst/>
              </a:prstGeom>
              <a:solidFill>
                <a:schemeClr val="accent5">
                  <a:lumMod val="20000"/>
                  <a:lumOff val="80000"/>
                </a:schemeClr>
              </a:solidFill>
            </p:spPr>
            <p:txBody>
              <a:bodyPr wrap="square" rtlCol="0">
                <a:spAutoFit/>
              </a:bodyPr>
              <a:lstStyle/>
              <a:p>
                <a:r>
                  <a:rPr lang="en-US" altLang="zh-CN" sz="2400" b="1" dirty="0">
                    <a:solidFill>
                      <a:schemeClr val="tx1"/>
                    </a:solidFill>
                    <a:effectLst/>
                    <a:latin typeface="+mn-ea"/>
                  </a:rPr>
                  <a:t>Metropolis Criterion</a:t>
                </a:r>
                <a:r>
                  <a:rPr lang="en-US" altLang="zh-CN" sz="2400" b="0" dirty="0">
                    <a:solidFill>
                      <a:schemeClr val="tx1"/>
                    </a:solidFill>
                    <a:effectLst/>
                    <a:latin typeface="+mn-ea"/>
                  </a:rPr>
                  <a:t>:</a:t>
                </a:r>
                <a:br>
                  <a:rPr lang="en-US" altLang="zh-CN" sz="2400" b="0" dirty="0">
                    <a:solidFill>
                      <a:schemeClr val="tx1"/>
                    </a:solidFill>
                    <a:effectLst/>
                    <a:latin typeface="+mn-ea"/>
                  </a:rPr>
                </a:br>
                <a:r>
                  <a:rPr lang="en-US" altLang="zh-CN" sz="2400" b="0" dirty="0">
                    <a:solidFill>
                      <a:schemeClr val="tx1"/>
                    </a:solidFill>
                    <a:effectLst/>
                    <a:latin typeface="+mn-ea"/>
                  </a:rPr>
                  <a:t>It quantifies the probability of accepting a worse solution.</a:t>
                </a:r>
                <a:br>
                  <a:rPr lang="en-US" altLang="zh-CN" sz="2400" b="0" dirty="0">
                    <a:solidFill>
                      <a:schemeClr val="tx1"/>
                    </a:solidFill>
                    <a:effectLst/>
                    <a:latin typeface="+mn-ea"/>
                  </a:rPr>
                </a:br>
                <a:r>
                  <a:rPr lang="en-US" altLang="zh-CN" sz="2400" b="0" dirty="0">
                    <a:solidFill>
                      <a:schemeClr val="tx1"/>
                    </a:solidFill>
                    <a:effectLst/>
                    <a:latin typeface="+mn-ea"/>
                  </a:rPr>
                  <a:t>The possibility </a:t>
                </a:r>
                <a14:m>
                  <m:oMath xmlns:m="http://schemas.openxmlformats.org/officeDocument/2006/math">
                    <m:r>
                      <a:rPr lang="en-US" altLang="zh-CN" sz="2400" b="0" i="1" smtClean="0">
                        <a:solidFill>
                          <a:schemeClr val="tx1"/>
                        </a:solidFill>
                        <a:effectLst/>
                        <a:latin typeface="Cambria Math" panose="02040503050406030204" pitchFamily="18" charset="0"/>
                      </a:rPr>
                      <m:t>𝑃</m:t>
                    </m:r>
                    <m:r>
                      <a:rPr lang="en-US" altLang="zh-CN" sz="2400" b="0" i="1" smtClean="0">
                        <a:solidFill>
                          <a:schemeClr val="tx1"/>
                        </a:solidFill>
                        <a:effectLst/>
                        <a:latin typeface="Cambria Math" panose="02040503050406030204" pitchFamily="18" charset="0"/>
                      </a:rPr>
                      <m:t>=</m:t>
                    </m:r>
                    <m:sSup>
                      <m:sSupPr>
                        <m:ctrlPr>
                          <a:rPr lang="en-US" altLang="zh-CN" sz="2400" b="0" i="1" smtClean="0">
                            <a:solidFill>
                              <a:schemeClr val="tx1"/>
                            </a:solidFill>
                            <a:effectLst/>
                            <a:latin typeface="Cambria Math" panose="02040503050406030204" pitchFamily="18" charset="0"/>
                          </a:rPr>
                        </m:ctrlPr>
                      </m:sSupPr>
                      <m:e>
                        <m:r>
                          <a:rPr lang="en-US" altLang="zh-CN" sz="2400" b="0" i="1" smtClean="0">
                            <a:solidFill>
                              <a:schemeClr val="tx1"/>
                            </a:solidFill>
                            <a:effectLst/>
                            <a:latin typeface="Cambria Math" panose="02040503050406030204" pitchFamily="18" charset="0"/>
                          </a:rPr>
                          <m:t>𝑒</m:t>
                        </m:r>
                      </m:e>
                      <m:sup>
                        <m:f>
                          <m:fPr>
                            <m:ctrlPr>
                              <a:rPr lang="en-US" altLang="zh-CN" sz="2400" b="0" i="1" smtClean="0">
                                <a:solidFill>
                                  <a:schemeClr val="tx1"/>
                                </a:solidFill>
                                <a:effectLst/>
                                <a:latin typeface="Cambria Math" panose="02040503050406030204" pitchFamily="18" charset="0"/>
                              </a:rPr>
                            </m:ctrlPr>
                          </m:fPr>
                          <m:num>
                            <m:r>
                              <a:rPr lang="en-US" altLang="zh-CN" sz="2400" b="0" i="1" smtClean="0">
                                <a:solidFill>
                                  <a:schemeClr val="tx1"/>
                                </a:solidFill>
                                <a:effectLst/>
                                <a:latin typeface="Cambria Math" panose="02040503050406030204" pitchFamily="18" charset="0"/>
                              </a:rPr>
                              <m:t>−</m:t>
                            </m:r>
                            <m:r>
                              <a:rPr lang="en-US" altLang="zh-CN" sz="2400" b="0" i="1" smtClean="0">
                                <a:solidFill>
                                  <a:schemeClr val="tx1"/>
                                </a:solidFill>
                                <a:effectLst/>
                                <a:latin typeface="Cambria Math" panose="02040503050406030204" pitchFamily="18" charset="0"/>
                                <a:ea typeface="Cambria Math" panose="02040503050406030204" pitchFamily="18" charset="0"/>
                              </a:rPr>
                              <m:t>∆</m:t>
                            </m:r>
                            <m:r>
                              <a:rPr lang="en-US" altLang="zh-CN" sz="2400" b="0" i="1" smtClean="0">
                                <a:solidFill>
                                  <a:schemeClr val="tx1"/>
                                </a:solidFill>
                                <a:effectLst/>
                                <a:latin typeface="Cambria Math" panose="02040503050406030204" pitchFamily="18" charset="0"/>
                                <a:ea typeface="Cambria Math" panose="02040503050406030204" pitchFamily="18" charset="0"/>
                              </a:rPr>
                              <m:t>𝐸</m:t>
                            </m:r>
                          </m:num>
                          <m:den>
                            <m:r>
                              <a:rPr lang="en-US" altLang="zh-CN" sz="2400" b="0" i="1" smtClean="0">
                                <a:solidFill>
                                  <a:schemeClr val="tx1"/>
                                </a:solidFill>
                                <a:effectLst/>
                                <a:latin typeface="Cambria Math" panose="02040503050406030204" pitchFamily="18" charset="0"/>
                              </a:rPr>
                              <m:t>𝑇</m:t>
                            </m:r>
                          </m:den>
                        </m:f>
                      </m:sup>
                    </m:sSup>
                    <m:r>
                      <a:rPr lang="en-US" altLang="zh-CN" sz="2400" b="0" i="1" smtClean="0">
                        <a:solidFill>
                          <a:schemeClr val="tx1"/>
                        </a:solidFill>
                        <a:effectLst/>
                        <a:latin typeface="Cambria Math" panose="02040503050406030204" pitchFamily="18" charset="0"/>
                      </a:rPr>
                      <m:t>.</m:t>
                    </m:r>
                  </m:oMath>
                </a14:m>
                <a:br>
                  <a:rPr lang="en-US" altLang="zh-CN" sz="2400" b="0" dirty="0">
                    <a:solidFill>
                      <a:schemeClr val="tx1"/>
                    </a:solidFill>
                    <a:effectLst/>
                    <a:latin typeface="+mn-ea"/>
                  </a:rPr>
                </a:br>
                <a:r>
                  <a:rPr lang="en-US" altLang="zh-CN" sz="2400" b="0" dirty="0">
                    <a:solidFill>
                      <a:schemeClr val="tx1"/>
                    </a:solidFill>
                    <a:effectLst/>
                    <a:latin typeface="+mn-ea"/>
                  </a:rPr>
                  <a:t>When T is high:  </a:t>
                </a:r>
                <a:r>
                  <a:rPr lang="en-US" altLang="zh-CN" sz="2400" dirty="0">
                    <a:solidFill>
                      <a:schemeClr val="tx1"/>
                    </a:solidFill>
                    <a:latin typeface="+mn-ea"/>
                  </a:rPr>
                  <a:t>P is almost 1.</a:t>
                </a:r>
                <a:r>
                  <a:rPr lang="en-US" altLang="zh-CN" sz="2400" b="0" dirty="0">
                    <a:solidFill>
                      <a:schemeClr val="tx1"/>
                    </a:solidFill>
                    <a:effectLst/>
                    <a:latin typeface="+mn-ea"/>
                  </a:rPr>
                  <a:t> The algorithm will accept almost any new solution, even if </a:t>
                </a:r>
                <a:r>
                  <a:rPr lang="en-US" altLang="zh-CN" sz="2400" b="0" dirty="0" err="1">
                    <a:solidFill>
                      <a:schemeClr val="tx1"/>
                    </a:solidFill>
                    <a:effectLst/>
                    <a:latin typeface="+mn-ea"/>
                  </a:rPr>
                  <a:t>if</a:t>
                </a:r>
                <a:r>
                  <a:rPr lang="en-US" altLang="zh-CN" sz="2400" b="0" dirty="0">
                    <a:solidFill>
                      <a:schemeClr val="tx1"/>
                    </a:solidFill>
                    <a:effectLst/>
                    <a:latin typeface="+mn-ea"/>
                  </a:rPr>
                  <a:t> is very pool, equivalent to performing a global random search of the solution space.</a:t>
                </a:r>
                <a:br>
                  <a:rPr lang="en-US" altLang="zh-CN" sz="2400" b="0" dirty="0">
                    <a:solidFill>
                      <a:schemeClr val="tx1"/>
                    </a:solidFill>
                    <a:effectLst/>
                    <a:latin typeface="+mn-ea"/>
                  </a:rPr>
                </a:br>
                <a:r>
                  <a:rPr lang="en-US" altLang="zh-CN" sz="2400" b="0" dirty="0">
                    <a:solidFill>
                      <a:schemeClr val="tx1"/>
                    </a:solidFill>
                    <a:effectLst/>
                    <a:latin typeface="+mn-ea"/>
                  </a:rPr>
                  <a:t>As T gradually decreases: For the same </a:t>
                </a:r>
                <a14:m>
                  <m:oMath xmlns:m="http://schemas.openxmlformats.org/officeDocument/2006/math">
                    <m:r>
                      <a:rPr lang="en-US" altLang="zh-CN" sz="2400" b="0" i="1" smtClean="0">
                        <a:solidFill>
                          <a:schemeClr val="tx1"/>
                        </a:solidFill>
                        <a:effectLst/>
                        <a:latin typeface="Cambria Math" panose="02040503050406030204" pitchFamily="18" charset="0"/>
                        <a:ea typeface="Cambria Math" panose="02040503050406030204" pitchFamily="18" charset="0"/>
                      </a:rPr>
                      <m:t>∆</m:t>
                    </m:r>
                    <m:r>
                      <a:rPr lang="en-US" altLang="zh-CN" sz="2400" b="0" i="1" smtClean="0">
                        <a:solidFill>
                          <a:schemeClr val="tx1"/>
                        </a:solidFill>
                        <a:effectLst/>
                        <a:latin typeface="Cambria Math" panose="02040503050406030204" pitchFamily="18" charset="0"/>
                        <a:ea typeface="Cambria Math" panose="02040503050406030204" pitchFamily="18" charset="0"/>
                      </a:rPr>
                      <m:t>𝐸</m:t>
                    </m:r>
                  </m:oMath>
                </a14:m>
                <a:r>
                  <a:rPr lang="en-US" altLang="zh-CN" sz="2400" b="0" dirty="0">
                    <a:solidFill>
                      <a:schemeClr val="tx1"/>
                    </a:solidFill>
                    <a:effectLst/>
                    <a:latin typeface="+mn-ea"/>
                  </a:rPr>
                  <a:t>, the value of P becomes smaller. The probability of the algorithm accepting a worse solution gradually decreases.</a:t>
                </a:r>
                <a:br>
                  <a:rPr lang="en-US" altLang="zh-CN" sz="2400" b="0" dirty="0">
                    <a:solidFill>
                      <a:schemeClr val="tx1"/>
                    </a:solidFill>
                    <a:effectLst/>
                    <a:latin typeface="+mn-ea"/>
                  </a:rPr>
                </a:br>
                <a:r>
                  <a:rPr lang="en-US" altLang="zh-CN" sz="2400" b="0" dirty="0">
                    <a:solidFill>
                      <a:schemeClr val="tx1"/>
                    </a:solidFill>
                    <a:effectLst/>
                    <a:latin typeface="+mn-ea"/>
                  </a:rPr>
                  <a:t>When T is very low: The value of P becomes very small, meaning the algorithm almost only accepts better solutions. Its behavior converges to that of a local search / greedy algorithm.</a:t>
                </a:r>
                <a:endParaRPr lang="en-US" altLang="zh-CN" sz="2400" b="0" dirty="0">
                  <a:solidFill>
                    <a:schemeClr val="tx1"/>
                  </a:solidFill>
                  <a:effectLst/>
                  <a:latin typeface="+mn-ea"/>
                </a:endParaRPr>
              </a:p>
              <a:p>
                <a:endParaRPr lang="zh-CN" altLang="en-US" sz="2400" dirty="0">
                  <a:solidFill>
                    <a:schemeClr val="tx1"/>
                  </a:solidFill>
                  <a:latin typeface="+mn-ea"/>
                </a:endParaRPr>
              </a:p>
            </p:txBody>
          </p:sp>
        </mc:Choice>
        <mc:Fallback>
          <p:sp>
            <p:nvSpPr>
              <p:cNvPr id="4" name="文本框 3"/>
              <p:cNvSpPr txBox="1">
                <a:spLocks noRot="1" noChangeAspect="1" noMove="1" noResize="1" noEditPoints="1" noAdjustHandles="1" noChangeArrowheads="1" noChangeShapeType="1" noTextEdit="1"/>
              </p:cNvSpPr>
              <p:nvPr/>
            </p:nvSpPr>
            <p:spPr>
              <a:xfrm>
                <a:off x="526473" y="1310353"/>
                <a:ext cx="10976679" cy="4673202"/>
              </a:xfrm>
              <a:prstGeom prst="rect">
                <a:avLst/>
              </a:prstGeom>
              <a:blipFill rotWithShape="1">
                <a:blip r:embed="rId2"/>
                <a:stretch>
                  <a:fillRect l="-1" t="-7" r="1" b="13"/>
                </a:stretch>
              </a:blipFill>
            </p:spPr>
            <p:txBody>
              <a:bodyPr/>
              <a:lstStyle/>
              <a:p>
                <a:r>
                  <a:rPr lang="en-US"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332509" y="415637"/>
            <a:ext cx="8035637" cy="411017"/>
            <a:chOff x="387927" y="452582"/>
            <a:chExt cx="8035637" cy="411017"/>
          </a:xfrm>
        </p:grpSpPr>
        <p:sp>
          <p:nvSpPr>
            <p:cNvPr id="2" name="矩形 1"/>
            <p:cNvSpPr/>
            <p:nvPr/>
          </p:nvSpPr>
          <p:spPr>
            <a:xfrm>
              <a:off x="387927" y="452582"/>
              <a:ext cx="387928" cy="184727"/>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581891" y="544945"/>
              <a:ext cx="512618" cy="318654"/>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5" name="直接连接符 4"/>
            <p:cNvCxnSpPr/>
            <p:nvPr/>
          </p:nvCxnSpPr>
          <p:spPr>
            <a:xfrm>
              <a:off x="951345" y="826655"/>
              <a:ext cx="7472219"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grpSp>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929268" y="277013"/>
            <a:ext cx="2045209" cy="568113"/>
          </a:xfrm>
          <a:prstGeom prst="rect">
            <a:avLst/>
          </a:prstGeom>
        </p:spPr>
      </p:pic>
      <p:sp>
        <p:nvSpPr>
          <p:cNvPr id="9" name="文本框 8"/>
          <p:cNvSpPr txBox="1"/>
          <p:nvPr/>
        </p:nvSpPr>
        <p:spPr>
          <a:xfrm>
            <a:off x="1165161" y="269066"/>
            <a:ext cx="6982143" cy="523220"/>
          </a:xfrm>
          <a:prstGeom prst="rect">
            <a:avLst/>
          </a:prstGeom>
          <a:noFill/>
        </p:spPr>
        <p:txBody>
          <a:bodyPr wrap="square" rtlCol="0">
            <a:spAutoFit/>
          </a:bodyPr>
          <a:lstStyle/>
          <a:p>
            <a:r>
              <a:rPr lang="en-US" altLang="zh-CN" sz="2800" spc="400" dirty="0">
                <a:solidFill>
                  <a:srgbClr val="003F88"/>
                </a:solidFill>
              </a:rPr>
              <a:t>Simulated Annealing Algorithm</a:t>
            </a:r>
            <a:endParaRPr lang="zh-CN" altLang="en-US" sz="2800" spc="400" dirty="0">
              <a:solidFill>
                <a:srgbClr val="003F88"/>
              </a:solidFill>
            </a:endParaRPr>
          </a:p>
        </p:txBody>
      </p:sp>
      <mc:AlternateContent xmlns:mc="http://schemas.openxmlformats.org/markup-compatibility/2006">
        <mc:Choice xmlns:a14="http://schemas.microsoft.com/office/drawing/2010/main" Requires="a14">
          <p:sp>
            <p:nvSpPr>
              <p:cNvPr id="4" name="文本框 3"/>
              <p:cNvSpPr txBox="1"/>
              <p:nvPr/>
            </p:nvSpPr>
            <p:spPr>
              <a:xfrm>
                <a:off x="526473" y="1071421"/>
                <a:ext cx="10956451" cy="4893647"/>
              </a:xfrm>
              <a:prstGeom prst="rect">
                <a:avLst/>
              </a:prstGeom>
              <a:solidFill>
                <a:schemeClr val="accent5">
                  <a:lumMod val="20000"/>
                  <a:lumOff val="80000"/>
                </a:schemeClr>
              </a:solidFill>
            </p:spPr>
            <p:txBody>
              <a:bodyPr wrap="square" rtlCol="0">
                <a:spAutoFit/>
              </a:bodyPr>
              <a:lstStyle/>
              <a:p>
                <a:r>
                  <a:rPr lang="en-US" altLang="zh-CN" sz="2400" dirty="0">
                    <a:solidFill>
                      <a:schemeClr val="tx1"/>
                    </a:solidFill>
                    <a:latin typeface="+mn-ea"/>
                  </a:rPr>
                  <a:t>W</a:t>
                </a:r>
                <a:r>
                  <a:rPr lang="en-US" altLang="zh-CN" sz="2400" b="0" dirty="0">
                    <a:solidFill>
                      <a:schemeClr val="tx1"/>
                    </a:solidFill>
                    <a:effectLst/>
                    <a:latin typeface="+mn-ea"/>
                  </a:rPr>
                  <a:t>e define </a:t>
                </a:r>
                <a14:m>
                  <m:oMath xmlns:m="http://schemas.openxmlformats.org/officeDocument/2006/math">
                    <m:sSub>
                      <m:sSubPr>
                        <m:ctrlPr>
                          <a:rPr lang="en-US" altLang="zh-CN" sz="2400" b="0" i="1" smtClean="0">
                            <a:solidFill>
                              <a:schemeClr val="tx1"/>
                            </a:solidFill>
                            <a:effectLst/>
                            <a:latin typeface="Cambria Math" panose="02040503050406030204" pitchFamily="18" charset="0"/>
                          </a:rPr>
                        </m:ctrlPr>
                      </m:sSubPr>
                      <m:e>
                        <m:r>
                          <m:rPr>
                            <m:sty m:val="p"/>
                          </m:rPr>
                          <a:rPr lang="en-US" altLang="zh-CN" sz="2400" b="0" i="0" smtClean="0">
                            <a:solidFill>
                              <a:schemeClr val="tx1"/>
                            </a:solidFill>
                            <a:effectLst/>
                            <a:latin typeface="Cambria Math" panose="02040503050406030204" pitchFamily="18" charset="0"/>
                          </a:rPr>
                          <m:t>S</m:t>
                        </m:r>
                      </m:e>
                      <m:sub>
                        <m:r>
                          <a:rPr lang="en-US" altLang="zh-CN" sz="2400" b="0" i="0" smtClean="0">
                            <a:solidFill>
                              <a:schemeClr val="tx1"/>
                            </a:solidFill>
                            <a:effectLst/>
                            <a:latin typeface="Cambria Math" panose="02040503050406030204" pitchFamily="18" charset="0"/>
                          </a:rPr>
                          <m:t>1</m:t>
                        </m:r>
                      </m:sub>
                    </m:sSub>
                    <m:r>
                      <a:rPr lang="en-US" altLang="zh-CN" sz="2400" b="0" i="0" smtClean="0">
                        <a:solidFill>
                          <a:schemeClr val="tx1"/>
                        </a:solidFill>
                        <a:effectLst/>
                        <a:latin typeface="Cambria Math" panose="02040503050406030204" pitchFamily="18" charset="0"/>
                      </a:rPr>
                      <m:t>,</m:t>
                    </m:r>
                    <m:sSub>
                      <m:sSubPr>
                        <m:ctrlPr>
                          <a:rPr lang="en-US" altLang="zh-CN" sz="2400" b="0" i="1" smtClean="0">
                            <a:solidFill>
                              <a:schemeClr val="tx1"/>
                            </a:solidFill>
                            <a:effectLst/>
                            <a:latin typeface="Cambria Math" panose="02040503050406030204" pitchFamily="18" charset="0"/>
                          </a:rPr>
                        </m:ctrlPr>
                      </m:sSubPr>
                      <m:e>
                        <m:r>
                          <m:rPr>
                            <m:sty m:val="p"/>
                          </m:rPr>
                          <a:rPr lang="en-US" altLang="zh-CN" sz="2400" b="0" i="0" smtClean="0">
                            <a:solidFill>
                              <a:schemeClr val="tx1"/>
                            </a:solidFill>
                            <a:effectLst/>
                            <a:latin typeface="Cambria Math" panose="02040503050406030204" pitchFamily="18" charset="0"/>
                          </a:rPr>
                          <m:t>S</m:t>
                        </m:r>
                      </m:e>
                      <m:sub>
                        <m:r>
                          <a:rPr lang="en-US" altLang="zh-CN" sz="2400" b="0" i="0" smtClean="0">
                            <a:solidFill>
                              <a:schemeClr val="tx1"/>
                            </a:solidFill>
                            <a:effectLst/>
                            <a:latin typeface="Cambria Math" panose="02040503050406030204" pitchFamily="18" charset="0"/>
                          </a:rPr>
                          <m:t>2</m:t>
                        </m:r>
                      </m:sub>
                    </m:sSub>
                    <m:r>
                      <a:rPr lang="en-US" altLang="zh-CN" sz="2400" b="0" i="0" smtClean="0">
                        <a:solidFill>
                          <a:schemeClr val="tx1"/>
                        </a:solidFill>
                        <a:effectLst/>
                        <a:latin typeface="Cambria Math" panose="02040503050406030204" pitchFamily="18" charset="0"/>
                      </a:rPr>
                      <m:t>,</m:t>
                    </m:r>
                    <m:sSub>
                      <m:sSubPr>
                        <m:ctrlPr>
                          <a:rPr lang="en-US" altLang="zh-CN" sz="2400" b="0" i="1" smtClean="0">
                            <a:solidFill>
                              <a:schemeClr val="tx1"/>
                            </a:solidFill>
                            <a:effectLst/>
                            <a:latin typeface="Cambria Math" panose="02040503050406030204" pitchFamily="18" charset="0"/>
                          </a:rPr>
                        </m:ctrlPr>
                      </m:sSubPr>
                      <m:e>
                        <m:r>
                          <m:rPr>
                            <m:sty m:val="p"/>
                          </m:rPr>
                          <a:rPr lang="en-US" altLang="zh-CN" sz="2400" b="0" i="0" smtClean="0">
                            <a:solidFill>
                              <a:schemeClr val="tx1"/>
                            </a:solidFill>
                            <a:effectLst/>
                            <a:latin typeface="Cambria Math" panose="02040503050406030204" pitchFamily="18" charset="0"/>
                          </a:rPr>
                          <m:t>S</m:t>
                        </m:r>
                      </m:e>
                      <m:sub>
                        <m:r>
                          <a:rPr lang="en-US" altLang="zh-CN" sz="2400" b="0" i="0" smtClean="0">
                            <a:solidFill>
                              <a:schemeClr val="tx1"/>
                            </a:solidFill>
                            <a:effectLst/>
                            <a:latin typeface="Cambria Math" panose="02040503050406030204" pitchFamily="18" charset="0"/>
                          </a:rPr>
                          <m:t>3</m:t>
                        </m:r>
                      </m:sub>
                    </m:sSub>
                  </m:oMath>
                </a14:m>
                <a:r>
                  <a:rPr lang="en-US" altLang="zh-CN" sz="2400" b="0" dirty="0">
                    <a:solidFill>
                      <a:schemeClr val="tx1"/>
                    </a:solidFill>
                    <a:effectLst/>
                    <a:latin typeface="+mn-ea"/>
                  </a:rPr>
                  <a:t> to represent the sum of numbers in the three buckets respectively.</a:t>
                </a:r>
                <a:endParaRPr lang="en-US" altLang="zh-CN" sz="2400" dirty="0">
                  <a:solidFill>
                    <a:schemeClr val="tx1"/>
                  </a:solidFill>
                  <a:latin typeface="+mn-ea"/>
                </a:endParaRPr>
              </a:p>
              <a:p>
                <a:r>
                  <a:rPr lang="en-US" altLang="zh-CN" sz="2400" b="0" dirty="0">
                    <a:solidFill>
                      <a:schemeClr val="tx1"/>
                    </a:solidFill>
                    <a:effectLst/>
                    <a:latin typeface="+mn-ea"/>
                  </a:rPr>
                  <a:t>Here is the setting of our program:</a:t>
                </a:r>
                <a:endParaRPr lang="en-US" altLang="zh-CN" sz="2400" b="0" dirty="0">
                  <a:solidFill>
                    <a:schemeClr val="tx1"/>
                  </a:solidFill>
                  <a:effectLst/>
                  <a:latin typeface="+mn-ea"/>
                </a:endParaRPr>
              </a:p>
              <a:p>
                <a:pPr marL="285750" indent="-285750">
                  <a:buFont typeface="Arial" panose="020B0604020202090204" pitchFamily="34" charset="0"/>
                  <a:buChar char="•"/>
                </a:pPr>
                <a:r>
                  <a:rPr lang="en-US" altLang="zh-CN" sz="2400" b="1" dirty="0">
                    <a:solidFill>
                      <a:schemeClr val="tx1"/>
                    </a:solidFill>
                    <a:effectLst/>
                    <a:latin typeface="+mn-ea"/>
                  </a:rPr>
                  <a:t>Initial solution</a:t>
                </a:r>
                <a:r>
                  <a:rPr lang="en-US" altLang="zh-CN" sz="2400" b="0" dirty="0">
                    <a:solidFill>
                      <a:schemeClr val="tx1"/>
                    </a:solidFill>
                    <a:effectLst/>
                    <a:latin typeface="+mn-ea"/>
                  </a:rPr>
                  <a:t>: randomly assigning all numbers to the three buckets.</a:t>
                </a:r>
                <a:endParaRPr lang="en-US" altLang="zh-CN" sz="2400" b="0" dirty="0">
                  <a:solidFill>
                    <a:schemeClr val="tx1"/>
                  </a:solidFill>
                  <a:effectLst/>
                  <a:latin typeface="+mn-ea"/>
                </a:endParaRPr>
              </a:p>
              <a:p>
                <a:pPr marL="285750" indent="-285750">
                  <a:buFont typeface="Arial" panose="020B0604020202090204" pitchFamily="34" charset="0"/>
                  <a:buChar char="•"/>
                </a:pPr>
                <a:r>
                  <a:rPr lang="en-US" altLang="zh-CN" sz="2400" b="1" dirty="0">
                    <a:solidFill>
                      <a:schemeClr val="tx1"/>
                    </a:solidFill>
                    <a:effectLst/>
                    <a:latin typeface="+mn-ea"/>
                  </a:rPr>
                  <a:t>The solution</a:t>
                </a:r>
                <a:r>
                  <a:rPr lang="en-US" altLang="zh-CN" sz="2400" b="0" dirty="0">
                    <a:solidFill>
                      <a:schemeClr val="tx1"/>
                    </a:solidFill>
                    <a:effectLst/>
                    <a:latin typeface="+mn-ea"/>
                  </a:rPr>
                  <a:t> </a:t>
                </a:r>
                <a14:m>
                  <m:oMath xmlns:m="http://schemas.openxmlformats.org/officeDocument/2006/math">
                    <m:r>
                      <m:rPr>
                        <m:sty m:val="p"/>
                      </m:rPr>
                      <a:rPr lang="en-US" altLang="zh-CN" sz="2400" b="0" i="0" dirty="0" smtClean="0">
                        <a:solidFill>
                          <a:schemeClr val="tx1"/>
                        </a:solidFill>
                        <a:effectLst/>
                        <a:latin typeface="Cambria Math" panose="02040503050406030204" pitchFamily="18" charset="0"/>
                      </a:rPr>
                      <m:t>S</m:t>
                    </m:r>
                    <m:r>
                      <a:rPr lang="en-US" altLang="zh-CN" sz="2400" b="0" i="0" dirty="0" smtClean="0">
                        <a:solidFill>
                          <a:schemeClr val="tx1"/>
                        </a:solidFill>
                        <a:effectLst/>
                        <a:latin typeface="Cambria Math" panose="02040503050406030204" pitchFamily="18" charset="0"/>
                      </a:rPr>
                      <m:t>=</m:t>
                    </m:r>
                    <m:func>
                      <m:funcPr>
                        <m:ctrlPr>
                          <a:rPr lang="en-US" altLang="zh-CN" sz="2400" b="0" i="1" dirty="0" smtClean="0">
                            <a:solidFill>
                              <a:schemeClr val="tx1"/>
                            </a:solidFill>
                            <a:effectLst/>
                            <a:latin typeface="Cambria Math" panose="02040503050406030204" pitchFamily="18" charset="0"/>
                          </a:rPr>
                        </m:ctrlPr>
                      </m:funcPr>
                      <m:fName>
                        <m:r>
                          <m:rPr>
                            <m:sty m:val="p"/>
                          </m:rPr>
                          <a:rPr lang="en-US" altLang="zh-CN" sz="2400" b="0" i="0" dirty="0" smtClean="0">
                            <a:solidFill>
                              <a:schemeClr val="tx1"/>
                            </a:solidFill>
                            <a:effectLst/>
                            <a:latin typeface="Cambria Math" panose="02040503050406030204" pitchFamily="18" charset="0"/>
                          </a:rPr>
                          <m:t>max</m:t>
                        </m:r>
                      </m:fName>
                      <m:e>
                        <m:d>
                          <m:dPr>
                            <m:begChr m:val="{"/>
                            <m:endChr m:val="}"/>
                            <m:ctrlPr>
                              <a:rPr lang="en-US" altLang="zh-CN" sz="2400" b="0" i="1" dirty="0" smtClean="0">
                                <a:solidFill>
                                  <a:schemeClr val="tx1"/>
                                </a:solidFill>
                                <a:effectLst/>
                                <a:latin typeface="Cambria Math" panose="02040503050406030204" pitchFamily="18" charset="0"/>
                              </a:rPr>
                            </m:ctrlPr>
                          </m:dPr>
                          <m:e>
                            <m:r>
                              <m:rPr>
                                <m:sty m:val="p"/>
                              </m:rPr>
                              <a:rPr lang="en-US" altLang="zh-CN" sz="2400" b="0" i="0" dirty="0" smtClean="0">
                                <a:solidFill>
                                  <a:schemeClr val="tx1"/>
                                </a:solidFill>
                                <a:effectLst/>
                                <a:latin typeface="Cambria Math" panose="02040503050406030204" pitchFamily="18" charset="0"/>
                              </a:rPr>
                              <m:t>S</m:t>
                            </m:r>
                            <m:r>
                              <a:rPr lang="en-US" altLang="zh-CN" sz="2400" b="0" i="0" dirty="0" smtClean="0">
                                <a:solidFill>
                                  <a:schemeClr val="tx1"/>
                                </a:solidFill>
                                <a:effectLst/>
                                <a:latin typeface="Cambria Math" panose="02040503050406030204" pitchFamily="18" charset="0"/>
                              </a:rPr>
                              <m:t>1</m:t>
                            </m:r>
                            <m:r>
                              <a:rPr lang="en-US" altLang="zh-CN" sz="2400" b="0" i="0" dirty="0" smtClean="0">
                                <a:solidFill>
                                  <a:schemeClr val="tx1"/>
                                </a:solidFill>
                                <a:effectLst/>
                                <a:latin typeface="Cambria Math" panose="02040503050406030204" pitchFamily="18" charset="0"/>
                              </a:rPr>
                              <m:t>, </m:t>
                            </m:r>
                            <m:r>
                              <m:rPr>
                                <m:sty m:val="p"/>
                              </m:rPr>
                              <a:rPr lang="en-US" altLang="zh-CN" sz="2400" b="0" i="0" dirty="0" smtClean="0">
                                <a:solidFill>
                                  <a:schemeClr val="tx1"/>
                                </a:solidFill>
                                <a:effectLst/>
                                <a:latin typeface="Cambria Math" panose="02040503050406030204" pitchFamily="18" charset="0"/>
                              </a:rPr>
                              <m:t>S</m:t>
                            </m:r>
                            <m:r>
                              <a:rPr lang="en-US" altLang="zh-CN" sz="2400" b="0" i="0" dirty="0" smtClean="0">
                                <a:solidFill>
                                  <a:schemeClr val="tx1"/>
                                </a:solidFill>
                                <a:effectLst/>
                                <a:latin typeface="Cambria Math" panose="02040503050406030204" pitchFamily="18" charset="0"/>
                              </a:rPr>
                              <m:t>2</m:t>
                            </m:r>
                            <m:r>
                              <a:rPr lang="en-US" altLang="zh-CN" sz="2400" b="0" i="0" dirty="0" smtClean="0">
                                <a:solidFill>
                                  <a:schemeClr val="tx1"/>
                                </a:solidFill>
                                <a:effectLst/>
                                <a:latin typeface="Cambria Math" panose="02040503050406030204" pitchFamily="18" charset="0"/>
                              </a:rPr>
                              <m:t>, </m:t>
                            </m:r>
                            <m:r>
                              <m:rPr>
                                <m:sty m:val="p"/>
                              </m:rPr>
                              <a:rPr lang="en-US" altLang="zh-CN" sz="2400" b="0" i="0" dirty="0" smtClean="0">
                                <a:solidFill>
                                  <a:schemeClr val="tx1"/>
                                </a:solidFill>
                                <a:effectLst/>
                                <a:latin typeface="Cambria Math" panose="02040503050406030204" pitchFamily="18" charset="0"/>
                              </a:rPr>
                              <m:t>S</m:t>
                            </m:r>
                            <m:r>
                              <a:rPr lang="en-US" altLang="zh-CN" sz="2400" b="0" i="0" dirty="0" smtClean="0">
                                <a:solidFill>
                                  <a:schemeClr val="tx1"/>
                                </a:solidFill>
                                <a:effectLst/>
                                <a:latin typeface="Cambria Math" panose="02040503050406030204" pitchFamily="18" charset="0"/>
                              </a:rPr>
                              <m:t>3</m:t>
                            </m:r>
                          </m:e>
                        </m:d>
                      </m:e>
                    </m:func>
                    <m:r>
                      <a:rPr lang="en-US" altLang="zh-CN" sz="2400" b="0" i="0" dirty="0" smtClean="0">
                        <a:solidFill>
                          <a:schemeClr val="tx1"/>
                        </a:solidFill>
                        <a:effectLst/>
                        <a:latin typeface="Cambria Math" panose="02040503050406030204" pitchFamily="18" charset="0"/>
                      </a:rPr>
                      <m:t>−</m:t>
                    </m:r>
                    <m:r>
                      <m:rPr>
                        <m:sty m:val="p"/>
                      </m:rPr>
                      <a:rPr lang="en-US" altLang="zh-CN" sz="2400" b="0" i="0" dirty="0" smtClean="0">
                        <a:solidFill>
                          <a:schemeClr val="tx1"/>
                        </a:solidFill>
                        <a:effectLst/>
                        <a:latin typeface="Cambria Math" panose="02040503050406030204" pitchFamily="18" charset="0"/>
                      </a:rPr>
                      <m:t>min</m:t>
                    </m:r>
                    <m:r>
                      <a:rPr lang="en-US" altLang="zh-CN" sz="2400" b="0" i="0" dirty="0" smtClean="0">
                        <a:solidFill>
                          <a:schemeClr val="tx1"/>
                        </a:solidFill>
                        <a:effectLst/>
                        <a:latin typeface="Cambria Math" panose="02040503050406030204" pitchFamily="18" charset="0"/>
                      </a:rPr>
                      <m:t>{</m:t>
                    </m:r>
                    <m:r>
                      <m:rPr>
                        <m:sty m:val="p"/>
                      </m:rPr>
                      <a:rPr lang="en-US" altLang="zh-CN" sz="2400" b="0" i="0" dirty="0" smtClean="0">
                        <a:solidFill>
                          <a:schemeClr val="tx1"/>
                        </a:solidFill>
                        <a:effectLst/>
                        <a:latin typeface="Cambria Math" panose="02040503050406030204" pitchFamily="18" charset="0"/>
                      </a:rPr>
                      <m:t>S</m:t>
                    </m:r>
                    <m:r>
                      <a:rPr lang="en-US" altLang="zh-CN" sz="2400" b="0" i="0" dirty="0" smtClean="0">
                        <a:solidFill>
                          <a:schemeClr val="tx1"/>
                        </a:solidFill>
                        <a:effectLst/>
                        <a:latin typeface="Cambria Math" panose="02040503050406030204" pitchFamily="18" charset="0"/>
                      </a:rPr>
                      <m:t>1</m:t>
                    </m:r>
                    <m:r>
                      <a:rPr lang="en-US" altLang="zh-CN" sz="2400" b="0" i="0" dirty="0" smtClean="0">
                        <a:solidFill>
                          <a:schemeClr val="tx1"/>
                        </a:solidFill>
                        <a:effectLst/>
                        <a:latin typeface="Cambria Math" panose="02040503050406030204" pitchFamily="18" charset="0"/>
                      </a:rPr>
                      <m:t>, </m:t>
                    </m:r>
                    <m:r>
                      <m:rPr>
                        <m:sty m:val="p"/>
                      </m:rPr>
                      <a:rPr lang="en-US" altLang="zh-CN" sz="2400" b="0" i="0" dirty="0" smtClean="0">
                        <a:solidFill>
                          <a:schemeClr val="tx1"/>
                        </a:solidFill>
                        <a:effectLst/>
                        <a:latin typeface="Cambria Math" panose="02040503050406030204" pitchFamily="18" charset="0"/>
                      </a:rPr>
                      <m:t>S</m:t>
                    </m:r>
                    <m:r>
                      <a:rPr lang="en-US" altLang="zh-CN" sz="2400" b="0" i="0" dirty="0" smtClean="0">
                        <a:solidFill>
                          <a:schemeClr val="tx1"/>
                        </a:solidFill>
                        <a:effectLst/>
                        <a:latin typeface="Cambria Math" panose="02040503050406030204" pitchFamily="18" charset="0"/>
                      </a:rPr>
                      <m:t>2</m:t>
                    </m:r>
                    <m:r>
                      <a:rPr lang="en-US" altLang="zh-CN" sz="2400" b="0" i="0" dirty="0" smtClean="0">
                        <a:solidFill>
                          <a:schemeClr val="tx1"/>
                        </a:solidFill>
                        <a:effectLst/>
                        <a:latin typeface="Cambria Math" panose="02040503050406030204" pitchFamily="18" charset="0"/>
                      </a:rPr>
                      <m:t>, </m:t>
                    </m:r>
                    <m:r>
                      <m:rPr>
                        <m:sty m:val="p"/>
                      </m:rPr>
                      <a:rPr lang="en-US" altLang="zh-CN" sz="2400" b="0" i="0" dirty="0" smtClean="0">
                        <a:solidFill>
                          <a:schemeClr val="tx1"/>
                        </a:solidFill>
                        <a:effectLst/>
                        <a:latin typeface="Cambria Math" panose="02040503050406030204" pitchFamily="18" charset="0"/>
                      </a:rPr>
                      <m:t>S</m:t>
                    </m:r>
                    <m:r>
                      <a:rPr lang="en-US" altLang="zh-CN" sz="2400" b="0" i="0" dirty="0" smtClean="0">
                        <a:solidFill>
                          <a:schemeClr val="tx1"/>
                        </a:solidFill>
                        <a:effectLst/>
                        <a:latin typeface="Cambria Math" panose="02040503050406030204" pitchFamily="18" charset="0"/>
                      </a:rPr>
                      <m:t>3</m:t>
                    </m:r>
                    <m:r>
                      <a:rPr lang="en-US" altLang="zh-CN" sz="2400" b="0" i="0" dirty="0" smtClean="0">
                        <a:solidFill>
                          <a:schemeClr val="tx1"/>
                        </a:solidFill>
                        <a:effectLst/>
                        <a:latin typeface="Cambria Math" panose="02040503050406030204" pitchFamily="18" charset="0"/>
                      </a:rPr>
                      <m:t>}</m:t>
                    </m:r>
                  </m:oMath>
                </a14:m>
                <a:endParaRPr lang="en-US" altLang="zh-CN" sz="2400" b="0" dirty="0">
                  <a:solidFill>
                    <a:schemeClr val="tx1"/>
                  </a:solidFill>
                  <a:effectLst/>
                  <a:latin typeface="+mn-ea"/>
                </a:endParaRPr>
              </a:p>
              <a:p>
                <a:pPr marL="285750" indent="-285750">
                  <a:buFont typeface="Arial" panose="020B0604020202090204" pitchFamily="34" charset="0"/>
                  <a:buChar char="•"/>
                </a:pPr>
                <a:r>
                  <a:rPr lang="en-US" altLang="zh-CN" sz="2400" b="1" dirty="0">
                    <a:solidFill>
                      <a:schemeClr val="tx1"/>
                    </a:solidFill>
                    <a:latin typeface="+mn-ea"/>
                  </a:rPr>
                  <a:t>T</a:t>
                </a:r>
                <a:r>
                  <a:rPr lang="en-US" altLang="zh-CN" sz="2400" b="1" dirty="0">
                    <a:solidFill>
                      <a:schemeClr val="tx1"/>
                    </a:solidFill>
                    <a:effectLst/>
                    <a:latin typeface="+mn-ea"/>
                  </a:rPr>
                  <a:t>he optimization goal</a:t>
                </a:r>
                <a:r>
                  <a:rPr lang="en-US" altLang="zh-CN" sz="2400" dirty="0">
                    <a:latin typeface="+mn-ea"/>
                  </a:rPr>
                  <a:t>: Minimize the</a:t>
                </a:r>
                <a:r>
                  <a:rPr lang="en-US" altLang="zh-CN" sz="2400" b="0" dirty="0">
                    <a:solidFill>
                      <a:schemeClr val="tx1"/>
                    </a:solidFill>
                    <a:effectLst/>
                    <a:latin typeface="+mn-ea"/>
                  </a:rPr>
                  <a:t> value of </a:t>
                </a:r>
                <a14:m>
                  <m:oMath xmlns:m="http://schemas.openxmlformats.org/officeDocument/2006/math">
                    <m:r>
                      <m:rPr>
                        <m:sty m:val="p"/>
                      </m:rPr>
                      <a:rPr lang="en-US" altLang="zh-CN" sz="2400" b="0" i="0" dirty="0" smtClean="0">
                        <a:solidFill>
                          <a:schemeClr val="tx1"/>
                        </a:solidFill>
                        <a:effectLst/>
                        <a:latin typeface="Cambria Math" panose="02040503050406030204" pitchFamily="18" charset="0"/>
                      </a:rPr>
                      <m:t>S</m:t>
                    </m:r>
                  </m:oMath>
                </a14:m>
                <a:r>
                  <a:rPr lang="en-US" altLang="zh-CN" sz="2400" b="0" dirty="0">
                    <a:solidFill>
                      <a:schemeClr val="tx1"/>
                    </a:solidFill>
                    <a:effectLst/>
                    <a:latin typeface="+mn-ea"/>
                  </a:rPr>
                  <a:t>.</a:t>
                </a:r>
                <a:endParaRPr lang="en-US" altLang="zh-CN" sz="2400" b="0" dirty="0">
                  <a:solidFill>
                    <a:schemeClr val="tx1"/>
                  </a:solidFill>
                  <a:effectLst/>
                  <a:latin typeface="+mn-ea"/>
                </a:endParaRPr>
              </a:p>
              <a:p>
                <a:pPr marL="285750" indent="-285750">
                  <a:buFont typeface="Arial" panose="020B0604020202090204" pitchFamily="34" charset="0"/>
                  <a:buChar char="•"/>
                </a:pPr>
                <a:r>
                  <a:rPr lang="en-US" altLang="zh-CN" sz="2400" b="1" dirty="0">
                    <a:solidFill>
                      <a:schemeClr val="tx1"/>
                    </a:solidFill>
                    <a:effectLst/>
                    <a:latin typeface="+mn-ea"/>
                  </a:rPr>
                  <a:t>The perturbation method</a:t>
                </a:r>
                <a:r>
                  <a:rPr lang="en-US" altLang="zh-CN" sz="2400" dirty="0">
                    <a:latin typeface="+mn-ea"/>
                  </a:rPr>
                  <a:t>: M</a:t>
                </a:r>
                <a:r>
                  <a:rPr lang="en-US" altLang="zh-CN" sz="2400" b="0" dirty="0">
                    <a:solidFill>
                      <a:schemeClr val="tx1"/>
                    </a:solidFill>
                    <a:effectLst/>
                    <a:latin typeface="+mn-ea"/>
                  </a:rPr>
                  <a:t>oving a number from one bucket to another(50%) or swapping two numbers that are in different buckets(50%).</a:t>
                </a:r>
                <a:endParaRPr lang="en-US" altLang="zh-CN" sz="2400" dirty="0">
                  <a:solidFill>
                    <a:schemeClr val="tx1"/>
                  </a:solidFill>
                  <a:latin typeface="+mn-ea"/>
                </a:endParaRPr>
              </a:p>
              <a:p>
                <a:r>
                  <a:rPr lang="en-US" altLang="zh-CN" sz="2400" b="0" dirty="0">
                    <a:solidFill>
                      <a:schemeClr val="tx1"/>
                    </a:solidFill>
                    <a:effectLst/>
                    <a:latin typeface="+mn-ea"/>
                  </a:rPr>
                  <a:t>If </a:t>
                </a:r>
                <a14:m>
                  <m:oMath xmlns:m="http://schemas.openxmlformats.org/officeDocument/2006/math">
                    <m:r>
                      <m:rPr>
                        <m:sty m:val="p"/>
                      </m:rPr>
                      <a:rPr lang="en-US" altLang="zh-CN" sz="2400" b="0" i="0" dirty="0" smtClean="0">
                        <a:solidFill>
                          <a:schemeClr val="tx1"/>
                        </a:solidFill>
                        <a:effectLst/>
                        <a:latin typeface="Cambria Math" panose="02040503050406030204" pitchFamily="18" charset="0"/>
                      </a:rPr>
                      <m:t>S</m:t>
                    </m:r>
                  </m:oMath>
                </a14:m>
                <a:r>
                  <a:rPr lang="en-US" altLang="zh-CN" sz="2400" b="0" dirty="0">
                    <a:solidFill>
                      <a:schemeClr val="tx1"/>
                    </a:solidFill>
                    <a:effectLst/>
                    <a:latin typeface="+mn-ea"/>
                  </a:rPr>
                  <a:t> does not reach 0 upon termination, we conclude that the original problem has no solution; if </a:t>
                </a:r>
                <a14:m>
                  <m:oMath xmlns:m="http://schemas.openxmlformats.org/officeDocument/2006/math">
                    <m:r>
                      <m:rPr>
                        <m:sty m:val="p"/>
                      </m:rPr>
                      <a:rPr lang="en-US" altLang="zh-CN" sz="2400" b="0" i="0" dirty="0" smtClean="0">
                        <a:solidFill>
                          <a:schemeClr val="tx1"/>
                        </a:solidFill>
                        <a:effectLst/>
                        <a:latin typeface="Cambria Math" panose="02040503050406030204" pitchFamily="18" charset="0"/>
                      </a:rPr>
                      <m:t>S</m:t>
                    </m:r>
                  </m:oMath>
                </a14:m>
                <a:r>
                  <a:rPr lang="en-US" altLang="zh-CN" sz="2400" b="0" dirty="0">
                    <a:solidFill>
                      <a:schemeClr val="tx1"/>
                    </a:solidFill>
                    <a:effectLst/>
                    <a:latin typeface="+mn-ea"/>
                  </a:rPr>
                  <a:t> becomes 0 during the runtime, it indicates a solution exists and we have found one, which we then output.</a:t>
                </a:r>
                <a:endParaRPr lang="en-US" altLang="zh-CN" sz="2400" b="0" dirty="0">
                  <a:solidFill>
                    <a:schemeClr val="tx1"/>
                  </a:solidFill>
                  <a:effectLst/>
                  <a:latin typeface="+mn-ea"/>
                </a:endParaRPr>
              </a:p>
              <a:p>
                <a:endParaRPr lang="en-US" altLang="zh-CN" sz="2400" b="0" dirty="0">
                  <a:solidFill>
                    <a:schemeClr val="tx1"/>
                  </a:solidFill>
                  <a:effectLst/>
                  <a:latin typeface="+mn-ea"/>
                </a:endParaRPr>
              </a:p>
              <a:p>
                <a:endParaRPr lang="en-US" altLang="zh-CN" sz="2400" b="0" dirty="0">
                  <a:solidFill>
                    <a:schemeClr val="tx1"/>
                  </a:solidFill>
                  <a:effectLst/>
                  <a:latin typeface="+mn-ea"/>
                </a:endParaRPr>
              </a:p>
            </p:txBody>
          </p:sp>
        </mc:Choice>
        <mc:Fallback>
          <p:sp>
            <p:nvSpPr>
              <p:cNvPr id="4" name="文本框 3"/>
              <p:cNvSpPr txBox="1">
                <a:spLocks noRot="1" noChangeAspect="1" noMove="1" noResize="1" noEditPoints="1" noAdjustHandles="1" noChangeArrowheads="1" noChangeShapeType="1" noTextEdit="1"/>
              </p:cNvSpPr>
              <p:nvPr/>
            </p:nvSpPr>
            <p:spPr>
              <a:xfrm>
                <a:off x="526473" y="1071421"/>
                <a:ext cx="10956451" cy="4893647"/>
              </a:xfrm>
              <a:prstGeom prst="rect">
                <a:avLst/>
              </a:prstGeom>
              <a:blipFill rotWithShape="1">
                <a:blip r:embed="rId2"/>
                <a:stretch>
                  <a:fillRect l="-1" t="-4" r="2" b="-4518"/>
                </a:stretch>
              </a:blipFill>
            </p:spPr>
            <p:txBody>
              <a:bodyPr/>
              <a:lstStyle/>
              <a:p>
                <a:r>
                  <a:rPr lang="en-US"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332509" y="415637"/>
            <a:ext cx="8035637" cy="411017"/>
            <a:chOff x="387927" y="452582"/>
            <a:chExt cx="8035637" cy="411017"/>
          </a:xfrm>
        </p:grpSpPr>
        <p:sp>
          <p:nvSpPr>
            <p:cNvPr id="2" name="矩形 1"/>
            <p:cNvSpPr/>
            <p:nvPr/>
          </p:nvSpPr>
          <p:spPr>
            <a:xfrm>
              <a:off x="387927" y="452582"/>
              <a:ext cx="387928" cy="184727"/>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581891" y="544945"/>
              <a:ext cx="512618" cy="318654"/>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5" name="直接连接符 4"/>
            <p:cNvCxnSpPr/>
            <p:nvPr/>
          </p:nvCxnSpPr>
          <p:spPr>
            <a:xfrm>
              <a:off x="951345" y="826655"/>
              <a:ext cx="7472219"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grpSp>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929268" y="277013"/>
            <a:ext cx="2045209" cy="568113"/>
          </a:xfrm>
          <a:prstGeom prst="rect">
            <a:avLst/>
          </a:prstGeom>
        </p:spPr>
      </p:pic>
      <p:sp>
        <p:nvSpPr>
          <p:cNvPr id="9" name="文本框 8"/>
          <p:cNvSpPr txBox="1"/>
          <p:nvPr/>
        </p:nvSpPr>
        <p:spPr>
          <a:xfrm>
            <a:off x="1165161" y="269066"/>
            <a:ext cx="6982143" cy="523220"/>
          </a:xfrm>
          <a:prstGeom prst="rect">
            <a:avLst/>
          </a:prstGeom>
          <a:noFill/>
        </p:spPr>
        <p:txBody>
          <a:bodyPr wrap="square" rtlCol="0">
            <a:spAutoFit/>
          </a:bodyPr>
          <a:lstStyle/>
          <a:p>
            <a:r>
              <a:rPr lang="en-US" altLang="zh-CN" sz="2800" spc="400" dirty="0">
                <a:solidFill>
                  <a:srgbClr val="003F88"/>
                </a:solidFill>
              </a:rPr>
              <a:t>Simulated Annealing Algorithm</a:t>
            </a:r>
            <a:endParaRPr lang="zh-CN" altLang="en-US" sz="2800" spc="400" dirty="0">
              <a:solidFill>
                <a:srgbClr val="003F88"/>
              </a:solidFill>
            </a:endParaRPr>
          </a:p>
        </p:txBody>
      </p:sp>
      <mc:AlternateContent xmlns:mc="http://schemas.openxmlformats.org/markup-compatibility/2006">
        <mc:Choice xmlns:a14="http://schemas.microsoft.com/office/drawing/2010/main" Requires="a14">
          <p:sp>
            <p:nvSpPr>
              <p:cNvPr id="7" name="文本框 6"/>
              <p:cNvSpPr txBox="1"/>
              <p:nvPr/>
            </p:nvSpPr>
            <p:spPr>
              <a:xfrm>
                <a:off x="526473" y="1123771"/>
                <a:ext cx="11254040" cy="4152547"/>
              </a:xfrm>
              <a:prstGeom prst="rect">
                <a:avLst/>
              </a:prstGeom>
              <a:solidFill>
                <a:schemeClr val="accent5">
                  <a:lumMod val="20000"/>
                  <a:lumOff val="80000"/>
                </a:schemeClr>
              </a:solidFill>
            </p:spPr>
            <p:txBody>
              <a:bodyPr wrap="square" rtlCol="0">
                <a:spAutoFit/>
              </a:bodyPr>
              <a:lstStyle/>
              <a:p>
                <a:r>
                  <a:rPr lang="en-US" altLang="zh-CN" sz="2400" dirty="0"/>
                  <a:t>Time complexity in one step:</a:t>
                </a:r>
                <a:endParaRPr lang="en-US" altLang="zh-CN" sz="2400" dirty="0"/>
              </a:p>
              <a:p>
                <a:pPr marL="342900" indent="-342900">
                  <a:buAutoNum type="arabicPeriod"/>
                </a:pPr>
                <a:r>
                  <a:rPr lang="en-US" altLang="zh-CN" sz="2400" dirty="0">
                    <a:solidFill>
                      <a:schemeClr val="tx1"/>
                    </a:solidFill>
                    <a:effectLst/>
                    <a:latin typeface="+mn-ea"/>
                  </a:rPr>
                  <a:t>Perturbation(</a:t>
                </a:r>
                <a:r>
                  <a:rPr lang="en-US" altLang="zh-CN" sz="2400" dirty="0"/>
                  <a:t>Moving/</a:t>
                </a:r>
                <a:r>
                  <a:rPr lang="en-US" altLang="zh-CN" sz="2400" dirty="0" err="1"/>
                  <a:t>Swaping</a:t>
                </a:r>
                <a:r>
                  <a:rPr lang="en-US" altLang="zh-CN" sz="2400" dirty="0"/>
                  <a:t>): O(1)</a:t>
                </a:r>
                <a:endParaRPr lang="en-US" altLang="zh-CN" sz="2400" dirty="0"/>
              </a:p>
              <a:p>
                <a:pPr marL="342900" indent="-342900">
                  <a:buAutoNum type="arabicPeriod"/>
                </a:pPr>
                <a:r>
                  <a:rPr lang="en-US" altLang="zh-CN" sz="2400" dirty="0"/>
                  <a:t>Calculate </a:t>
                </a:r>
                <a14:m>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𝑆</m:t>
                        </m:r>
                      </m:e>
                      <m:sub>
                        <m:r>
                          <a:rPr lang="en-US" altLang="zh-CN" sz="2400" b="0" i="1" smtClean="0">
                            <a:latin typeface="Cambria Math" panose="02040503050406030204" pitchFamily="18" charset="0"/>
                          </a:rPr>
                          <m:t>𝑛𝑒𝑤</m:t>
                        </m:r>
                      </m:sub>
                    </m:sSub>
                  </m:oMath>
                </a14:m>
                <a:r>
                  <a:rPr lang="en-US" altLang="zh-CN" sz="2400" dirty="0"/>
                  <a:t>: O(1)</a:t>
                </a:r>
                <a:endParaRPr lang="en-US" altLang="zh-CN" sz="2400" dirty="0"/>
              </a:p>
              <a:p>
                <a:r>
                  <a:rPr lang="en-US" altLang="zh-CN" sz="2400" dirty="0"/>
                  <a:t>The time complexity of SA Algorithm: </a:t>
                </a:r>
                <a14:m>
                  <m:oMath xmlns:m="http://schemas.openxmlformats.org/officeDocument/2006/math">
                    <m:r>
                      <a:rPr lang="en-US" altLang="zh-CN" sz="2400" b="0" i="1" smtClean="0">
                        <a:latin typeface="Cambria Math" panose="02040503050406030204" pitchFamily="18" charset="0"/>
                      </a:rPr>
                      <m:t>𝑂</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𝑘</m:t>
                        </m:r>
                      </m:e>
                    </m:d>
                    <m:r>
                      <a:rPr lang="en-US" altLang="zh-CN" sz="2400" b="0" i="1" smtClean="0">
                        <a:latin typeface="Cambria Math" panose="02040503050406030204" pitchFamily="18" charset="0"/>
                      </a:rPr>
                      <m:t>,  </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𝑇</m:t>
                        </m:r>
                      </m:e>
                      <m:sub>
                        <m:r>
                          <a:rPr lang="en-US" altLang="zh-CN" sz="2400" b="0" i="1" smtClean="0">
                            <a:latin typeface="Cambria Math" panose="02040503050406030204" pitchFamily="18" charset="0"/>
                          </a:rPr>
                          <m:t>0</m:t>
                        </m:r>
                      </m:sub>
                    </m:sSub>
                    <m:sSup>
                      <m:sSupPr>
                        <m:ctrlPr>
                          <a:rPr lang="en-US" altLang="zh-CN" sz="2400" b="0" i="1" smtClean="0">
                            <a:latin typeface="Cambria Math" panose="02040503050406030204" pitchFamily="18" charset="0"/>
                          </a:rPr>
                        </m:ctrlPr>
                      </m:sSupPr>
                      <m:e>
                        <m:r>
                          <a:rPr lang="en-US" altLang="zh-CN" sz="2400" i="1">
                            <a:latin typeface="Cambria Math" panose="02040503050406030204" pitchFamily="18" charset="0"/>
                            <a:ea typeface="Cambria Math" panose="02040503050406030204" pitchFamily="18" charset="0"/>
                          </a:rPr>
                          <m:t>𝛼</m:t>
                        </m:r>
                      </m:e>
                      <m:sup>
                        <m:r>
                          <a:rPr lang="en-US" altLang="zh-CN" sz="2400" b="0" i="1" smtClean="0">
                            <a:latin typeface="Cambria Math" panose="02040503050406030204" pitchFamily="18" charset="0"/>
                          </a:rPr>
                          <m:t>𝑘</m:t>
                        </m:r>
                      </m:sup>
                    </m:sSup>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𝑇</m:t>
                        </m:r>
                      </m:e>
                      <m:sub>
                        <m:r>
                          <a:rPr lang="en-US" altLang="zh-CN" sz="2400" b="0" i="1" smtClean="0">
                            <a:latin typeface="Cambria Math" panose="02040503050406030204" pitchFamily="18" charset="0"/>
                          </a:rPr>
                          <m:t>𝑚𝑖𝑛</m:t>
                        </m:r>
                      </m:sub>
                    </m:sSub>
                  </m:oMath>
                </a14:m>
                <a:r>
                  <a:rPr lang="en-US" altLang="zh-CN" sz="2400" dirty="0"/>
                  <a:t>,that means </a:t>
                </a:r>
                <a14:m>
                  <m:oMath xmlns:m="http://schemas.openxmlformats.org/officeDocument/2006/math">
                    <m:r>
                      <a:rPr lang="en-US" altLang="zh-CN" sz="2400" b="0" i="1" smtClean="0">
                        <a:latin typeface="Cambria Math" panose="02040503050406030204" pitchFamily="18" charset="0"/>
                      </a:rPr>
                      <m:t>𝑂</m:t>
                    </m:r>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func>
                          <m:funcPr>
                            <m:ctrlPr>
                              <a:rPr lang="en-US" altLang="zh-CN" sz="2400" b="0" i="1" smtClean="0">
                                <a:latin typeface="Cambria Math" panose="02040503050406030204" pitchFamily="18" charset="0"/>
                              </a:rPr>
                            </m:ctrlPr>
                          </m:funcPr>
                          <m:fName>
                            <m:r>
                              <m:rPr>
                                <m:sty m:val="p"/>
                              </m:rPr>
                              <a:rPr lang="en-US" altLang="zh-CN" sz="2400" b="0" i="0" smtClean="0">
                                <a:latin typeface="Cambria Math" panose="02040503050406030204" pitchFamily="18" charset="0"/>
                              </a:rPr>
                              <m:t>log</m:t>
                            </m:r>
                          </m:fName>
                          <m:e>
                            <m:f>
                              <m:fPr>
                                <m:type m:val="skw"/>
                                <m:ctrlPr>
                                  <a:rPr lang="en-US" altLang="zh-CN" sz="2400" b="0" i="1" smtClean="0">
                                    <a:latin typeface="Cambria Math" panose="02040503050406030204" pitchFamily="18" charset="0"/>
                                  </a:rPr>
                                </m:ctrlPr>
                              </m:fPr>
                              <m:num>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𝑇</m:t>
                                    </m:r>
                                  </m:e>
                                  <m:sub>
                                    <m:r>
                                      <a:rPr lang="en-US" altLang="zh-CN" sz="2400" b="0" i="1" smtClean="0">
                                        <a:latin typeface="Cambria Math" panose="02040503050406030204" pitchFamily="18" charset="0"/>
                                      </a:rPr>
                                      <m:t>𝑚𝑖𝑛</m:t>
                                    </m:r>
                                  </m:sub>
                                </m:sSub>
                              </m:num>
                              <m:den>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𝑇</m:t>
                                    </m:r>
                                  </m:e>
                                  <m:sub>
                                    <m:r>
                                      <a:rPr lang="en-US" altLang="zh-CN" sz="2400" b="0" i="1" smtClean="0">
                                        <a:latin typeface="Cambria Math" panose="02040503050406030204" pitchFamily="18" charset="0"/>
                                      </a:rPr>
                                      <m:t>0</m:t>
                                    </m:r>
                                  </m:sub>
                                </m:sSub>
                              </m:den>
                            </m:f>
                          </m:e>
                        </m:func>
                      </m:num>
                      <m:den>
                        <m:func>
                          <m:funcPr>
                            <m:ctrlPr>
                              <a:rPr lang="en-US" altLang="zh-CN" sz="2400" b="0" i="1" smtClean="0">
                                <a:latin typeface="Cambria Math" panose="02040503050406030204" pitchFamily="18" charset="0"/>
                              </a:rPr>
                            </m:ctrlPr>
                          </m:funcPr>
                          <m:fName>
                            <m:r>
                              <m:rPr>
                                <m:sty m:val="p"/>
                              </m:rPr>
                              <a:rPr lang="en-US" altLang="zh-CN" sz="2400" b="0" i="0" smtClean="0">
                                <a:latin typeface="Cambria Math" panose="02040503050406030204" pitchFamily="18" charset="0"/>
                              </a:rPr>
                              <m:t>log</m:t>
                            </m:r>
                          </m:fName>
                          <m:e>
                            <m:r>
                              <a:rPr lang="zh-CN" altLang="en-US" sz="2400" b="0" i="1" smtClean="0">
                                <a:latin typeface="Cambria Math" panose="02040503050406030204" pitchFamily="18" charset="0"/>
                              </a:rPr>
                              <m:t>𝛼</m:t>
                            </m:r>
                          </m:e>
                        </m:func>
                      </m:den>
                    </m:f>
                    <m:r>
                      <a:rPr lang="en-US" altLang="zh-CN" sz="2400" b="0" i="1" smtClean="0">
                        <a:latin typeface="Cambria Math" panose="02040503050406030204" pitchFamily="18" charset="0"/>
                      </a:rPr>
                      <m:t>)</m:t>
                    </m:r>
                  </m:oMath>
                </a14:m>
                <a:endParaRPr lang="en-US" altLang="zh-CN" sz="2400" dirty="0"/>
              </a:p>
              <a:p>
                <a:r>
                  <a:rPr lang="en-US" altLang="zh-CN" sz="2400" b="0" i="0" dirty="0">
                    <a:solidFill>
                      <a:srgbClr val="0F1115"/>
                    </a:solidFill>
                    <a:effectLst/>
                    <a:latin typeface="+mn-ea"/>
                  </a:rPr>
                  <a:t>Preprocessing time complexity is </a:t>
                </a:r>
                <a14:m>
                  <m:oMath xmlns:m="http://schemas.openxmlformats.org/officeDocument/2006/math">
                    <m:r>
                      <a:rPr lang="en-US" altLang="zh-CN" sz="2400" b="0" i="1" dirty="0" smtClean="0">
                        <a:solidFill>
                          <a:srgbClr val="0F1115"/>
                        </a:solidFill>
                        <a:effectLst/>
                        <a:latin typeface="Cambria Math" panose="02040503050406030204" pitchFamily="18" charset="0"/>
                      </a:rPr>
                      <m:t>𝑂</m:t>
                    </m:r>
                    <m:r>
                      <a:rPr lang="en-US" altLang="zh-CN" sz="2400" b="0" i="1" dirty="0" smtClean="0">
                        <a:solidFill>
                          <a:srgbClr val="0F1115"/>
                        </a:solidFill>
                        <a:effectLst/>
                        <a:latin typeface="Cambria Math" panose="02040503050406030204" pitchFamily="18" charset="0"/>
                      </a:rPr>
                      <m:t>(</m:t>
                    </m:r>
                    <m:r>
                      <a:rPr lang="en-US" altLang="zh-CN" sz="2400" b="0" i="1" dirty="0" smtClean="0">
                        <a:solidFill>
                          <a:srgbClr val="0F1115"/>
                        </a:solidFill>
                        <a:effectLst/>
                        <a:latin typeface="Cambria Math" panose="02040503050406030204" pitchFamily="18" charset="0"/>
                      </a:rPr>
                      <m:t>𝑛</m:t>
                    </m:r>
                    <m:r>
                      <a:rPr lang="en-US" altLang="zh-CN" sz="2400" b="0" i="1" dirty="0" smtClean="0">
                        <a:solidFill>
                          <a:srgbClr val="0F1115"/>
                        </a:solidFill>
                        <a:effectLst/>
                        <a:latin typeface="Cambria Math" panose="02040503050406030204" pitchFamily="18" charset="0"/>
                      </a:rPr>
                      <m:t>).</m:t>
                    </m:r>
                  </m:oMath>
                </a14:m>
                <a:endParaRPr lang="en-US" altLang="zh-CN" sz="2400" dirty="0">
                  <a:latin typeface="+mn-ea"/>
                </a:endParaRPr>
              </a:p>
              <a:p>
                <a:r>
                  <a:rPr lang="en-US" altLang="zh-CN" sz="2400" b="1" dirty="0"/>
                  <a:t>Total</a:t>
                </a:r>
                <a:r>
                  <a:rPr lang="zh-CN" altLang="en-US" sz="2400" b="1" dirty="0"/>
                  <a:t> </a:t>
                </a:r>
                <a:r>
                  <a:rPr lang="en-US" altLang="zh-CN" sz="2400" b="1" dirty="0"/>
                  <a:t>time</a:t>
                </a:r>
                <a:r>
                  <a:rPr lang="zh-CN" altLang="en-US" sz="2400" b="1" dirty="0"/>
                  <a:t> </a:t>
                </a:r>
                <a:r>
                  <a:rPr lang="en-US" altLang="zh-CN" sz="2400" b="1" dirty="0"/>
                  <a:t>complexity</a:t>
                </a:r>
                <a:r>
                  <a:rPr lang="en-US" altLang="zh-CN" sz="2400" dirty="0"/>
                  <a:t>:</a:t>
                </a:r>
                <a:r>
                  <a:rPr lang="zh-CN" altLang="en-US" sz="2400" dirty="0"/>
                  <a:t> </a:t>
                </a:r>
                <a14:m>
                  <m:oMath xmlns:m="http://schemas.openxmlformats.org/officeDocument/2006/math">
                    <m:r>
                      <a:rPr lang="en-US" altLang="zh-CN" sz="2400" b="0" i="1" dirty="0" smtClean="0">
                        <a:solidFill>
                          <a:srgbClr val="0F1115"/>
                        </a:solidFill>
                        <a:effectLst/>
                        <a:latin typeface="Cambria Math" panose="02040503050406030204" pitchFamily="18" charset="0"/>
                      </a:rPr>
                      <m:t>𝑂</m:t>
                    </m:r>
                    <m:r>
                      <a:rPr lang="en-US" altLang="zh-CN" sz="2400" b="0" i="1" dirty="0" smtClean="0">
                        <a:solidFill>
                          <a:srgbClr val="0F1115"/>
                        </a:solidFill>
                        <a:effectLst/>
                        <a:latin typeface="Cambria Math" panose="02040503050406030204" pitchFamily="18" charset="0"/>
                      </a:rPr>
                      <m:t>(</m:t>
                    </m:r>
                    <m:r>
                      <a:rPr lang="en-US" altLang="zh-CN" sz="2400" b="0" i="1" dirty="0" smtClean="0">
                        <a:solidFill>
                          <a:srgbClr val="0F1115"/>
                        </a:solidFill>
                        <a:effectLst/>
                        <a:latin typeface="Cambria Math" panose="02040503050406030204" pitchFamily="18" charset="0"/>
                      </a:rPr>
                      <m:t>𝑛</m:t>
                    </m:r>
                    <m:r>
                      <a:rPr lang="en-US" altLang="zh-CN" sz="2400" b="0" i="1" dirty="0" smtClean="0">
                        <a:solidFill>
                          <a:srgbClr val="0F1115"/>
                        </a:solidFill>
                        <a:effectLst/>
                        <a:latin typeface="Cambria Math" panose="02040503050406030204" pitchFamily="18" charset="0"/>
                      </a:rPr>
                      <m:t>+</m:t>
                    </m:r>
                    <m:f>
                      <m:fPr>
                        <m:ctrlPr>
                          <a:rPr lang="en-US" altLang="zh-CN" sz="2400" i="1">
                            <a:latin typeface="Cambria Math" panose="02040503050406030204" pitchFamily="18" charset="0"/>
                          </a:rPr>
                        </m:ctrlPr>
                      </m:fPr>
                      <m:num>
                        <m:func>
                          <m:funcPr>
                            <m:ctrlPr>
                              <a:rPr lang="en-US" altLang="zh-CN" sz="2400" i="1">
                                <a:latin typeface="Cambria Math" panose="02040503050406030204" pitchFamily="18" charset="0"/>
                              </a:rPr>
                            </m:ctrlPr>
                          </m:funcPr>
                          <m:fName>
                            <m:r>
                              <m:rPr>
                                <m:sty m:val="p"/>
                              </m:rPr>
                              <a:rPr lang="en-US" altLang="zh-CN" sz="2400">
                                <a:latin typeface="Cambria Math" panose="02040503050406030204" pitchFamily="18" charset="0"/>
                              </a:rPr>
                              <m:t>log</m:t>
                            </m:r>
                          </m:fName>
                          <m:e>
                            <m:f>
                              <m:fPr>
                                <m:type m:val="skw"/>
                                <m:ctrlPr>
                                  <a:rPr lang="en-US" altLang="zh-CN" sz="2400" i="1">
                                    <a:latin typeface="Cambria Math" panose="02040503050406030204" pitchFamily="18" charset="0"/>
                                  </a:rPr>
                                </m:ctrlPr>
                              </m:fPr>
                              <m:num>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𝑇</m:t>
                                    </m:r>
                                  </m:e>
                                  <m:sub>
                                    <m:r>
                                      <a:rPr lang="en-US" altLang="zh-CN" sz="2400" i="1">
                                        <a:latin typeface="Cambria Math" panose="02040503050406030204" pitchFamily="18" charset="0"/>
                                      </a:rPr>
                                      <m:t>𝑚𝑖𝑛</m:t>
                                    </m:r>
                                  </m:sub>
                                </m:sSub>
                              </m:num>
                              <m:den>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𝑇</m:t>
                                    </m:r>
                                  </m:e>
                                  <m:sub>
                                    <m:r>
                                      <a:rPr lang="en-US" altLang="zh-CN" sz="2400" i="1">
                                        <a:latin typeface="Cambria Math" panose="02040503050406030204" pitchFamily="18" charset="0"/>
                                      </a:rPr>
                                      <m:t>0</m:t>
                                    </m:r>
                                  </m:sub>
                                </m:sSub>
                              </m:den>
                            </m:f>
                          </m:e>
                        </m:func>
                      </m:num>
                      <m:den>
                        <m:func>
                          <m:funcPr>
                            <m:ctrlPr>
                              <a:rPr lang="en-US" altLang="zh-CN" sz="2400" i="1">
                                <a:latin typeface="Cambria Math" panose="02040503050406030204" pitchFamily="18" charset="0"/>
                              </a:rPr>
                            </m:ctrlPr>
                          </m:funcPr>
                          <m:fName>
                            <m:r>
                              <m:rPr>
                                <m:sty m:val="p"/>
                              </m:rPr>
                              <a:rPr lang="en-US" altLang="zh-CN" sz="2400">
                                <a:latin typeface="Cambria Math" panose="02040503050406030204" pitchFamily="18" charset="0"/>
                              </a:rPr>
                              <m:t>log</m:t>
                            </m:r>
                          </m:fName>
                          <m:e>
                            <m:r>
                              <a:rPr lang="zh-CN" altLang="en-US" sz="2400" i="1">
                                <a:latin typeface="Cambria Math" panose="02040503050406030204" pitchFamily="18" charset="0"/>
                              </a:rPr>
                              <m:t>𝛼</m:t>
                            </m:r>
                          </m:e>
                        </m:func>
                      </m:den>
                    </m:f>
                    <m:r>
                      <a:rPr lang="en-US" altLang="zh-CN" sz="2400" b="0" i="1" dirty="0" smtClean="0">
                        <a:solidFill>
                          <a:srgbClr val="0F1115"/>
                        </a:solidFill>
                        <a:effectLst/>
                        <a:latin typeface="Cambria Math" panose="02040503050406030204" pitchFamily="18" charset="0"/>
                      </a:rPr>
                      <m:t>).</m:t>
                    </m:r>
                  </m:oMath>
                </a14:m>
                <a:endParaRPr lang="en-US" altLang="zh-CN" sz="2400" dirty="0">
                  <a:latin typeface="+mn-ea"/>
                </a:endParaRPr>
              </a:p>
              <a:p>
                <a:endParaRPr lang="en-US" altLang="zh-CN" sz="2400" dirty="0">
                  <a:latin typeface="+mn-ea"/>
                </a:endParaRPr>
              </a:p>
              <a:p>
                <a:r>
                  <a:rPr lang="en-US" altLang="zh-CN" sz="2400" dirty="0">
                    <a:latin typeface="+mn-ea"/>
                  </a:rPr>
                  <a:t>Noted that the parameter values have an important impact on the solution. We need to adjust the parameters to ensure the accuracy of the solution.</a:t>
                </a:r>
                <a:endParaRPr lang="en-US" altLang="zh-CN" sz="2400" dirty="0">
                  <a:latin typeface="+mn-ea"/>
                </a:endParaRPr>
              </a:p>
            </p:txBody>
          </p:sp>
        </mc:Choice>
        <mc:Fallback>
          <p:sp>
            <p:nvSpPr>
              <p:cNvPr id="7" name="文本框 6"/>
              <p:cNvSpPr txBox="1">
                <a:spLocks noRot="1" noChangeAspect="1" noMove="1" noResize="1" noEditPoints="1" noAdjustHandles="1" noChangeArrowheads="1" noChangeShapeType="1" noTextEdit="1"/>
              </p:cNvSpPr>
              <p:nvPr/>
            </p:nvSpPr>
            <p:spPr>
              <a:xfrm>
                <a:off x="526473" y="1123771"/>
                <a:ext cx="11254040" cy="4152547"/>
              </a:xfrm>
              <a:prstGeom prst="rect">
                <a:avLst/>
              </a:prstGeom>
              <a:blipFill rotWithShape="1">
                <a:blip r:embed="rId2"/>
                <a:stretch>
                  <a:fillRect l="-1" t="-11" r="6" b="-2383"/>
                </a:stretch>
              </a:blipFill>
            </p:spPr>
            <p:txBody>
              <a:bodyPr/>
              <a:lstStyle/>
              <a:p>
                <a:r>
                  <a:rPr lang="en-US"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7"/>
          <p:cNvSpPr txBox="1"/>
          <p:nvPr/>
        </p:nvSpPr>
        <p:spPr>
          <a:xfrm>
            <a:off x="4388748" y="901132"/>
            <a:ext cx="3414500" cy="1909677"/>
          </a:xfrm>
          <a:prstGeom prst="rect">
            <a:avLst/>
          </a:prstGeom>
        </p:spPr>
        <p:txBody>
          <a:bodyPr vert="horz" lIns="91440" tIns="45720" rIns="91440" bIns="45720" rtlCol="0" anchor="ctr">
            <a:noAutofit/>
          </a:bodyPr>
          <a:lstStyle>
            <a:defPPr>
              <a:defRPr lang="zh-CN"/>
            </a:defPPr>
            <a:lvl1pPr marL="0" indent="0" algn="dist" defTabSz="914400" rtl="0" eaLnBrk="1" latinLnBrk="0" hangingPunct="1">
              <a:buNone/>
              <a:defRPr sz="25000" kern="1200">
                <a:solidFill>
                  <a:schemeClr val="bg1">
                    <a:lumMod val="85000"/>
                  </a:schemeClr>
                </a:solidFill>
                <a:latin typeface="Impact" panose="020B080603090205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8800" dirty="0">
                <a:solidFill>
                  <a:srgbClr val="0070C0"/>
                </a:solidFill>
              </a:rPr>
              <a:t>0  4</a:t>
            </a:r>
            <a:endParaRPr lang="zh-CN" altLang="en-US" sz="8800" dirty="0">
              <a:solidFill>
                <a:srgbClr val="0070C0"/>
              </a:solidFill>
            </a:endParaRPr>
          </a:p>
        </p:txBody>
      </p:sp>
      <p:sp>
        <p:nvSpPr>
          <p:cNvPr id="5" name="矩形 4"/>
          <p:cNvSpPr/>
          <p:nvPr/>
        </p:nvSpPr>
        <p:spPr>
          <a:xfrm>
            <a:off x="2729345" y="4551218"/>
            <a:ext cx="6954705" cy="83128"/>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占位符 9"/>
          <p:cNvSpPr txBox="1"/>
          <p:nvPr/>
        </p:nvSpPr>
        <p:spPr>
          <a:xfrm>
            <a:off x="2414153" y="3116837"/>
            <a:ext cx="7585087" cy="822325"/>
          </a:xfrm>
          <a:prstGeom prst="rect">
            <a:avLst/>
          </a:prstGeom>
        </p:spPr>
        <p:txBody>
          <a:bodyPr vert="horz" lIns="91440" tIns="45720" rIns="91440" bIns="45720" rtlCol="0" anchor="ctr">
            <a:noAutofit/>
          </a:bodyPr>
          <a:lstStyle>
            <a:defPPr>
              <a:defRPr lang="zh-CN"/>
            </a:defPPr>
            <a:lvl1pPr marL="0" indent="0" algn="dist" defTabSz="914400" rtl="0" eaLnBrk="1" latinLnBrk="0" hangingPunct="1">
              <a:buNone/>
              <a:defRPr sz="8000" b="1" kern="1200">
                <a:solidFill>
                  <a:srgbClr val="00206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4800" spc="400" dirty="0">
                <a:solidFill>
                  <a:srgbClr val="003F88"/>
                </a:solidFill>
              </a:rPr>
              <a:t>Test of Algorithm</a:t>
            </a:r>
            <a:endParaRPr lang="zh-CN" altLang="en-US" sz="4800" spc="400" dirty="0">
              <a:solidFill>
                <a:srgbClr val="003F88"/>
              </a:solidFill>
            </a:endParaRPr>
          </a:p>
        </p:txBody>
      </p:sp>
      <p:sp>
        <p:nvSpPr>
          <p:cNvPr id="7" name="矩形: 圆角 6"/>
          <p:cNvSpPr/>
          <p:nvPr/>
        </p:nvSpPr>
        <p:spPr>
          <a:xfrm>
            <a:off x="216692" y="242887"/>
            <a:ext cx="11758613" cy="6415088"/>
          </a:xfrm>
          <a:prstGeom prst="roundRect">
            <a:avLst>
              <a:gd name="adj" fmla="val 4863"/>
            </a:avLst>
          </a:prstGeom>
          <a:noFill/>
          <a:ln w="28575">
            <a:solidFill>
              <a:srgbClr val="003F88"/>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332509" y="415637"/>
            <a:ext cx="8035637" cy="411017"/>
            <a:chOff x="387927" y="452582"/>
            <a:chExt cx="8035637" cy="411017"/>
          </a:xfrm>
        </p:grpSpPr>
        <p:sp>
          <p:nvSpPr>
            <p:cNvPr id="2" name="矩形 1"/>
            <p:cNvSpPr/>
            <p:nvPr/>
          </p:nvSpPr>
          <p:spPr>
            <a:xfrm>
              <a:off x="387927" y="452582"/>
              <a:ext cx="387928" cy="184727"/>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581891" y="544945"/>
              <a:ext cx="512618" cy="318654"/>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5" name="直接连接符 4"/>
            <p:cNvCxnSpPr/>
            <p:nvPr/>
          </p:nvCxnSpPr>
          <p:spPr>
            <a:xfrm>
              <a:off x="951345" y="826655"/>
              <a:ext cx="7472219"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grpSp>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929268" y="277013"/>
            <a:ext cx="2045209" cy="568113"/>
          </a:xfrm>
          <a:prstGeom prst="rect">
            <a:avLst/>
          </a:prstGeom>
        </p:spPr>
      </p:pic>
      <p:sp>
        <p:nvSpPr>
          <p:cNvPr id="9" name="文本框 8"/>
          <p:cNvSpPr txBox="1"/>
          <p:nvPr/>
        </p:nvSpPr>
        <p:spPr>
          <a:xfrm>
            <a:off x="1165161" y="269066"/>
            <a:ext cx="4930839" cy="523220"/>
          </a:xfrm>
          <a:prstGeom prst="rect">
            <a:avLst/>
          </a:prstGeom>
          <a:noFill/>
        </p:spPr>
        <p:txBody>
          <a:bodyPr wrap="square" rtlCol="0">
            <a:spAutoFit/>
          </a:bodyPr>
          <a:lstStyle/>
          <a:p>
            <a:r>
              <a:rPr lang="en-US" altLang="zh-CN" sz="2800" spc="400" dirty="0">
                <a:solidFill>
                  <a:srgbClr val="003F88"/>
                </a:solidFill>
              </a:rPr>
              <a:t>Test of Algorithm</a:t>
            </a:r>
            <a:endParaRPr lang="zh-CN" altLang="en-US" sz="2800" spc="400" dirty="0">
              <a:solidFill>
                <a:srgbClr val="003F88"/>
              </a:solidFill>
            </a:endParaRPr>
          </a:p>
        </p:txBody>
      </p:sp>
      <p:sp>
        <p:nvSpPr>
          <p:cNvPr id="10" name="文本框 9"/>
          <p:cNvSpPr txBox="1"/>
          <p:nvPr/>
        </p:nvSpPr>
        <p:spPr>
          <a:xfrm>
            <a:off x="526473" y="3395375"/>
            <a:ext cx="10872455" cy="3046988"/>
          </a:xfrm>
          <a:prstGeom prst="rect">
            <a:avLst/>
          </a:prstGeom>
          <a:solidFill>
            <a:schemeClr val="accent5">
              <a:lumMod val="20000"/>
              <a:lumOff val="80000"/>
            </a:schemeClr>
          </a:solidFill>
        </p:spPr>
        <p:txBody>
          <a:bodyPr wrap="square">
            <a:spAutoFit/>
          </a:bodyPr>
          <a:lstStyle/>
          <a:p>
            <a:pPr algn="l"/>
            <a:r>
              <a:rPr lang="en-US" altLang="zh-CN" sz="2400" b="0" i="0" dirty="0">
                <a:solidFill>
                  <a:srgbClr val="0F1115"/>
                </a:solidFill>
                <a:effectLst/>
                <a:latin typeface="+mn-ea"/>
              </a:rPr>
              <a:t>For the DP algorithm, we constructed three sets of test data. The first set maintains </a:t>
            </a:r>
            <a:r>
              <a:rPr lang="en-US" altLang="zh-CN" sz="2400" b="1" i="0" dirty="0">
                <a:solidFill>
                  <a:srgbClr val="0F1115"/>
                </a:solidFill>
                <a:effectLst/>
                <a:latin typeface="+mn-ea"/>
              </a:rPr>
              <a:t>a fixed n while progressively increasing the sum</a:t>
            </a:r>
            <a:r>
              <a:rPr lang="en-US" altLang="zh-CN" sz="2400" b="0" i="0" dirty="0">
                <a:solidFill>
                  <a:srgbClr val="0F1115"/>
                </a:solidFill>
                <a:effectLst/>
                <a:latin typeface="+mn-ea"/>
              </a:rPr>
              <a:t>, used to observe the time growth trend of the DP algorithm as the state space expands with the increasing total sum. The second set </a:t>
            </a:r>
            <a:r>
              <a:rPr lang="en-US" altLang="zh-CN" sz="2400" b="1" i="0" dirty="0">
                <a:solidFill>
                  <a:srgbClr val="0F1115"/>
                </a:solidFill>
                <a:effectLst/>
                <a:latin typeface="+mn-ea"/>
              </a:rPr>
              <a:t>keeps the sum fixed but gradually increases n</a:t>
            </a:r>
            <a:r>
              <a:rPr lang="en-US" altLang="zh-CN" sz="2400" b="0" i="0" dirty="0">
                <a:solidFill>
                  <a:srgbClr val="0F1115"/>
                </a:solidFill>
                <a:effectLst/>
                <a:latin typeface="+mn-ea"/>
              </a:rPr>
              <a:t>, in order to analyze the sensitivity of DP to input size. The third set simultaneously and continuously </a:t>
            </a:r>
            <a:r>
              <a:rPr lang="en-US" altLang="zh-CN" sz="2400" b="1" i="0" dirty="0">
                <a:solidFill>
                  <a:srgbClr val="0F1115"/>
                </a:solidFill>
                <a:effectLst/>
                <a:latin typeface="+mn-ea"/>
              </a:rPr>
              <a:t>increases both n and the sum</a:t>
            </a:r>
            <a:r>
              <a:rPr lang="en-US" altLang="zh-CN" sz="2400" b="0" i="0" dirty="0">
                <a:solidFill>
                  <a:srgbClr val="0F1115"/>
                </a:solidFill>
                <a:effectLst/>
                <a:latin typeface="+mn-ea"/>
              </a:rPr>
              <a:t>, aimed at evaluating the computable range of DP under large-scale data and performing fitting analysis on its empirical time complexity.</a:t>
            </a:r>
            <a:endParaRPr lang="en-US" altLang="zh-CN" sz="2400" b="0" i="0" dirty="0">
              <a:solidFill>
                <a:srgbClr val="0F1115"/>
              </a:solidFill>
              <a:effectLst/>
              <a:latin typeface="+mn-ea"/>
            </a:endParaRPr>
          </a:p>
        </p:txBody>
      </p:sp>
      <p:sp>
        <p:nvSpPr>
          <p:cNvPr id="15" name="文本框 14"/>
          <p:cNvSpPr txBox="1"/>
          <p:nvPr/>
        </p:nvSpPr>
        <p:spPr>
          <a:xfrm>
            <a:off x="526473" y="963165"/>
            <a:ext cx="10810311" cy="2308324"/>
          </a:xfrm>
          <a:prstGeom prst="rect">
            <a:avLst/>
          </a:prstGeom>
          <a:solidFill>
            <a:schemeClr val="accent5">
              <a:lumMod val="20000"/>
              <a:lumOff val="80000"/>
            </a:schemeClr>
          </a:solidFill>
        </p:spPr>
        <p:txBody>
          <a:bodyPr wrap="square">
            <a:spAutoFit/>
          </a:bodyPr>
          <a:lstStyle/>
          <a:p>
            <a:pPr algn="l"/>
            <a:r>
              <a:rPr lang="en-US" altLang="zh-CN" sz="2400" b="0" i="0" dirty="0">
                <a:solidFill>
                  <a:srgbClr val="0F1115"/>
                </a:solidFill>
                <a:effectLst/>
                <a:latin typeface="+mn-ea"/>
              </a:rPr>
              <a:t>For the DFS component, we designed two types of test data: one category consists of inputs with </a:t>
            </a:r>
            <a:r>
              <a:rPr lang="en-US" altLang="zh-CN" sz="2400" b="1" i="0" dirty="0">
                <a:solidFill>
                  <a:srgbClr val="0F1115"/>
                </a:solidFill>
                <a:effectLst/>
                <a:latin typeface="+mn-ea"/>
              </a:rPr>
              <a:t>small n but large sum</a:t>
            </a:r>
            <a:r>
              <a:rPr lang="en-US" altLang="zh-CN" sz="2400" b="0" i="0" dirty="0">
                <a:solidFill>
                  <a:srgbClr val="0F1115"/>
                </a:solidFill>
                <a:effectLst/>
                <a:latin typeface="+mn-ea"/>
              </a:rPr>
              <a:t>, aimed at examining the effectiveness of the pruning strategy under extreme conditions; the other category comprises typical inputs where both </a:t>
            </a:r>
            <a:r>
              <a:rPr lang="en-US" altLang="zh-CN" sz="2400" b="1" i="0" dirty="0">
                <a:solidFill>
                  <a:srgbClr val="0F1115"/>
                </a:solidFill>
                <a:effectLst/>
                <a:latin typeface="+mn-ea"/>
              </a:rPr>
              <a:t>n and sum are relatively small</a:t>
            </a:r>
            <a:r>
              <a:rPr lang="en-US" altLang="zh-CN" sz="2400" b="0" i="0" dirty="0">
                <a:solidFill>
                  <a:srgbClr val="0F1115"/>
                </a:solidFill>
                <a:effectLst/>
                <a:latin typeface="+mn-ea"/>
              </a:rPr>
              <a:t>, used for benchmarking the runtime performance of DFS under conventional scales.</a:t>
            </a:r>
            <a:endParaRPr lang="en-US" altLang="zh-CN" sz="2400" b="0" i="0" dirty="0">
              <a:solidFill>
                <a:srgbClr val="0F1115"/>
              </a:solidFill>
              <a:effectLst/>
              <a:latin typeface="+mn-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332509" y="415637"/>
            <a:ext cx="8035637" cy="411017"/>
            <a:chOff x="387927" y="452582"/>
            <a:chExt cx="8035637" cy="411017"/>
          </a:xfrm>
        </p:grpSpPr>
        <p:sp>
          <p:nvSpPr>
            <p:cNvPr id="2" name="矩形 1"/>
            <p:cNvSpPr/>
            <p:nvPr/>
          </p:nvSpPr>
          <p:spPr>
            <a:xfrm>
              <a:off x="387927" y="452582"/>
              <a:ext cx="387928" cy="184727"/>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581891" y="544945"/>
              <a:ext cx="512618" cy="318654"/>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5" name="直接连接符 4"/>
            <p:cNvCxnSpPr/>
            <p:nvPr/>
          </p:nvCxnSpPr>
          <p:spPr>
            <a:xfrm>
              <a:off x="951345" y="826655"/>
              <a:ext cx="7472219"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grpSp>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929268" y="277013"/>
            <a:ext cx="2045209" cy="568113"/>
          </a:xfrm>
          <a:prstGeom prst="rect">
            <a:avLst/>
          </a:prstGeom>
        </p:spPr>
      </p:pic>
      <p:sp>
        <p:nvSpPr>
          <p:cNvPr id="9" name="文本框 8"/>
          <p:cNvSpPr txBox="1"/>
          <p:nvPr/>
        </p:nvSpPr>
        <p:spPr>
          <a:xfrm>
            <a:off x="1165161" y="269066"/>
            <a:ext cx="4930839" cy="523220"/>
          </a:xfrm>
          <a:prstGeom prst="rect">
            <a:avLst/>
          </a:prstGeom>
          <a:noFill/>
        </p:spPr>
        <p:txBody>
          <a:bodyPr wrap="square" rtlCol="0">
            <a:spAutoFit/>
          </a:bodyPr>
          <a:lstStyle/>
          <a:p>
            <a:r>
              <a:rPr lang="en-US" altLang="zh-CN" sz="2800" spc="400" dirty="0">
                <a:solidFill>
                  <a:srgbClr val="003F88"/>
                </a:solidFill>
              </a:rPr>
              <a:t>Test of DFS</a:t>
            </a:r>
            <a:endParaRPr lang="zh-CN" altLang="en-US" sz="2800" spc="400" dirty="0">
              <a:solidFill>
                <a:srgbClr val="003F88"/>
              </a:solidFill>
            </a:endParaRPr>
          </a:p>
        </p:txBody>
      </p:sp>
      <p:sp>
        <p:nvSpPr>
          <p:cNvPr id="7" name="文本框 6"/>
          <p:cNvSpPr txBox="1"/>
          <p:nvPr/>
        </p:nvSpPr>
        <p:spPr>
          <a:xfrm>
            <a:off x="526472" y="919017"/>
            <a:ext cx="11369605" cy="1569660"/>
          </a:xfrm>
          <a:prstGeom prst="rect">
            <a:avLst/>
          </a:prstGeom>
          <a:solidFill>
            <a:schemeClr val="accent5">
              <a:lumMod val="20000"/>
              <a:lumOff val="80000"/>
            </a:schemeClr>
          </a:solidFill>
        </p:spPr>
        <p:txBody>
          <a:bodyPr wrap="square">
            <a:spAutoFit/>
          </a:bodyPr>
          <a:lstStyle/>
          <a:p>
            <a:r>
              <a:rPr lang="en-US" altLang="zh-CN" sz="2400" i="0" dirty="0">
                <a:solidFill>
                  <a:srgbClr val="0F1115"/>
                </a:solidFill>
                <a:effectLst/>
                <a:latin typeface="+mn-ea"/>
              </a:rPr>
              <a:t>Under conditions of </a:t>
            </a:r>
            <a:r>
              <a:rPr lang="en-US" altLang="zh-CN" sz="2400" b="1" i="0" dirty="0">
                <a:solidFill>
                  <a:srgbClr val="0F1115"/>
                </a:solidFill>
                <a:effectLst/>
                <a:latin typeface="+mn-ea"/>
              </a:rPr>
              <a:t>small n and large sum values</a:t>
            </a:r>
            <a:r>
              <a:rPr lang="en-US" altLang="zh-CN" sz="2400" i="0" dirty="0">
                <a:solidFill>
                  <a:srgbClr val="0F1115"/>
                </a:solidFill>
                <a:effectLst/>
                <a:latin typeface="+mn-ea"/>
              </a:rPr>
              <a:t>, the DFS algorithm experiences a significant increase in computation time when its pruning strategy becomes ineffective. In some cases, the calculation time even becomes excessively long.</a:t>
            </a:r>
            <a:endParaRPr lang="en-US" altLang="zh-CN" sz="2400" i="0" dirty="0">
              <a:solidFill>
                <a:srgbClr val="0F1115"/>
              </a:solidFill>
              <a:effectLst/>
              <a:latin typeface="+mn-ea"/>
            </a:endParaRPr>
          </a:p>
          <a:p>
            <a:r>
              <a:rPr lang="en-US" altLang="zh-CN" sz="2400" dirty="0">
                <a:solidFill>
                  <a:srgbClr val="0F1115"/>
                </a:solidFill>
                <a:latin typeface="+mn-ea"/>
              </a:rPr>
              <a:t>Here is the table:</a:t>
            </a:r>
            <a:endParaRPr lang="zh-CN" altLang="en-US" sz="2400" dirty="0">
              <a:latin typeface="+mn-ea"/>
            </a:endParaRPr>
          </a:p>
        </p:txBody>
      </p:sp>
      <mc:AlternateContent xmlns:mc="http://schemas.openxmlformats.org/markup-compatibility/2006">
        <mc:Choice xmlns:a14="http://schemas.microsoft.com/office/drawing/2010/main" Requires="a14">
          <p:sp>
            <p:nvSpPr>
              <p:cNvPr id="13" name="文本框 12"/>
              <p:cNvSpPr txBox="1"/>
              <p:nvPr/>
            </p:nvSpPr>
            <p:spPr>
              <a:xfrm>
                <a:off x="5710561" y="2801463"/>
                <a:ext cx="6094520" cy="3686810"/>
              </a:xfrm>
              <a:prstGeom prst="rect">
                <a:avLst/>
              </a:prstGeom>
              <a:solidFill>
                <a:schemeClr val="accent5">
                  <a:lumMod val="20000"/>
                  <a:lumOff val="80000"/>
                </a:schemeClr>
              </a:solidFill>
            </p:spPr>
            <p:txBody>
              <a:bodyPr wrap="square">
                <a:spAutoFit/>
              </a:bodyPr>
              <a:lstStyle/>
              <a:p>
                <a:pPr algn="l">
                  <a:buFont typeface="Arial" panose="020B0604020202090204" pitchFamily="34" charset="0"/>
                  <a:buChar char="•"/>
                </a:pPr>
                <a:r>
                  <a:rPr lang="en-US" altLang="zh-CN" sz="2000" b="0" i="0" dirty="0">
                    <a:solidFill>
                      <a:srgbClr val="0F1115"/>
                    </a:solidFill>
                    <a:effectLst/>
                    <a:latin typeface="+mn-ea"/>
                  </a:rPr>
                  <a:t>When the pruning conditions become ineffective, the search space of DFS grows exponentially, and its time complexity approaches </a:t>
                </a:r>
                <a14:m>
                  <m:oMath xmlns:m="http://schemas.openxmlformats.org/officeDocument/2006/math">
                    <m:r>
                      <a:rPr lang="en-US" altLang="zh-CN" sz="2000" b="0" i="1" smtClean="0">
                        <a:solidFill>
                          <a:srgbClr val="0F1115"/>
                        </a:solidFill>
                        <a:effectLst/>
                        <a:latin typeface="Cambria Math" panose="02040503050406030204" pitchFamily="18" charset="0"/>
                      </a:rPr>
                      <m:t>𝑂</m:t>
                    </m:r>
                    <m:r>
                      <a:rPr lang="en-US" altLang="zh-CN" sz="2000" b="0" i="1" smtClean="0">
                        <a:solidFill>
                          <a:srgbClr val="0F1115"/>
                        </a:solidFill>
                        <a:effectLst/>
                        <a:latin typeface="Cambria Math" panose="02040503050406030204" pitchFamily="18" charset="0"/>
                      </a:rPr>
                      <m:t>(</m:t>
                    </m:r>
                    <m:sSup>
                      <m:sSupPr>
                        <m:ctrlPr>
                          <a:rPr lang="en-US" altLang="zh-CN" sz="2000" b="0" i="1" smtClean="0">
                            <a:solidFill>
                              <a:srgbClr val="0F1115"/>
                            </a:solidFill>
                            <a:effectLst/>
                            <a:latin typeface="Cambria Math" panose="02040503050406030204" pitchFamily="18" charset="0"/>
                          </a:rPr>
                        </m:ctrlPr>
                      </m:sSupPr>
                      <m:e>
                        <m:r>
                          <a:rPr lang="en-US" altLang="zh-CN" sz="2000" b="0" i="1" smtClean="0">
                            <a:solidFill>
                              <a:srgbClr val="0F1115"/>
                            </a:solidFill>
                            <a:effectLst/>
                            <a:latin typeface="Cambria Math" panose="02040503050406030204" pitchFamily="18" charset="0"/>
                          </a:rPr>
                          <m:t>𝑘</m:t>
                        </m:r>
                      </m:e>
                      <m:sup>
                        <m:r>
                          <a:rPr lang="en-US" altLang="zh-CN" sz="2000" b="0" i="1" smtClean="0">
                            <a:solidFill>
                              <a:srgbClr val="0F1115"/>
                            </a:solidFill>
                            <a:effectLst/>
                            <a:latin typeface="Cambria Math" panose="02040503050406030204" pitchFamily="18" charset="0"/>
                          </a:rPr>
                          <m:t>𝑛</m:t>
                        </m:r>
                      </m:sup>
                    </m:sSup>
                    <m:r>
                      <a:rPr lang="en-US" altLang="zh-CN" sz="2000" b="0" i="1" smtClean="0">
                        <a:solidFill>
                          <a:srgbClr val="0F1115"/>
                        </a:solidFill>
                        <a:effectLst/>
                        <a:latin typeface="Cambria Math" panose="02040503050406030204" pitchFamily="18" charset="0"/>
                      </a:rPr>
                      <m:t>)</m:t>
                    </m:r>
                  </m:oMath>
                </a14:m>
                <a:r>
                  <a:rPr lang="en-US" altLang="zh-CN" sz="2000" b="0" i="0" dirty="0">
                    <a:solidFill>
                      <a:srgbClr val="0F1115"/>
                    </a:solidFill>
                    <a:effectLst/>
                    <a:latin typeface="+mn-ea"/>
                  </a:rPr>
                  <a:t>, where </a:t>
                </a:r>
                <a14:m>
                  <m:oMath xmlns:m="http://schemas.openxmlformats.org/officeDocument/2006/math">
                    <m:r>
                      <a:rPr lang="en-US" altLang="zh-CN" sz="2000" b="0" i="1" dirty="0" smtClean="0">
                        <a:solidFill>
                          <a:srgbClr val="0F1115"/>
                        </a:solidFill>
                        <a:effectLst/>
                        <a:latin typeface="Cambria Math" panose="02040503050406030204" pitchFamily="18" charset="0"/>
                      </a:rPr>
                      <m:t>𝑘</m:t>
                    </m:r>
                  </m:oMath>
                </a14:m>
                <a:r>
                  <a:rPr lang="en-US" altLang="zh-CN" sz="2000" b="0" i="0" dirty="0">
                    <a:solidFill>
                      <a:srgbClr val="0F1115"/>
                    </a:solidFill>
                    <a:effectLst/>
                    <a:latin typeface="+mn-ea"/>
                  </a:rPr>
                  <a:t> represents the number of possible classification categories for each element.</a:t>
                </a:r>
                <a:endParaRPr lang="en-US" altLang="zh-CN" sz="2000" b="0" i="0" dirty="0">
                  <a:solidFill>
                    <a:srgbClr val="0F1115"/>
                  </a:solidFill>
                  <a:effectLst/>
                  <a:latin typeface="+mn-ea"/>
                </a:endParaRPr>
              </a:p>
              <a:p>
                <a:pPr algn="l">
                  <a:buFont typeface="Arial" panose="020B0604020202090204" pitchFamily="34" charset="0"/>
                  <a:buChar char="•"/>
                </a:pPr>
                <a:r>
                  <a:rPr lang="en-US" altLang="zh-CN" sz="2000" b="0" i="0" dirty="0">
                    <a:solidFill>
                      <a:srgbClr val="0F1115"/>
                    </a:solidFill>
                    <a:effectLst/>
                    <a:latin typeface="+mn-ea"/>
                  </a:rPr>
                  <a:t>A time-out occurred at </a:t>
                </a:r>
                <a14:m>
                  <m:oMath xmlns:m="http://schemas.openxmlformats.org/officeDocument/2006/math">
                    <m:r>
                      <a:rPr lang="en-US" altLang="zh-CN" sz="2000" b="0" i="1" dirty="0" smtClean="0">
                        <a:solidFill>
                          <a:srgbClr val="0F1115"/>
                        </a:solidFill>
                        <a:effectLst/>
                        <a:latin typeface="Cambria Math" panose="02040503050406030204" pitchFamily="18" charset="0"/>
                      </a:rPr>
                      <m:t>𝑛</m:t>
                    </m:r>
                    <m:r>
                      <a:rPr lang="en-US" altLang="zh-CN" sz="2000" b="0" i="1" dirty="0" smtClean="0">
                        <a:solidFill>
                          <a:srgbClr val="0F1115"/>
                        </a:solidFill>
                        <a:effectLst/>
                        <a:latin typeface="Cambria Math" panose="02040503050406030204" pitchFamily="18" charset="0"/>
                      </a:rPr>
                      <m:t>=</m:t>
                    </m:r>
                    <m:r>
                      <a:rPr lang="en-US" altLang="zh-CN" sz="2000" b="0" i="1" dirty="0" smtClean="0">
                        <a:solidFill>
                          <a:srgbClr val="0F1115"/>
                        </a:solidFill>
                        <a:effectLst/>
                        <a:latin typeface="Cambria Math" panose="02040503050406030204" pitchFamily="18" charset="0"/>
                      </a:rPr>
                      <m:t>45</m:t>
                    </m:r>
                  </m:oMath>
                </a14:m>
                <a:r>
                  <a:rPr lang="en-US" altLang="zh-CN" sz="2000" b="0" i="0" dirty="0">
                    <a:solidFill>
                      <a:srgbClr val="0F1115"/>
                    </a:solidFill>
                    <a:effectLst/>
                    <a:latin typeface="+mn-ea"/>
                  </a:rPr>
                  <a:t>,</a:t>
                </a:r>
                <a14:m>
                  <m:oMath xmlns:m="http://schemas.openxmlformats.org/officeDocument/2006/math">
                    <m:r>
                      <a:rPr lang="en-US" altLang="zh-CN" sz="2000" b="0" i="1" dirty="0" smtClean="0">
                        <a:solidFill>
                          <a:srgbClr val="0F1115"/>
                        </a:solidFill>
                        <a:effectLst/>
                        <a:latin typeface="Cambria Math" panose="02040503050406030204" pitchFamily="18" charset="0"/>
                      </a:rPr>
                      <m:t>50</m:t>
                    </m:r>
                  </m:oMath>
                </a14:m>
                <a:r>
                  <a:rPr lang="en-US" altLang="zh-CN" sz="2000" b="0" i="0" dirty="0">
                    <a:solidFill>
                      <a:srgbClr val="0F1115"/>
                    </a:solidFill>
                    <a:effectLst/>
                    <a:latin typeface="+mn-ea"/>
                  </a:rPr>
                  <a:t>, indicating that ineffective pruning significantly impacts DFS performance.</a:t>
                </a:r>
                <a:endParaRPr lang="en-US" altLang="zh-CN" sz="2000" b="0" i="0" dirty="0">
                  <a:solidFill>
                    <a:srgbClr val="0F1115"/>
                  </a:solidFill>
                  <a:effectLst/>
                  <a:latin typeface="+mn-ea"/>
                </a:endParaRPr>
              </a:p>
              <a:p>
                <a:pPr algn="l">
                  <a:buFont typeface="Arial" panose="020B0604020202090204" pitchFamily="34" charset="0"/>
                  <a:buChar char="•"/>
                </a:pPr>
                <a:r>
                  <a:rPr lang="en-US" altLang="zh-CN" sz="2000" b="0" i="0" dirty="0">
                    <a:solidFill>
                      <a:srgbClr val="0F1115"/>
                    </a:solidFill>
                    <a:effectLst/>
                    <a:latin typeface="+mn-ea"/>
                  </a:rPr>
                  <a:t>For small-scale instances where </a:t>
                </a:r>
                <a14:m>
                  <m:oMath xmlns:m="http://schemas.openxmlformats.org/officeDocument/2006/math">
                    <m:r>
                      <a:rPr lang="en-US" altLang="zh-CN" sz="2000" b="0" i="1" dirty="0" smtClean="0">
                        <a:solidFill>
                          <a:srgbClr val="0F1115"/>
                        </a:solidFill>
                        <a:effectLst/>
                        <a:latin typeface="Cambria Math" panose="02040503050406030204" pitchFamily="18" charset="0"/>
                      </a:rPr>
                      <m:t>𝑛</m:t>
                    </m:r>
                    <m:r>
                      <a:rPr lang="en-US" altLang="zh-CN" sz="2000" b="0" i="1" dirty="0" smtClean="0">
                        <a:solidFill>
                          <a:srgbClr val="0F1115"/>
                        </a:solidFill>
                        <a:effectLst/>
                        <a:latin typeface="Cambria Math" panose="02040503050406030204" pitchFamily="18" charset="0"/>
                      </a:rPr>
                      <m:t>&lt;</m:t>
                    </m:r>
                    <m:r>
                      <a:rPr lang="en-US" altLang="zh-CN" sz="2000" b="0" i="1" dirty="0" smtClean="0">
                        <a:solidFill>
                          <a:srgbClr val="0F1115"/>
                        </a:solidFill>
                        <a:effectLst/>
                        <a:latin typeface="Cambria Math" panose="02040503050406030204" pitchFamily="18" charset="0"/>
                      </a:rPr>
                      <m:t>30</m:t>
                    </m:r>
                    <m:r>
                      <a:rPr lang="en-US" altLang="zh-CN" sz="2000" b="0" i="1" dirty="0" smtClean="0">
                        <a:solidFill>
                          <a:srgbClr val="0F1115"/>
                        </a:solidFill>
                        <a:effectLst/>
                        <a:latin typeface="Cambria Math" panose="02040503050406030204" pitchFamily="18" charset="0"/>
                      </a:rPr>
                      <m:t> </m:t>
                    </m:r>
                  </m:oMath>
                </a14:m>
                <a:r>
                  <a:rPr lang="en-US" altLang="zh-CN" sz="2000" b="0" i="0" dirty="0">
                    <a:solidFill>
                      <a:srgbClr val="0F1115"/>
                    </a:solidFill>
                    <a:effectLst/>
                    <a:latin typeface="+mn-ea"/>
                  </a:rPr>
                  <a:t>and pruning remains effective, the algorithm performs well with running times at the millisecond level.</a:t>
                </a:r>
                <a:endParaRPr lang="en-US" altLang="zh-CN" sz="2000" b="0" i="0" dirty="0">
                  <a:solidFill>
                    <a:srgbClr val="0F1115"/>
                  </a:solidFill>
                  <a:effectLst/>
                  <a:latin typeface="+mn-ea"/>
                </a:endParaRPr>
              </a:p>
            </p:txBody>
          </p:sp>
        </mc:Choice>
        <mc:Fallback>
          <p:sp>
            <p:nvSpPr>
              <p:cNvPr id="13" name="文本框 12"/>
              <p:cNvSpPr txBox="1">
                <a:spLocks noRot="1" noChangeAspect="1" noMove="1" noResize="1" noEditPoints="1" noAdjustHandles="1" noChangeArrowheads="1" noChangeShapeType="1" noTextEdit="1"/>
              </p:cNvSpPr>
              <p:nvPr/>
            </p:nvSpPr>
            <p:spPr>
              <a:xfrm>
                <a:off x="5710561" y="2801463"/>
                <a:ext cx="6094520" cy="3686810"/>
              </a:xfrm>
              <a:prstGeom prst="rect">
                <a:avLst/>
              </a:prstGeom>
              <a:blipFill rotWithShape="1">
                <a:blip r:embed="rId2"/>
                <a:stretch>
                  <a:fillRect t="-13" r="7" b="13"/>
                </a:stretch>
              </a:blipFill>
            </p:spPr>
            <p:txBody>
              <a:bodyPr/>
              <a:lstStyle/>
              <a:p>
                <a:r>
                  <a:rPr lang="en-US" altLang="en-US">
                    <a:noFill/>
                  </a:rPr>
                  <a:t> </a:t>
                </a:r>
              </a:p>
            </p:txBody>
          </p:sp>
        </mc:Fallback>
      </mc:AlternateContent>
      <p:pic>
        <p:nvPicPr>
          <p:cNvPr id="10" name="Picture 9" descr="287cfdd1-5861-4b6c-b93d-63237c808efe"/>
          <p:cNvPicPr>
            <a:picLocks noChangeAspect="1"/>
          </p:cNvPicPr>
          <p:nvPr/>
        </p:nvPicPr>
        <p:blipFill>
          <a:blip r:embed="rId3"/>
          <a:stretch>
            <a:fillRect/>
          </a:stretch>
        </p:blipFill>
        <p:spPr>
          <a:xfrm>
            <a:off x="46990" y="2816225"/>
            <a:ext cx="5469890" cy="33553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332509" y="415637"/>
            <a:ext cx="8035637" cy="411017"/>
            <a:chOff x="387927" y="452582"/>
            <a:chExt cx="8035637" cy="411017"/>
          </a:xfrm>
        </p:grpSpPr>
        <p:sp>
          <p:nvSpPr>
            <p:cNvPr id="2" name="矩形 1"/>
            <p:cNvSpPr/>
            <p:nvPr/>
          </p:nvSpPr>
          <p:spPr>
            <a:xfrm>
              <a:off x="387927" y="452582"/>
              <a:ext cx="387928" cy="184727"/>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581891" y="544945"/>
              <a:ext cx="512618" cy="318654"/>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5" name="直接连接符 4"/>
            <p:cNvCxnSpPr/>
            <p:nvPr/>
          </p:nvCxnSpPr>
          <p:spPr>
            <a:xfrm>
              <a:off x="951345" y="826655"/>
              <a:ext cx="7472219"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grpSp>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929268" y="277013"/>
            <a:ext cx="2045209" cy="568113"/>
          </a:xfrm>
          <a:prstGeom prst="rect">
            <a:avLst/>
          </a:prstGeom>
        </p:spPr>
      </p:pic>
      <p:sp>
        <p:nvSpPr>
          <p:cNvPr id="9" name="文本框 8"/>
          <p:cNvSpPr txBox="1"/>
          <p:nvPr/>
        </p:nvSpPr>
        <p:spPr>
          <a:xfrm>
            <a:off x="1165161" y="269066"/>
            <a:ext cx="4930839" cy="523220"/>
          </a:xfrm>
          <a:prstGeom prst="rect">
            <a:avLst/>
          </a:prstGeom>
          <a:noFill/>
        </p:spPr>
        <p:txBody>
          <a:bodyPr wrap="square" rtlCol="0">
            <a:spAutoFit/>
          </a:bodyPr>
          <a:lstStyle/>
          <a:p>
            <a:r>
              <a:rPr lang="en-US" altLang="zh-CN" sz="2800" spc="400" dirty="0">
                <a:solidFill>
                  <a:srgbClr val="003F88"/>
                </a:solidFill>
              </a:rPr>
              <a:t>Test of DP</a:t>
            </a:r>
            <a:endParaRPr lang="zh-CN" altLang="en-US" sz="2800" spc="400" dirty="0">
              <a:solidFill>
                <a:srgbClr val="003F88"/>
              </a:solidFill>
            </a:endParaRPr>
          </a:p>
        </p:txBody>
      </p:sp>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6473" y="845126"/>
            <a:ext cx="5293320" cy="3175992"/>
          </a:xfrm>
          <a:prstGeom prst="rect">
            <a:avLst/>
          </a:prstGeom>
        </p:spPr>
      </p:pic>
      <p:pic>
        <p:nvPicPr>
          <p:cNvPr id="12" name="图片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19793" y="863598"/>
            <a:ext cx="5293320" cy="3175992"/>
          </a:xfrm>
          <a:prstGeom prst="rect">
            <a:avLst/>
          </a:prstGeom>
        </p:spPr>
      </p:pic>
      <p:sp>
        <p:nvSpPr>
          <p:cNvPr id="14" name="文本框 13"/>
          <p:cNvSpPr txBox="1"/>
          <p:nvPr/>
        </p:nvSpPr>
        <p:spPr>
          <a:xfrm>
            <a:off x="1799332" y="4021118"/>
            <a:ext cx="2747601" cy="369332"/>
          </a:xfrm>
          <a:prstGeom prst="rect">
            <a:avLst/>
          </a:prstGeom>
          <a:noFill/>
        </p:spPr>
        <p:txBody>
          <a:bodyPr wrap="square">
            <a:spAutoFit/>
          </a:bodyPr>
          <a:lstStyle/>
          <a:p>
            <a:r>
              <a:rPr lang="en-US" altLang="zh-CN" b="0" i="0" dirty="0">
                <a:solidFill>
                  <a:srgbClr val="0F1115"/>
                </a:solidFill>
                <a:effectLst/>
                <a:latin typeface="quote-cjk-patch"/>
              </a:rPr>
              <a:t>Figure 1: Fixed T, varying n</a:t>
            </a:r>
            <a:endParaRPr lang="zh-CN" altLang="en-US" dirty="0"/>
          </a:p>
        </p:txBody>
      </p:sp>
      <p:sp>
        <p:nvSpPr>
          <p:cNvPr id="17" name="文本框 16"/>
          <p:cNvSpPr txBox="1"/>
          <p:nvPr/>
        </p:nvSpPr>
        <p:spPr>
          <a:xfrm>
            <a:off x="6994345" y="4039590"/>
            <a:ext cx="2747601" cy="369332"/>
          </a:xfrm>
          <a:prstGeom prst="rect">
            <a:avLst/>
          </a:prstGeom>
          <a:noFill/>
        </p:spPr>
        <p:txBody>
          <a:bodyPr wrap="square">
            <a:spAutoFit/>
          </a:bodyPr>
          <a:lstStyle/>
          <a:p>
            <a:r>
              <a:rPr lang="en-US" altLang="zh-CN" b="0" i="0" dirty="0">
                <a:solidFill>
                  <a:srgbClr val="0F1115"/>
                </a:solidFill>
                <a:effectLst/>
                <a:latin typeface="quote-cjk-patch"/>
              </a:rPr>
              <a:t>Figure 2: Fixed n, varying T</a:t>
            </a:r>
            <a:endParaRPr lang="zh-CN" altLang="en-US" dirty="0"/>
          </a:p>
        </p:txBody>
      </p:sp>
      <p:sp>
        <p:nvSpPr>
          <p:cNvPr id="21" name="文本框 20"/>
          <p:cNvSpPr txBox="1"/>
          <p:nvPr/>
        </p:nvSpPr>
        <p:spPr>
          <a:xfrm>
            <a:off x="526473" y="4633222"/>
            <a:ext cx="10586640" cy="1200329"/>
          </a:xfrm>
          <a:prstGeom prst="rect">
            <a:avLst/>
          </a:prstGeom>
          <a:solidFill>
            <a:schemeClr val="accent5">
              <a:lumMod val="20000"/>
              <a:lumOff val="80000"/>
            </a:schemeClr>
          </a:solidFill>
        </p:spPr>
        <p:txBody>
          <a:bodyPr wrap="square">
            <a:spAutoFit/>
          </a:bodyPr>
          <a:lstStyle/>
          <a:p>
            <a:r>
              <a:rPr lang="en-US" altLang="zh-CN" sz="2400" b="0" i="0" dirty="0">
                <a:solidFill>
                  <a:srgbClr val="0F1115"/>
                </a:solidFill>
                <a:effectLst/>
                <a:latin typeface="+mn-ea"/>
              </a:rPr>
              <a:t>Based on the two graphs above, the runtime complexity closely matches the theoretical curve, thereby validating that the dynamic programming algorithm exhibits pseudo-polynomial complexity.</a:t>
            </a:r>
            <a:endParaRPr lang="zh-CN" altLang="en-US" sz="2400" dirty="0">
              <a:latin typeface="+mn-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332509" y="415637"/>
            <a:ext cx="8035637" cy="411017"/>
            <a:chOff x="387927" y="452582"/>
            <a:chExt cx="8035637" cy="411017"/>
          </a:xfrm>
        </p:grpSpPr>
        <p:sp>
          <p:nvSpPr>
            <p:cNvPr id="2" name="矩形 1"/>
            <p:cNvSpPr/>
            <p:nvPr/>
          </p:nvSpPr>
          <p:spPr>
            <a:xfrm>
              <a:off x="387927" y="452582"/>
              <a:ext cx="387928" cy="184727"/>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581891" y="544945"/>
              <a:ext cx="512618" cy="318654"/>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5" name="直接连接符 4"/>
            <p:cNvCxnSpPr/>
            <p:nvPr/>
          </p:nvCxnSpPr>
          <p:spPr>
            <a:xfrm>
              <a:off x="951345" y="826655"/>
              <a:ext cx="7472219"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grpSp>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929268" y="277013"/>
            <a:ext cx="2045209" cy="568113"/>
          </a:xfrm>
          <a:prstGeom prst="rect">
            <a:avLst/>
          </a:prstGeom>
        </p:spPr>
      </p:pic>
      <p:sp>
        <p:nvSpPr>
          <p:cNvPr id="9" name="文本框 8"/>
          <p:cNvSpPr txBox="1"/>
          <p:nvPr/>
        </p:nvSpPr>
        <p:spPr>
          <a:xfrm>
            <a:off x="1165161" y="269066"/>
            <a:ext cx="4930839" cy="523220"/>
          </a:xfrm>
          <a:prstGeom prst="rect">
            <a:avLst/>
          </a:prstGeom>
          <a:noFill/>
        </p:spPr>
        <p:txBody>
          <a:bodyPr wrap="square" rtlCol="0">
            <a:spAutoFit/>
          </a:bodyPr>
          <a:lstStyle/>
          <a:p>
            <a:r>
              <a:rPr lang="en-US" altLang="zh-CN" sz="2800" spc="400" dirty="0">
                <a:solidFill>
                  <a:srgbClr val="003F88"/>
                </a:solidFill>
              </a:rPr>
              <a:t>Test of DP</a:t>
            </a:r>
            <a:endParaRPr lang="zh-CN" altLang="en-US" sz="2800" spc="400" dirty="0">
              <a:solidFill>
                <a:srgbClr val="003F88"/>
              </a:solidFill>
            </a:endParaRPr>
          </a:p>
        </p:txBody>
      </p:sp>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00729"/>
            <a:ext cx="5330646" cy="5003820"/>
          </a:xfrm>
          <a:prstGeom prst="rect">
            <a:avLst/>
          </a:prstGeom>
        </p:spPr>
      </p:pic>
      <p:sp>
        <p:nvSpPr>
          <p:cNvPr id="12" name="文本框 11"/>
          <p:cNvSpPr txBox="1"/>
          <p:nvPr/>
        </p:nvSpPr>
        <p:spPr>
          <a:xfrm>
            <a:off x="5700183" y="1657834"/>
            <a:ext cx="6274294" cy="4093428"/>
          </a:xfrm>
          <a:prstGeom prst="rect">
            <a:avLst/>
          </a:prstGeom>
          <a:solidFill>
            <a:schemeClr val="accent5">
              <a:lumMod val="20000"/>
              <a:lumOff val="80000"/>
            </a:schemeClr>
          </a:solidFill>
        </p:spPr>
        <p:txBody>
          <a:bodyPr wrap="square">
            <a:spAutoFit/>
          </a:bodyPr>
          <a:lstStyle/>
          <a:p>
            <a:r>
              <a:rPr lang="en-US" altLang="zh-CN" sz="2000" b="0" i="0" dirty="0">
                <a:solidFill>
                  <a:srgbClr val="0F1115"/>
                </a:solidFill>
                <a:effectLst/>
                <a:latin typeface="+mn-ea"/>
              </a:rPr>
              <a:t>This is the performance visualization of the dynamic programming algorithm with simultaneous increases in n and sum. The goodness-of-fit R² = 0.9959 indicates that the model accurately describes the algorithm's time complexity.</a:t>
            </a:r>
            <a:endParaRPr lang="en-US" altLang="zh-CN" sz="2000" b="0" i="0" dirty="0">
              <a:solidFill>
                <a:srgbClr val="0F1115"/>
              </a:solidFill>
              <a:effectLst/>
              <a:latin typeface="+mn-ea"/>
            </a:endParaRPr>
          </a:p>
          <a:p>
            <a:r>
              <a:rPr lang="en-US" altLang="zh-CN" sz="2000" b="0" i="0" dirty="0">
                <a:solidFill>
                  <a:srgbClr val="0F1115"/>
                </a:solidFill>
                <a:effectLst/>
                <a:latin typeface="+mn-ea"/>
              </a:rPr>
              <a:t>This experiment empirically verifies the indispensable significance of the simulated annealing algorithm in handling large-scale inputs. While dynamic programming guarantees optimality for small-scale problems, its computational complexity prevents effective scaling to real-world large-scale optimization problems, thereby highlighting the necessity of heuristic algorithms in practical applications.</a:t>
            </a:r>
            <a:endParaRPr lang="zh-CN" altLang="en-US" sz="2000" dirty="0">
              <a:latin typeface="+mn-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332509" y="415637"/>
            <a:ext cx="8035637" cy="411017"/>
            <a:chOff x="387927" y="452582"/>
            <a:chExt cx="8035637" cy="411017"/>
          </a:xfrm>
        </p:grpSpPr>
        <p:sp>
          <p:nvSpPr>
            <p:cNvPr id="2" name="矩形 1"/>
            <p:cNvSpPr/>
            <p:nvPr/>
          </p:nvSpPr>
          <p:spPr>
            <a:xfrm>
              <a:off x="387927" y="452582"/>
              <a:ext cx="387928" cy="184727"/>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581891" y="544945"/>
              <a:ext cx="512618" cy="318654"/>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5" name="直接连接符 4"/>
            <p:cNvCxnSpPr/>
            <p:nvPr/>
          </p:nvCxnSpPr>
          <p:spPr>
            <a:xfrm>
              <a:off x="951345" y="826655"/>
              <a:ext cx="7472219"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grpSp>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929268" y="277013"/>
            <a:ext cx="2045209" cy="568113"/>
          </a:xfrm>
          <a:prstGeom prst="rect">
            <a:avLst/>
          </a:prstGeom>
        </p:spPr>
      </p:pic>
      <p:sp>
        <p:nvSpPr>
          <p:cNvPr id="9" name="文本框 8"/>
          <p:cNvSpPr txBox="1"/>
          <p:nvPr/>
        </p:nvSpPr>
        <p:spPr>
          <a:xfrm>
            <a:off x="1165161" y="269066"/>
            <a:ext cx="4930839" cy="523220"/>
          </a:xfrm>
          <a:prstGeom prst="rect">
            <a:avLst/>
          </a:prstGeom>
          <a:noFill/>
        </p:spPr>
        <p:txBody>
          <a:bodyPr wrap="square" rtlCol="0">
            <a:spAutoFit/>
          </a:bodyPr>
          <a:lstStyle/>
          <a:p>
            <a:r>
              <a:rPr lang="en-US" altLang="zh-CN" sz="2800" spc="400" dirty="0">
                <a:solidFill>
                  <a:srgbClr val="003F88"/>
                </a:solidFill>
              </a:rPr>
              <a:t>Test of SA</a:t>
            </a:r>
            <a:endParaRPr lang="zh-CN" altLang="en-US" sz="2800" spc="400" dirty="0">
              <a:solidFill>
                <a:srgbClr val="003F88"/>
              </a:solidFill>
            </a:endParaRPr>
          </a:p>
        </p:txBody>
      </p:sp>
      <mc:AlternateContent xmlns:mc="http://schemas.openxmlformats.org/markup-compatibility/2006">
        <mc:Choice xmlns:a14="http://schemas.microsoft.com/office/drawing/2010/main" Requires="a14">
          <p:sp>
            <p:nvSpPr>
              <p:cNvPr id="4" name="文本框 3"/>
              <p:cNvSpPr txBox="1"/>
              <p:nvPr/>
            </p:nvSpPr>
            <p:spPr>
              <a:xfrm>
                <a:off x="526473" y="945022"/>
                <a:ext cx="10944620" cy="1631216"/>
              </a:xfrm>
              <a:prstGeom prst="rect">
                <a:avLst/>
              </a:prstGeom>
              <a:solidFill>
                <a:schemeClr val="accent5">
                  <a:lumMod val="20000"/>
                  <a:lumOff val="80000"/>
                </a:schemeClr>
              </a:solidFill>
            </p:spPr>
            <p:txBody>
              <a:bodyPr wrap="square" rtlCol="0">
                <a:spAutoFit/>
              </a:bodyPr>
              <a:lstStyle/>
              <a:p>
                <a:r>
                  <a:rPr lang="en-US" altLang="zh-CN" sz="2000" dirty="0">
                    <a:latin typeface="+mn-ea"/>
                  </a:rPr>
                  <a:t>We construct two types of data to test SA.</a:t>
                </a:r>
                <a:endParaRPr lang="en-US" altLang="zh-CN" sz="2000" dirty="0">
                  <a:latin typeface="+mn-ea"/>
                </a:endParaRPr>
              </a:p>
              <a:p>
                <a:r>
                  <a:rPr lang="en-US" altLang="zh-CN" sz="2000" b="1" dirty="0">
                    <a:latin typeface="+mn-ea"/>
                  </a:rPr>
                  <a:t>Base </a:t>
                </a:r>
                <a:r>
                  <a:rPr lang="en-US" altLang="zh-CN" sz="2000" b="1" dirty="0" err="1">
                    <a:latin typeface="+mn-ea"/>
                  </a:rPr>
                  <a:t>construction</a:t>
                </a:r>
                <a:r>
                  <a:rPr lang="en-US" altLang="zh-CN" sz="2000" dirty="0" err="1">
                    <a:latin typeface="+mn-ea"/>
                  </a:rPr>
                  <a:t>:</a:t>
                </a:r>
                <a:r>
                  <a:rPr lang="en-US" altLang="zh-CN" sz="2000" b="0" i="0" dirty="0" err="1">
                    <a:solidFill>
                      <a:srgbClr val="0F1115"/>
                    </a:solidFill>
                    <a:effectLst/>
                    <a:latin typeface="+mn-ea"/>
                  </a:rPr>
                  <a:t>First</a:t>
                </a:r>
                <a:r>
                  <a:rPr lang="en-US" altLang="zh-CN" sz="2000" b="0" i="0" dirty="0">
                    <a:solidFill>
                      <a:srgbClr val="0F1115"/>
                    </a:solidFill>
                    <a:effectLst/>
                    <a:latin typeface="+mn-ea"/>
                  </a:rPr>
                  <a:t>, the DP algorithm is used to verify a set of small-scale and decomposable benchmark instances, denoted as </a:t>
                </a:r>
                <a14:m>
                  <m:oMath xmlns:m="http://schemas.openxmlformats.org/officeDocument/2006/math">
                    <m:sSub>
                      <m:sSubPr>
                        <m:ctrlPr>
                          <a:rPr lang="en-US" altLang="zh-CN" sz="2000" b="0" i="1" smtClean="0">
                            <a:solidFill>
                              <a:srgbClr val="0F1115"/>
                            </a:solidFill>
                            <a:effectLst/>
                            <a:latin typeface="+mn-ea"/>
                          </a:rPr>
                        </m:ctrlPr>
                      </m:sSubPr>
                      <m:e>
                        <m:r>
                          <a:rPr lang="en-US" altLang="zh-CN" sz="2000" b="0" i="1" smtClean="0">
                            <a:solidFill>
                              <a:srgbClr val="0F1115"/>
                            </a:solidFill>
                            <a:effectLst/>
                            <a:latin typeface="+mn-ea"/>
                          </a:rPr>
                          <m:t>𝑆</m:t>
                        </m:r>
                      </m:e>
                      <m:sub>
                        <m:r>
                          <a:rPr lang="en-US" altLang="zh-CN" sz="2000" b="0" i="1" smtClean="0">
                            <a:solidFill>
                              <a:srgbClr val="0F1115"/>
                            </a:solidFill>
                            <a:effectLst/>
                            <a:latin typeface="+mn-ea"/>
                          </a:rPr>
                          <m:t>1</m:t>
                        </m:r>
                      </m:sub>
                    </m:sSub>
                    <m:r>
                      <a:rPr lang="en-US" altLang="zh-CN" sz="2000" b="0" i="1" smtClean="0">
                        <a:solidFill>
                          <a:srgbClr val="0F1115"/>
                        </a:solidFill>
                        <a:effectLst/>
                        <a:latin typeface="+mn-ea"/>
                      </a:rPr>
                      <m:t>,</m:t>
                    </m:r>
                    <m:sSub>
                      <m:sSubPr>
                        <m:ctrlPr>
                          <a:rPr lang="en-US" altLang="zh-CN" sz="2000" b="0" i="1" smtClean="0">
                            <a:solidFill>
                              <a:srgbClr val="0F1115"/>
                            </a:solidFill>
                            <a:effectLst/>
                            <a:latin typeface="+mn-ea"/>
                          </a:rPr>
                        </m:ctrlPr>
                      </m:sSubPr>
                      <m:e>
                        <m:r>
                          <a:rPr lang="en-US" altLang="zh-CN" sz="2000" b="0" i="1" smtClean="0">
                            <a:solidFill>
                              <a:srgbClr val="0F1115"/>
                            </a:solidFill>
                            <a:effectLst/>
                            <a:latin typeface="+mn-ea"/>
                          </a:rPr>
                          <m:t>𝑆</m:t>
                        </m:r>
                      </m:e>
                      <m:sub>
                        <m:r>
                          <a:rPr lang="en-US" altLang="zh-CN" sz="2000" b="0" i="1" smtClean="0">
                            <a:solidFill>
                              <a:srgbClr val="0F1115"/>
                            </a:solidFill>
                            <a:effectLst/>
                            <a:latin typeface="+mn-ea"/>
                          </a:rPr>
                          <m:t>2</m:t>
                        </m:r>
                      </m:sub>
                    </m:sSub>
                    <m:r>
                      <a:rPr lang="en-US" altLang="zh-CN" sz="2000" b="0" i="1" smtClean="0">
                        <a:solidFill>
                          <a:srgbClr val="0F1115"/>
                        </a:solidFill>
                        <a:effectLst/>
                        <a:latin typeface="+mn-ea"/>
                      </a:rPr>
                      <m:t>,…,</m:t>
                    </m:r>
                    <m:sSub>
                      <m:sSubPr>
                        <m:ctrlPr>
                          <a:rPr lang="en-US" altLang="zh-CN" sz="2000" b="0" i="1" smtClean="0">
                            <a:solidFill>
                              <a:srgbClr val="0F1115"/>
                            </a:solidFill>
                            <a:effectLst/>
                            <a:latin typeface="+mn-ea"/>
                          </a:rPr>
                        </m:ctrlPr>
                      </m:sSubPr>
                      <m:e>
                        <m:r>
                          <a:rPr lang="en-US" altLang="zh-CN" sz="2000" b="0" i="1" smtClean="0">
                            <a:solidFill>
                              <a:srgbClr val="0F1115"/>
                            </a:solidFill>
                            <a:effectLst/>
                            <a:latin typeface="+mn-ea"/>
                          </a:rPr>
                          <m:t>𝑆</m:t>
                        </m:r>
                      </m:e>
                      <m:sub>
                        <m:r>
                          <a:rPr lang="en-US" altLang="zh-CN" sz="2000" b="0" i="1" smtClean="0">
                            <a:solidFill>
                              <a:srgbClr val="0F1115"/>
                            </a:solidFill>
                            <a:effectLst/>
                            <a:latin typeface="+mn-ea"/>
                          </a:rPr>
                          <m:t>𝑚</m:t>
                        </m:r>
                      </m:sub>
                    </m:sSub>
                  </m:oMath>
                </a14:m>
                <a:r>
                  <a:rPr lang="en-US" altLang="zh-CN" sz="2000" b="0" i="0" dirty="0">
                    <a:solidFill>
                      <a:srgbClr val="0F1115"/>
                    </a:solidFill>
                    <a:effectLst/>
                    <a:latin typeface="+mn-ea"/>
                  </a:rPr>
                  <a:t>. From these, k instances are arbitrarily selected as building blocks (with repetition allowed), denoted as </a:t>
                </a:r>
                <a14:m>
                  <m:oMath xmlns:m="http://schemas.openxmlformats.org/officeDocument/2006/math">
                    <m:sSub>
                      <m:sSubPr>
                        <m:ctrlPr>
                          <a:rPr lang="en-US" altLang="zh-CN" sz="2000" b="0" i="1" smtClean="0">
                            <a:solidFill>
                              <a:srgbClr val="0F1115"/>
                            </a:solidFill>
                            <a:effectLst/>
                            <a:latin typeface="+mn-ea"/>
                          </a:rPr>
                        </m:ctrlPr>
                      </m:sSubPr>
                      <m:e>
                        <m:r>
                          <a:rPr lang="en-US" altLang="zh-CN" sz="2000" b="0" i="1" smtClean="0">
                            <a:solidFill>
                              <a:srgbClr val="0F1115"/>
                            </a:solidFill>
                            <a:effectLst/>
                            <a:latin typeface="+mn-ea"/>
                          </a:rPr>
                          <m:t>𝐴</m:t>
                        </m:r>
                      </m:e>
                      <m:sub>
                        <m:r>
                          <a:rPr lang="en-US" altLang="zh-CN" sz="2000" b="0" i="1" smtClean="0">
                            <a:solidFill>
                              <a:srgbClr val="0F1115"/>
                            </a:solidFill>
                            <a:effectLst/>
                            <a:latin typeface="+mn-ea"/>
                          </a:rPr>
                          <m:t>1</m:t>
                        </m:r>
                      </m:sub>
                    </m:sSub>
                    <m:r>
                      <a:rPr lang="en-US" altLang="zh-CN" sz="2000" b="0" i="1" smtClean="0">
                        <a:solidFill>
                          <a:srgbClr val="0F1115"/>
                        </a:solidFill>
                        <a:effectLst/>
                        <a:latin typeface="+mn-ea"/>
                      </a:rPr>
                      <m:t>,</m:t>
                    </m:r>
                    <m:sSub>
                      <m:sSubPr>
                        <m:ctrlPr>
                          <a:rPr lang="en-US" altLang="zh-CN" sz="2000" b="0" i="1" smtClean="0">
                            <a:solidFill>
                              <a:srgbClr val="0F1115"/>
                            </a:solidFill>
                            <a:effectLst/>
                            <a:latin typeface="+mn-ea"/>
                          </a:rPr>
                        </m:ctrlPr>
                      </m:sSubPr>
                      <m:e>
                        <m:r>
                          <a:rPr lang="en-US" altLang="zh-CN" sz="2000" b="0" i="1" smtClean="0">
                            <a:solidFill>
                              <a:srgbClr val="0F1115"/>
                            </a:solidFill>
                            <a:effectLst/>
                            <a:latin typeface="+mn-ea"/>
                          </a:rPr>
                          <m:t>𝐴</m:t>
                        </m:r>
                      </m:e>
                      <m:sub>
                        <m:r>
                          <a:rPr lang="en-US" altLang="zh-CN" sz="2000" b="0" i="1" smtClean="0">
                            <a:solidFill>
                              <a:srgbClr val="0F1115"/>
                            </a:solidFill>
                            <a:effectLst/>
                            <a:latin typeface="+mn-ea"/>
                          </a:rPr>
                          <m:t>2</m:t>
                        </m:r>
                      </m:sub>
                    </m:sSub>
                    <m:r>
                      <a:rPr lang="en-US" altLang="zh-CN" sz="2000" b="0" i="1" smtClean="0">
                        <a:solidFill>
                          <a:srgbClr val="0F1115"/>
                        </a:solidFill>
                        <a:effectLst/>
                        <a:latin typeface="+mn-ea"/>
                      </a:rPr>
                      <m:t>,…,</m:t>
                    </m:r>
                    <m:sSub>
                      <m:sSubPr>
                        <m:ctrlPr>
                          <a:rPr lang="en-US" altLang="zh-CN" sz="2000" b="0" i="1" smtClean="0">
                            <a:solidFill>
                              <a:srgbClr val="0F1115"/>
                            </a:solidFill>
                            <a:effectLst/>
                            <a:latin typeface="+mn-ea"/>
                          </a:rPr>
                        </m:ctrlPr>
                      </m:sSubPr>
                      <m:e>
                        <m:r>
                          <a:rPr lang="en-US" altLang="zh-CN" sz="2000" b="0" i="1" smtClean="0">
                            <a:solidFill>
                              <a:srgbClr val="0F1115"/>
                            </a:solidFill>
                            <a:effectLst/>
                            <a:latin typeface="+mn-ea"/>
                          </a:rPr>
                          <m:t>𝐴</m:t>
                        </m:r>
                      </m:e>
                      <m:sub>
                        <m:r>
                          <a:rPr lang="en-US" altLang="zh-CN" sz="2000" b="0" i="1" smtClean="0">
                            <a:solidFill>
                              <a:srgbClr val="0F1115"/>
                            </a:solidFill>
                            <a:effectLst/>
                            <a:latin typeface="+mn-ea"/>
                          </a:rPr>
                          <m:t>𝑘</m:t>
                        </m:r>
                      </m:sub>
                    </m:sSub>
                  </m:oMath>
                </a14:m>
                <a:r>
                  <a:rPr lang="en-US" altLang="zh-CN" sz="2000" b="0" i="0" dirty="0">
                    <a:solidFill>
                      <a:srgbClr val="0F1115"/>
                    </a:solidFill>
                    <a:effectLst/>
                    <a:latin typeface="+mn-ea"/>
                  </a:rPr>
                  <a:t>. Different weight factors are assigned to each base instance to construct the final test set:</a:t>
                </a:r>
                <a:endParaRPr lang="zh-CN" altLang="en-US" sz="2000" dirty="0">
                  <a:latin typeface="+mn-ea"/>
                </a:endParaRPr>
              </a:p>
            </p:txBody>
          </p:sp>
        </mc:Choice>
        <mc:Fallback>
          <p:sp>
            <p:nvSpPr>
              <p:cNvPr id="4" name="文本框 3"/>
              <p:cNvSpPr txBox="1">
                <a:spLocks noRot="1" noChangeAspect="1" noMove="1" noResize="1" noEditPoints="1" noAdjustHandles="1" noChangeArrowheads="1" noChangeShapeType="1" noTextEdit="1"/>
              </p:cNvSpPr>
              <p:nvPr/>
            </p:nvSpPr>
            <p:spPr>
              <a:xfrm>
                <a:off x="526473" y="945022"/>
                <a:ext cx="10944620" cy="1631216"/>
              </a:xfrm>
              <a:prstGeom prst="rect">
                <a:avLst/>
              </a:prstGeom>
              <a:blipFill rotWithShape="1">
                <a:blip r:embed="rId2"/>
                <a:stretch>
                  <a:fillRect l="-1" t="-9" r="4" b="3"/>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7" name="文本框 6"/>
              <p:cNvSpPr txBox="1"/>
              <p:nvPr/>
            </p:nvSpPr>
            <p:spPr>
              <a:xfrm>
                <a:off x="3377481" y="2694606"/>
                <a:ext cx="4646657" cy="88274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m:rPr>
                          <m:sty m:val="p"/>
                        </m:rPr>
                        <a:rPr lang="en-US" altLang="zh-CN" b="0" i="0" smtClean="0">
                          <a:latin typeface="Cambria Math" panose="02040503050406030204" pitchFamily="18" charset="0"/>
                        </a:rPr>
                        <m:t>T</m:t>
                      </m:r>
                      <m:r>
                        <a:rPr lang="en-US" altLang="zh-CN" b="0" i="0" smtClean="0">
                          <a:latin typeface="Cambria Math" panose="02040503050406030204" pitchFamily="18" charset="0"/>
                        </a:rPr>
                        <m:t>=</m:t>
                      </m:r>
                      <m:nary>
                        <m:naryPr>
                          <m:chr m:val="∑"/>
                          <m:ctrlPr>
                            <a:rPr lang="en-US" altLang="zh-CN" b="0" smtClean="0">
                              <a:latin typeface="Cambria Math" panose="02040503050406030204" pitchFamily="18" charset="0"/>
                            </a:rPr>
                          </m:ctrlPr>
                        </m:naryPr>
                        <m:sub>
                          <m:r>
                            <m:rPr>
                              <m:sty m:val="p"/>
                              <m:brk m:alnAt="23"/>
                            </m:rPr>
                            <a:rPr lang="en-US" altLang="zh-CN" b="0" i="0" smtClean="0">
                              <a:latin typeface="Cambria Math" panose="02040503050406030204" pitchFamily="18" charset="0"/>
                            </a:rPr>
                            <m:t>i</m:t>
                          </m:r>
                          <m:r>
                            <a:rPr lang="en-US" altLang="zh-CN" b="0" i="0" smtClean="0">
                              <a:latin typeface="Cambria Math" panose="02040503050406030204" pitchFamily="18" charset="0"/>
                            </a:rPr>
                            <m:t>=</m:t>
                          </m:r>
                          <m:r>
                            <a:rPr lang="en-US" altLang="zh-CN" b="0" i="0" smtClean="0">
                              <a:latin typeface="Cambria Math" panose="02040503050406030204" pitchFamily="18" charset="0"/>
                            </a:rPr>
                            <m:t>1</m:t>
                          </m:r>
                        </m:sub>
                        <m:sup>
                          <m:r>
                            <m:rPr>
                              <m:sty m:val="p"/>
                            </m:rPr>
                            <a:rPr lang="en-US" altLang="zh-CN" b="0" i="0" smtClean="0">
                              <a:latin typeface="Cambria Math" panose="02040503050406030204" pitchFamily="18" charset="0"/>
                            </a:rPr>
                            <m:t>k</m:t>
                          </m:r>
                        </m:sup>
                        <m:e>
                          <m:sSub>
                            <m:sSubPr>
                              <m:ctrlPr>
                                <a:rPr lang="en-US" altLang="zh-CN" b="0" smtClean="0">
                                  <a:latin typeface="Cambria Math" panose="02040503050406030204" pitchFamily="18" charset="0"/>
                                </a:rPr>
                              </m:ctrlPr>
                            </m:sSubPr>
                            <m:e>
                              <m:r>
                                <m:rPr>
                                  <m:sty m:val="p"/>
                                </m:rPr>
                                <a:rPr lang="en-US" altLang="zh-CN" b="0" i="0" smtClean="0">
                                  <a:latin typeface="Cambria Math" panose="02040503050406030204" pitchFamily="18" charset="0"/>
                                </a:rPr>
                                <m:t>factor</m:t>
                              </m:r>
                            </m:e>
                            <m:sub>
                              <m:r>
                                <m:rPr>
                                  <m:sty m:val="p"/>
                                </m:rPr>
                                <a:rPr lang="en-US" altLang="zh-CN" b="0" i="0" smtClean="0">
                                  <a:latin typeface="Cambria Math" panose="02040503050406030204" pitchFamily="18" charset="0"/>
                                </a:rPr>
                                <m:t>i</m:t>
                              </m:r>
                            </m:sub>
                          </m:sSub>
                          <m:r>
                            <a:rPr lang="en-US" altLang="zh-CN" b="0" i="0" smtClean="0">
                              <a:latin typeface="Cambria Math" panose="02040503050406030204" pitchFamily="18" charset="0"/>
                              <a:ea typeface="Cambria Math" panose="02040503050406030204" pitchFamily="18" charset="0"/>
                            </a:rPr>
                            <m:t>×</m:t>
                          </m:r>
                          <m:sSub>
                            <m:sSubPr>
                              <m:ctrlPr>
                                <a:rPr lang="en-US" altLang="zh-CN" b="0" smtClean="0">
                                  <a:latin typeface="Cambria Math" panose="02040503050406030204" pitchFamily="18" charset="0"/>
                                  <a:ea typeface="Cambria Math" panose="02040503050406030204" pitchFamily="18" charset="0"/>
                                </a:rPr>
                              </m:ctrlPr>
                            </m:sSubPr>
                            <m:e>
                              <m:r>
                                <m:rPr>
                                  <m:sty m:val="p"/>
                                </m:rPr>
                                <a:rPr lang="en-US" altLang="zh-CN" b="0" i="0" smtClean="0">
                                  <a:latin typeface="Cambria Math" panose="02040503050406030204" pitchFamily="18" charset="0"/>
                                  <a:ea typeface="Cambria Math" panose="02040503050406030204" pitchFamily="18" charset="0"/>
                                </a:rPr>
                                <m:t>A</m:t>
                              </m:r>
                            </m:e>
                            <m:sub>
                              <m:r>
                                <m:rPr>
                                  <m:sty m:val="p"/>
                                </m:rPr>
                                <a:rPr lang="en-US" altLang="zh-CN" b="0" i="0" smtClean="0">
                                  <a:latin typeface="Cambria Math" panose="02040503050406030204" pitchFamily="18" charset="0"/>
                                  <a:ea typeface="Cambria Math" panose="02040503050406030204" pitchFamily="18" charset="0"/>
                                </a:rPr>
                                <m:t>i</m:t>
                              </m:r>
                            </m:sub>
                          </m:sSub>
                        </m:e>
                      </m:nary>
                      <m:r>
                        <a:rPr lang="en-US" altLang="zh-CN" b="0" i="0" smtClean="0">
                          <a:latin typeface="Cambria Math" panose="02040503050406030204" pitchFamily="18" charset="0"/>
                        </a:rPr>
                        <m:t>,</m:t>
                      </m:r>
                      <m:sSub>
                        <m:sSubPr>
                          <m:ctrlPr>
                            <a:rPr lang="en-US" altLang="zh-CN" b="0" smtClean="0">
                              <a:latin typeface="Cambria Math" panose="02040503050406030204" pitchFamily="18" charset="0"/>
                            </a:rPr>
                          </m:ctrlPr>
                        </m:sSubPr>
                        <m:e>
                          <m:r>
                            <m:rPr>
                              <m:sty m:val="p"/>
                            </m:rPr>
                            <a:rPr lang="en-US" altLang="zh-CN" b="0" i="0" smtClean="0">
                              <a:latin typeface="Cambria Math" panose="02040503050406030204" pitchFamily="18" charset="0"/>
                            </a:rPr>
                            <m:t>factor</m:t>
                          </m:r>
                        </m:e>
                        <m:sub>
                          <m:r>
                            <m:rPr>
                              <m:sty m:val="p"/>
                            </m:rPr>
                            <a:rPr lang="en-US" altLang="zh-CN" b="0" i="0" smtClean="0">
                              <a:latin typeface="Cambria Math" panose="02040503050406030204" pitchFamily="18" charset="0"/>
                            </a:rPr>
                            <m:t>i</m:t>
                          </m:r>
                        </m:sub>
                      </m:sSub>
                      <m:r>
                        <a:rPr lang="en-US" altLang="zh-CN" b="0" i="0" smtClean="0">
                          <a:latin typeface="Cambria Math" panose="02040503050406030204" pitchFamily="18" charset="0"/>
                        </a:rPr>
                        <m:t>=</m:t>
                      </m:r>
                      <m:r>
                        <m:rPr>
                          <m:sty m:val="p"/>
                        </m:rPr>
                        <a:rPr lang="en-US" altLang="zh-CN" b="0" i="0" smtClean="0">
                          <a:latin typeface="Cambria Math" panose="02040503050406030204" pitchFamily="18" charset="0"/>
                        </a:rPr>
                        <m:t>random</m:t>
                      </m:r>
                      <m:r>
                        <a:rPr lang="en-US" altLang="zh-CN" b="0" i="0" smtClean="0">
                          <a:latin typeface="Cambria Math" panose="02040503050406030204" pitchFamily="18" charset="0"/>
                        </a:rPr>
                        <m:t>(</m:t>
                      </m:r>
                      <m:r>
                        <a:rPr lang="en-US" altLang="zh-CN" b="0" i="0" smtClean="0">
                          <a:latin typeface="Cambria Math" panose="02040503050406030204" pitchFamily="18" charset="0"/>
                        </a:rPr>
                        <m:t>1</m:t>
                      </m:r>
                      <m:r>
                        <a:rPr lang="en-US" altLang="zh-CN" b="0" i="0" smtClean="0">
                          <a:latin typeface="Cambria Math" panose="02040503050406030204" pitchFamily="18" charset="0"/>
                        </a:rPr>
                        <m:t>,</m:t>
                      </m:r>
                      <m:sSup>
                        <m:sSupPr>
                          <m:ctrlPr>
                            <a:rPr lang="en-US" altLang="zh-CN" b="0" smtClean="0">
                              <a:latin typeface="Cambria Math" panose="02040503050406030204" pitchFamily="18" charset="0"/>
                            </a:rPr>
                          </m:ctrlPr>
                        </m:sSupPr>
                        <m:e>
                          <m:r>
                            <a:rPr lang="en-US" altLang="zh-CN" b="0" i="0" smtClean="0">
                              <a:latin typeface="Cambria Math" panose="02040503050406030204" pitchFamily="18" charset="0"/>
                            </a:rPr>
                            <m:t>7</m:t>
                          </m:r>
                        </m:e>
                        <m:sup>
                          <m:r>
                            <a:rPr lang="en-US" altLang="zh-CN" b="0" i="0" smtClean="0">
                              <a:latin typeface="Cambria Math" panose="02040503050406030204" pitchFamily="18" charset="0"/>
                            </a:rPr>
                            <m:t>6</m:t>
                          </m:r>
                        </m:sup>
                      </m:sSup>
                      <m:r>
                        <a:rPr lang="en-US" altLang="zh-CN" b="0" i="0" smtClean="0">
                          <a:latin typeface="Cambria Math" panose="02040503050406030204" pitchFamily="18" charset="0"/>
                        </a:rPr>
                        <m:t>)</m:t>
                      </m:r>
                    </m:oMath>
                  </m:oMathPara>
                </a14:m>
                <a:endParaRPr lang="zh-CN" altLang="en-US" dirty="0"/>
              </a:p>
            </p:txBody>
          </p:sp>
        </mc:Choice>
        <mc:Fallback>
          <p:sp>
            <p:nvSpPr>
              <p:cNvPr id="7" name="文本框 6"/>
              <p:cNvSpPr txBox="1">
                <a:spLocks noRot="1" noChangeAspect="1" noMove="1" noResize="1" noEditPoints="1" noAdjustHandles="1" noChangeArrowheads="1" noChangeShapeType="1" noTextEdit="1"/>
              </p:cNvSpPr>
              <p:nvPr/>
            </p:nvSpPr>
            <p:spPr>
              <a:xfrm>
                <a:off x="3377481" y="2694606"/>
                <a:ext cx="4646657" cy="882742"/>
              </a:xfrm>
              <a:prstGeom prst="rect">
                <a:avLst/>
              </a:prstGeom>
              <a:blipFill rotWithShape="1">
                <a:blip r:embed="rId3"/>
                <a:stretch>
                  <a:fillRect l="-12" t="-34" r="6" b="45"/>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12" name="文本框 11"/>
              <p:cNvSpPr txBox="1"/>
              <p:nvPr/>
            </p:nvSpPr>
            <p:spPr>
              <a:xfrm>
                <a:off x="526473" y="4003766"/>
                <a:ext cx="10366428" cy="2246769"/>
              </a:xfrm>
              <a:prstGeom prst="rect">
                <a:avLst/>
              </a:prstGeom>
              <a:solidFill>
                <a:schemeClr val="accent5">
                  <a:lumMod val="20000"/>
                  <a:lumOff val="80000"/>
                </a:schemeClr>
              </a:solidFill>
            </p:spPr>
            <p:txBody>
              <a:bodyPr wrap="square">
                <a:spAutoFit/>
              </a:bodyPr>
              <a:lstStyle/>
              <a:p>
                <a:r>
                  <a:rPr lang="en-US" altLang="zh-CN" sz="2000" b="0" i="0" dirty="0">
                    <a:solidFill>
                      <a:srgbClr val="0F1115"/>
                    </a:solidFill>
                    <a:effectLst/>
                    <a:latin typeface="+mn-ea"/>
                  </a:rPr>
                  <a:t>Here, the "×" operation denotes uniformly multiplying each element in set </a:t>
                </a:r>
                <a:r>
                  <a:rPr lang="en-US" altLang="zh-CN" sz="2000" b="0" dirty="0">
                    <a:latin typeface="+mn-ea"/>
                  </a:rPr>
                  <a:t> </a:t>
                </a:r>
                <a14:m>
                  <m:oMath xmlns:m="http://schemas.openxmlformats.org/officeDocument/2006/math">
                    <m:sSub>
                      <m:sSubPr>
                        <m:ctrlPr>
                          <a:rPr lang="en-US" altLang="zh-CN" sz="2000" b="0" i="1" smtClean="0">
                            <a:latin typeface="+mn-ea"/>
                          </a:rPr>
                        </m:ctrlPr>
                      </m:sSubPr>
                      <m:e>
                        <m:r>
                          <m:rPr>
                            <m:sty m:val="p"/>
                          </m:rPr>
                          <a:rPr lang="en-US" altLang="zh-CN" sz="2000" b="0" i="0" smtClean="0">
                            <a:latin typeface="+mn-ea"/>
                          </a:rPr>
                          <m:t>A</m:t>
                        </m:r>
                      </m:e>
                      <m:sub>
                        <m:r>
                          <m:rPr>
                            <m:sty m:val="p"/>
                          </m:rPr>
                          <a:rPr lang="en-US" altLang="zh-CN" sz="2000" b="0" i="0" smtClean="0">
                            <a:latin typeface="+mn-ea"/>
                          </a:rPr>
                          <m:t>i</m:t>
                        </m:r>
                      </m:sub>
                    </m:sSub>
                    <m:r>
                      <a:rPr lang="en-US" altLang="zh-CN" sz="2000" b="0" i="1" smtClean="0">
                        <a:latin typeface="+mn-ea"/>
                      </a:rPr>
                      <m:t> </m:t>
                    </m:r>
                  </m:oMath>
                </a14:m>
                <a:r>
                  <a:rPr lang="en-US" altLang="zh-CN" sz="2000" b="0" i="0" dirty="0">
                    <a:solidFill>
                      <a:srgbClr val="0F1115"/>
                    </a:solidFill>
                    <a:effectLst/>
                    <a:latin typeface="+mn-ea"/>
                  </a:rPr>
                  <a:t> by the weight </a:t>
                </a:r>
                <a14:m>
                  <m:oMath xmlns:m="http://schemas.openxmlformats.org/officeDocument/2006/math">
                    <m:sSub>
                      <m:sSubPr>
                        <m:ctrlPr>
                          <a:rPr lang="en-US" altLang="zh-CN" sz="2000" i="1">
                            <a:latin typeface="+mn-ea"/>
                          </a:rPr>
                        </m:ctrlPr>
                      </m:sSubPr>
                      <m:e>
                        <m:r>
                          <m:rPr>
                            <m:sty m:val="p"/>
                          </m:rPr>
                          <a:rPr lang="en-US" altLang="zh-CN" sz="2000">
                            <a:latin typeface="+mn-ea"/>
                          </a:rPr>
                          <m:t>factor</m:t>
                        </m:r>
                      </m:e>
                      <m:sub>
                        <m:r>
                          <m:rPr>
                            <m:sty m:val="p"/>
                          </m:rPr>
                          <a:rPr lang="en-US" altLang="zh-CN" sz="2000">
                            <a:latin typeface="+mn-ea"/>
                          </a:rPr>
                          <m:t>i</m:t>
                        </m:r>
                      </m:sub>
                    </m:sSub>
                  </m:oMath>
                </a14:m>
                <a:r>
                  <a:rPr lang="en-US" altLang="zh-CN" sz="2000" b="0" i="0" dirty="0">
                    <a:solidFill>
                      <a:srgbClr val="0F1115"/>
                    </a:solidFill>
                    <a:effectLst/>
                    <a:latin typeface="+mn-ea"/>
                  </a:rPr>
                  <a:t> .This hierarchical structure ensures that the decomposability of each</a:t>
                </a:r>
                <a14:m>
                  <m:oMath xmlns:m="http://schemas.openxmlformats.org/officeDocument/2006/math">
                    <m:sSub>
                      <m:sSubPr>
                        <m:ctrlPr>
                          <a:rPr lang="en-US" altLang="zh-CN" sz="2000" i="1">
                            <a:latin typeface="+mn-ea"/>
                          </a:rPr>
                        </m:ctrlPr>
                      </m:sSubPr>
                      <m:e>
                        <m:r>
                          <a:rPr lang="en-US" altLang="zh-CN" sz="2000" b="0" i="0" smtClean="0">
                            <a:latin typeface="+mn-ea"/>
                          </a:rPr>
                          <m:t> </m:t>
                        </m:r>
                        <m:r>
                          <m:rPr>
                            <m:sty m:val="p"/>
                          </m:rPr>
                          <a:rPr lang="en-US" altLang="zh-CN" sz="2000">
                            <a:latin typeface="+mn-ea"/>
                          </a:rPr>
                          <m:t>A</m:t>
                        </m:r>
                      </m:e>
                      <m:sub>
                        <m:r>
                          <m:rPr>
                            <m:sty m:val="p"/>
                          </m:rPr>
                          <a:rPr lang="en-US" altLang="zh-CN" sz="2000">
                            <a:latin typeface="+mn-ea"/>
                          </a:rPr>
                          <m:t>i</m:t>
                        </m:r>
                      </m:sub>
                    </m:sSub>
                    <m:r>
                      <a:rPr lang="en-US" altLang="zh-CN" sz="2000" i="1">
                        <a:latin typeface="+mn-ea"/>
                      </a:rPr>
                      <m:t> </m:t>
                    </m:r>
                  </m:oMath>
                </a14:m>
                <a:r>
                  <a:rPr lang="en-US" altLang="zh-CN" sz="2000" dirty="0">
                    <a:solidFill>
                      <a:srgbClr val="0F1115"/>
                    </a:solidFill>
                    <a:latin typeface="+mn-ea"/>
                  </a:rPr>
                  <a:t> </a:t>
                </a:r>
                <a:r>
                  <a:rPr lang="en-US" altLang="zh-CN" sz="2000" b="0" i="0" dirty="0">
                    <a:solidFill>
                      <a:srgbClr val="0F1115"/>
                    </a:solidFill>
                    <a:effectLst/>
                    <a:latin typeface="+mn-ea"/>
                  </a:rPr>
                  <a:t>is preserved after combination.</a:t>
                </a:r>
                <a:endParaRPr lang="en-US" altLang="zh-CN" sz="2000" b="0" i="0" dirty="0">
                  <a:solidFill>
                    <a:srgbClr val="0F1115"/>
                  </a:solidFill>
                  <a:effectLst/>
                  <a:latin typeface="+mn-ea"/>
                </a:endParaRPr>
              </a:p>
              <a:p>
                <a:r>
                  <a:rPr lang="en-US" altLang="zh-CN" sz="2000" dirty="0">
                    <a:solidFill>
                      <a:srgbClr val="0F1115"/>
                    </a:solidFill>
                    <a:latin typeface="+mn-ea"/>
                  </a:rPr>
                  <a:t>For each instance, we run ./</a:t>
                </a:r>
                <a:r>
                  <a:rPr lang="en-US" altLang="zh-CN" sz="2000" dirty="0" err="1">
                    <a:solidFill>
                      <a:srgbClr val="0F1115"/>
                    </a:solidFill>
                    <a:latin typeface="+mn-ea"/>
                  </a:rPr>
                  <a:t>sa</a:t>
                </a:r>
                <a:r>
                  <a:rPr lang="en-US" altLang="zh-CN" sz="2000" dirty="0">
                    <a:solidFill>
                      <a:srgbClr val="0F1115"/>
                    </a:solidFill>
                    <a:latin typeface="+mn-ea"/>
                  </a:rPr>
                  <a:t> for most 10 times, until it finds solution. We also collect how many times the program running when it finds solution.</a:t>
                </a:r>
                <a:endParaRPr lang="en-US" altLang="zh-CN" sz="2000" dirty="0">
                  <a:solidFill>
                    <a:srgbClr val="0F1115"/>
                  </a:solidFill>
                  <a:latin typeface="+mn-ea"/>
                </a:endParaRPr>
              </a:p>
              <a:p>
                <a:r>
                  <a:rPr lang="en-US" altLang="zh-CN" sz="2000" dirty="0">
                    <a:solidFill>
                      <a:srgbClr val="0F1115"/>
                    </a:solidFill>
                    <a:latin typeface="+mn-ea"/>
                  </a:rPr>
                  <a:t>In testing, we have </a:t>
                </a:r>
                <a14:m>
                  <m:oMath xmlns:m="http://schemas.openxmlformats.org/officeDocument/2006/math">
                    <m:r>
                      <a:rPr lang="en-US" altLang="zh-CN" sz="2000" b="0" i="1" smtClean="0">
                        <a:solidFill>
                          <a:srgbClr val="0F1115"/>
                        </a:solidFill>
                        <a:latin typeface="+mn-ea"/>
                      </a:rPr>
                      <m:t>𝑚</m:t>
                    </m:r>
                    <m:r>
                      <a:rPr lang="en-US" altLang="zh-CN" sz="2000" b="0" i="1" smtClean="0">
                        <a:solidFill>
                          <a:srgbClr val="0F1115"/>
                        </a:solidFill>
                        <a:latin typeface="+mn-ea"/>
                      </a:rPr>
                      <m:t>=</m:t>
                    </m:r>
                    <m:r>
                      <a:rPr lang="en-US" altLang="zh-CN" sz="2000" b="0" i="1" smtClean="0">
                        <a:solidFill>
                          <a:srgbClr val="0F1115"/>
                        </a:solidFill>
                        <a:latin typeface="+mn-ea"/>
                      </a:rPr>
                      <m:t>20</m:t>
                    </m:r>
                    <m:r>
                      <a:rPr lang="en-US" altLang="zh-CN" sz="2000" b="0" i="1" smtClean="0">
                        <a:solidFill>
                          <a:srgbClr val="0F1115"/>
                        </a:solidFill>
                        <a:latin typeface="+mn-ea"/>
                      </a:rPr>
                      <m:t>,</m:t>
                    </m:r>
                    <m:r>
                      <a:rPr lang="en-US" altLang="zh-CN" sz="2000" b="0" i="1" smtClean="0">
                        <a:solidFill>
                          <a:srgbClr val="0F1115"/>
                        </a:solidFill>
                        <a:latin typeface="+mn-ea"/>
                      </a:rPr>
                      <m:t>𝑘</m:t>
                    </m:r>
                    <m:r>
                      <a:rPr lang="en-US" altLang="zh-CN" sz="2000" b="0" i="1" smtClean="0">
                        <a:solidFill>
                          <a:srgbClr val="0F1115"/>
                        </a:solidFill>
                        <a:latin typeface="+mn-ea"/>
                      </a:rPr>
                      <m:t>≥</m:t>
                    </m:r>
                    <m:r>
                      <a:rPr lang="en-US" altLang="zh-CN" sz="2000" b="0" i="1" smtClean="0">
                        <a:solidFill>
                          <a:srgbClr val="0F1115"/>
                        </a:solidFill>
                        <a:latin typeface="+mn-ea"/>
                      </a:rPr>
                      <m:t>10</m:t>
                    </m:r>
                    <m:r>
                      <a:rPr lang="en-US" altLang="zh-CN" sz="2000" b="0" i="0" smtClean="0">
                        <a:solidFill>
                          <a:srgbClr val="0F1115"/>
                        </a:solidFill>
                        <a:latin typeface="+mn-ea"/>
                      </a:rPr>
                      <m:t>.</m:t>
                    </m:r>
                  </m:oMath>
                </a14:m>
                <a:r>
                  <a:rPr lang="zh-CN" altLang="en-US" sz="2000" dirty="0">
                    <a:latin typeface="+mn-ea"/>
                  </a:rPr>
                  <a:t> </a:t>
                </a:r>
                <a:r>
                  <a:rPr lang="en-US" altLang="zh-CN" sz="2000" dirty="0">
                    <a:latin typeface="+mn-ea"/>
                  </a:rPr>
                  <a:t>After testing 10000 instances, the program only failed in 73 </a:t>
                </a:r>
                <a:r>
                  <a:rPr lang="en-US" altLang="zh-CN" sz="2000" dirty="0" err="1">
                    <a:latin typeface="+mn-ea"/>
                  </a:rPr>
                  <a:t>instances,and</a:t>
                </a:r>
                <a:r>
                  <a:rPr lang="en-US" altLang="zh-CN" sz="2000" dirty="0">
                    <a:latin typeface="+mn-ea"/>
                  </a:rPr>
                  <a:t> the average first restart count of successful cases is 1.10.</a:t>
                </a:r>
                <a:endParaRPr lang="zh-CN" altLang="en-US" sz="2000" dirty="0">
                  <a:latin typeface="+mn-ea"/>
                </a:endParaRPr>
              </a:p>
            </p:txBody>
          </p:sp>
        </mc:Choice>
        <mc:Fallback>
          <p:sp>
            <p:nvSpPr>
              <p:cNvPr id="12" name="文本框 11"/>
              <p:cNvSpPr txBox="1">
                <a:spLocks noRot="1" noChangeAspect="1" noMove="1" noResize="1" noEditPoints="1" noAdjustHandles="1" noChangeArrowheads="1" noChangeShapeType="1" noTextEdit="1"/>
              </p:cNvSpPr>
              <p:nvPr/>
            </p:nvSpPr>
            <p:spPr>
              <a:xfrm>
                <a:off x="526473" y="4003766"/>
                <a:ext cx="10366428" cy="2246769"/>
              </a:xfrm>
              <a:prstGeom prst="rect">
                <a:avLst/>
              </a:prstGeom>
              <a:blipFill rotWithShape="1">
                <a:blip r:embed="rId4"/>
                <a:stretch>
                  <a:fillRect l="-1" t="-4" r="1" b="10"/>
                </a:stretch>
              </a:blipFill>
            </p:spPr>
            <p:txBody>
              <a:bodyPr/>
              <a:lstStyle/>
              <a:p>
                <a:r>
                  <a:rPr lang="en-US"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332509" y="415637"/>
            <a:ext cx="8035637" cy="411017"/>
            <a:chOff x="387927" y="452582"/>
            <a:chExt cx="8035637" cy="411017"/>
          </a:xfrm>
        </p:grpSpPr>
        <p:sp>
          <p:nvSpPr>
            <p:cNvPr id="2" name="矩形 1"/>
            <p:cNvSpPr/>
            <p:nvPr/>
          </p:nvSpPr>
          <p:spPr>
            <a:xfrm>
              <a:off x="387927" y="452582"/>
              <a:ext cx="387928" cy="184727"/>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581891" y="544945"/>
              <a:ext cx="512618" cy="318654"/>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5" name="直接连接符 4"/>
            <p:cNvCxnSpPr/>
            <p:nvPr/>
          </p:nvCxnSpPr>
          <p:spPr>
            <a:xfrm>
              <a:off x="951345" y="826655"/>
              <a:ext cx="7472219"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grpSp>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929268" y="277013"/>
            <a:ext cx="2045209" cy="568113"/>
          </a:xfrm>
          <a:prstGeom prst="rect">
            <a:avLst/>
          </a:prstGeom>
        </p:spPr>
      </p:pic>
      <p:sp>
        <p:nvSpPr>
          <p:cNvPr id="9" name="文本框 8"/>
          <p:cNvSpPr txBox="1"/>
          <p:nvPr/>
        </p:nvSpPr>
        <p:spPr>
          <a:xfrm>
            <a:off x="1165161" y="269066"/>
            <a:ext cx="4930839" cy="523220"/>
          </a:xfrm>
          <a:prstGeom prst="rect">
            <a:avLst/>
          </a:prstGeom>
          <a:noFill/>
        </p:spPr>
        <p:txBody>
          <a:bodyPr wrap="square" rtlCol="0">
            <a:spAutoFit/>
          </a:bodyPr>
          <a:lstStyle/>
          <a:p>
            <a:r>
              <a:rPr lang="en-US" altLang="zh-CN" sz="2800" spc="400" dirty="0">
                <a:solidFill>
                  <a:srgbClr val="003F88"/>
                </a:solidFill>
              </a:rPr>
              <a:t>Test of SA</a:t>
            </a:r>
            <a:endParaRPr lang="zh-CN" altLang="en-US" sz="2800" spc="400" dirty="0">
              <a:solidFill>
                <a:srgbClr val="003F88"/>
              </a:solidFill>
            </a:endParaRPr>
          </a:p>
        </p:txBody>
      </p:sp>
      <mc:AlternateContent xmlns:mc="http://schemas.openxmlformats.org/markup-compatibility/2006">
        <mc:Choice xmlns:a14="http://schemas.microsoft.com/office/drawing/2010/main" Requires="a14">
          <p:sp>
            <p:nvSpPr>
              <p:cNvPr id="10" name="文本框 9"/>
              <p:cNvSpPr txBox="1"/>
              <p:nvPr/>
            </p:nvSpPr>
            <p:spPr>
              <a:xfrm>
                <a:off x="526473" y="1365770"/>
                <a:ext cx="10724942" cy="4248535"/>
              </a:xfrm>
              <a:prstGeom prst="rect">
                <a:avLst/>
              </a:prstGeom>
              <a:solidFill>
                <a:schemeClr val="accent5">
                  <a:lumMod val="20000"/>
                  <a:lumOff val="80000"/>
                </a:schemeClr>
              </a:solidFill>
            </p:spPr>
            <p:txBody>
              <a:bodyPr wrap="square" rtlCol="0">
                <a:spAutoFit/>
              </a:bodyPr>
              <a:lstStyle/>
              <a:p>
                <a:pPr algn="l">
                  <a:lnSpc>
                    <a:spcPts val="2500"/>
                  </a:lnSpc>
                </a:pPr>
                <a:r>
                  <a:rPr lang="en-US" altLang="zh-CN" sz="2000" b="0" i="0" dirty="0">
                    <a:solidFill>
                      <a:srgbClr val="0F1115"/>
                    </a:solidFill>
                    <a:effectLst/>
                    <a:latin typeface="+mn-ea"/>
                  </a:rPr>
                  <a:t>Greedy </a:t>
                </a:r>
                <a:r>
                  <a:rPr lang="en-US" altLang="zh-CN" sz="2000" b="0" i="0" dirty="0" err="1">
                    <a:solidFill>
                      <a:srgbClr val="0F1115"/>
                    </a:solidFill>
                    <a:effectLst/>
                    <a:latin typeface="+mn-ea"/>
                  </a:rPr>
                  <a:t>fill-in:To</a:t>
                </a:r>
                <a:r>
                  <a:rPr lang="en-US" altLang="zh-CN" sz="2000" b="0" i="0" dirty="0">
                    <a:solidFill>
                      <a:srgbClr val="0F1115"/>
                    </a:solidFill>
                    <a:effectLst/>
                    <a:latin typeface="+mn-ea"/>
                  </a:rPr>
                  <a:t> further evaluate the performance and stability of the Simulated Annealing algorithm, we constructed an additional category of test sets guaranteed to contain feasible solutions. The generation script strictly controls the total sum and element construction method, </a:t>
                </a:r>
                <a:r>
                  <a:rPr lang="en-US" altLang="zh-CN" sz="2000" b="1" i="0" dirty="0">
                    <a:solidFill>
                      <a:srgbClr val="0F1115"/>
                    </a:solidFill>
                    <a:effectLst/>
                    <a:latin typeface="+mn-ea"/>
                  </a:rPr>
                  <a:t>ensuring every input instance satisfies the solvability conditions for the three-way partitioning problem</a:t>
                </a:r>
                <a:r>
                  <a:rPr lang="en-US" altLang="zh-CN" sz="2000" b="0" i="0" dirty="0">
                    <a:solidFill>
                      <a:srgbClr val="0F1115"/>
                    </a:solidFill>
                    <a:effectLst/>
                    <a:latin typeface="+mn-ea"/>
                  </a:rPr>
                  <a:t>.</a:t>
                </a:r>
                <a:endParaRPr lang="en-US" altLang="zh-CN" sz="2000" b="0" i="0" dirty="0">
                  <a:solidFill>
                    <a:srgbClr val="0F1115"/>
                  </a:solidFill>
                  <a:effectLst/>
                  <a:latin typeface="+mn-ea"/>
                </a:endParaRPr>
              </a:p>
              <a:p>
                <a:pPr algn="l">
                  <a:lnSpc>
                    <a:spcPts val="2500"/>
                  </a:lnSpc>
                </a:pPr>
                <a:r>
                  <a:rPr lang="en-US" altLang="zh-CN" sz="2000" b="0" i="0" dirty="0">
                    <a:solidFill>
                      <a:srgbClr val="0F1115"/>
                    </a:solidFill>
                    <a:effectLst/>
                    <a:latin typeface="+mn-ea"/>
                  </a:rPr>
                  <a:t>During the generation phase, the script fixes the array length (set to </a:t>
                </a:r>
                <a14:m>
                  <m:oMath xmlns:m="http://schemas.openxmlformats.org/officeDocument/2006/math">
                    <m:r>
                      <a:rPr lang="en-US" altLang="zh-CN" sz="2000" b="0" i="1" dirty="0" smtClean="0">
                        <a:solidFill>
                          <a:srgbClr val="0F1115"/>
                        </a:solidFill>
                        <a:effectLst/>
                        <a:latin typeface="+mn-ea"/>
                      </a:rPr>
                      <m:t>𝑛</m:t>
                    </m:r>
                    <m:r>
                      <a:rPr lang="en-US" altLang="zh-CN" sz="2000" b="0" i="1" dirty="0" smtClean="0">
                        <a:solidFill>
                          <a:srgbClr val="0F1115"/>
                        </a:solidFill>
                        <a:effectLst/>
                        <a:latin typeface="+mn-ea"/>
                      </a:rPr>
                      <m:t>=</m:t>
                    </m:r>
                    <m:r>
                      <a:rPr lang="en-US" altLang="zh-CN" sz="2000" b="0" i="1" dirty="0" smtClean="0">
                        <a:solidFill>
                          <a:srgbClr val="0F1115"/>
                        </a:solidFill>
                        <a:effectLst/>
                        <a:latin typeface="+mn-ea"/>
                      </a:rPr>
                      <m:t>1000</m:t>
                    </m:r>
                  </m:oMath>
                </a14:m>
                <a:r>
                  <a:rPr lang="en-US" altLang="zh-CN" sz="2000" b="0" i="0" dirty="0">
                    <a:solidFill>
                      <a:srgbClr val="0F1115"/>
                    </a:solidFill>
                    <a:effectLst/>
                    <a:latin typeface="+mn-ea"/>
                  </a:rPr>
                  <a:t> in this experiment) and restricts all elements to the range </a:t>
                </a:r>
                <a14:m>
                  <m:oMath xmlns:m="http://schemas.openxmlformats.org/officeDocument/2006/math">
                    <m:r>
                      <a:rPr lang="en-US" altLang="zh-CN" sz="2000" b="0" i="1" smtClean="0">
                        <a:solidFill>
                          <a:srgbClr val="0F1115"/>
                        </a:solidFill>
                        <a:effectLst/>
                        <a:latin typeface="+mn-ea"/>
                      </a:rPr>
                      <m:t>[</m:t>
                    </m:r>
                    <m:r>
                      <a:rPr lang="en-US" altLang="zh-CN" sz="2000" b="0" i="1" smtClean="0">
                        <a:solidFill>
                          <a:srgbClr val="0F1115"/>
                        </a:solidFill>
                        <a:effectLst/>
                        <a:latin typeface="+mn-ea"/>
                      </a:rPr>
                      <m:t>1</m:t>
                    </m:r>
                    <m:r>
                      <a:rPr lang="en-US" altLang="zh-CN" sz="2000" b="0" i="1" smtClean="0">
                        <a:solidFill>
                          <a:srgbClr val="0F1115"/>
                        </a:solidFill>
                        <a:effectLst/>
                        <a:latin typeface="+mn-ea"/>
                      </a:rPr>
                      <m:t>,</m:t>
                    </m:r>
                    <m:sSup>
                      <m:sSupPr>
                        <m:ctrlPr>
                          <a:rPr lang="en-US" altLang="zh-CN" sz="2000" b="0" i="1" smtClean="0">
                            <a:solidFill>
                              <a:srgbClr val="0F1115"/>
                            </a:solidFill>
                            <a:effectLst/>
                            <a:latin typeface="+mn-ea"/>
                          </a:rPr>
                        </m:ctrlPr>
                      </m:sSupPr>
                      <m:e>
                        <m:r>
                          <a:rPr lang="en-US" altLang="zh-CN" sz="2000" b="0" i="1" smtClean="0">
                            <a:solidFill>
                              <a:srgbClr val="0F1115"/>
                            </a:solidFill>
                            <a:effectLst/>
                            <a:latin typeface="+mn-ea"/>
                          </a:rPr>
                          <m:t>10</m:t>
                        </m:r>
                      </m:e>
                      <m:sup>
                        <m:r>
                          <a:rPr lang="en-US" altLang="zh-CN" sz="2000" b="0" i="1" smtClean="0">
                            <a:solidFill>
                              <a:srgbClr val="0F1115"/>
                            </a:solidFill>
                            <a:effectLst/>
                            <a:latin typeface="+mn-ea"/>
                          </a:rPr>
                          <m:t>6</m:t>
                        </m:r>
                      </m:sup>
                    </m:sSup>
                    <m:r>
                      <a:rPr lang="en-US" altLang="zh-CN" sz="2000" b="0" i="1" smtClean="0">
                        <a:solidFill>
                          <a:srgbClr val="0F1115"/>
                        </a:solidFill>
                        <a:effectLst/>
                        <a:latin typeface="+mn-ea"/>
                      </a:rPr>
                      <m:t>]</m:t>
                    </m:r>
                  </m:oMath>
                </a14:m>
                <a:r>
                  <a:rPr lang="en-US" altLang="zh-CN" sz="2000" b="0" i="0" dirty="0">
                    <a:solidFill>
                      <a:srgbClr val="0F1115"/>
                    </a:solidFill>
                    <a:effectLst/>
                    <a:latin typeface="+mn-ea"/>
                  </a:rPr>
                  <a:t>.</a:t>
                </a:r>
                <a:r>
                  <a:rPr lang="en-US" altLang="zh-CN" sz="2000" b="1" i="0" dirty="0">
                    <a:solidFill>
                      <a:srgbClr val="0F1115"/>
                    </a:solidFill>
                    <a:effectLst/>
                    <a:latin typeface="+mn-ea"/>
                  </a:rPr>
                  <a:t>Balanced target sums</a:t>
                </a:r>
                <a:r>
                  <a:rPr lang="en-US" altLang="zh-CN" sz="2000" b="0" i="0" dirty="0">
                    <a:solidFill>
                      <a:srgbClr val="0F1115"/>
                    </a:solidFill>
                    <a:effectLst/>
                    <a:latin typeface="+mn-ea"/>
                  </a:rPr>
                  <a:t> are first allocated to the three buckets. The script then gradually populates each bucket with randomly generated numbers while ensuring the target sums are not exceeded. Finally, a consistency adjustment is performed to make the total sum of the array strictly divisible by the number of buckets, thereby guaranteeing the existence of a perfect three-way partition for every generated instance.</a:t>
                </a:r>
                <a:endParaRPr lang="en-US" altLang="zh-CN" sz="2000" b="0" i="0" dirty="0">
                  <a:solidFill>
                    <a:srgbClr val="0F1115"/>
                  </a:solidFill>
                  <a:effectLst/>
                  <a:latin typeface="+mn-ea"/>
                </a:endParaRPr>
              </a:p>
              <a:p>
                <a:pPr>
                  <a:lnSpc>
                    <a:spcPts val="2500"/>
                  </a:lnSpc>
                </a:pPr>
                <a:r>
                  <a:rPr lang="en-US" altLang="zh-CN" sz="2000" dirty="0">
                    <a:latin typeface="+mn-ea"/>
                  </a:rPr>
                  <a:t>After testing 1000 instances, the program failed in 534 </a:t>
                </a:r>
                <a:r>
                  <a:rPr lang="en-US" altLang="zh-CN" sz="2000" dirty="0" err="1">
                    <a:latin typeface="+mn-ea"/>
                  </a:rPr>
                  <a:t>instances,and</a:t>
                </a:r>
                <a:r>
                  <a:rPr lang="en-US" altLang="zh-CN" sz="2000" dirty="0">
                    <a:latin typeface="+mn-ea"/>
                  </a:rPr>
                  <a:t> the average first restart count of successful cases is 1.18.</a:t>
                </a:r>
                <a:endParaRPr lang="zh-CN" altLang="en-US" sz="2000" dirty="0">
                  <a:latin typeface="+mn-ea"/>
                </a:endParaRPr>
              </a:p>
            </p:txBody>
          </p:sp>
        </mc:Choice>
        <mc:Fallback>
          <p:sp>
            <p:nvSpPr>
              <p:cNvPr id="10" name="文本框 9"/>
              <p:cNvSpPr txBox="1">
                <a:spLocks noRot="1" noChangeAspect="1" noMove="1" noResize="1" noEditPoints="1" noAdjustHandles="1" noChangeArrowheads="1" noChangeShapeType="1" noTextEdit="1"/>
              </p:cNvSpPr>
              <p:nvPr/>
            </p:nvSpPr>
            <p:spPr>
              <a:xfrm>
                <a:off x="526473" y="1365770"/>
                <a:ext cx="10724942" cy="4248535"/>
              </a:xfrm>
              <a:prstGeom prst="rect">
                <a:avLst/>
              </a:prstGeom>
              <a:blipFill rotWithShape="1">
                <a:blip r:embed="rId2"/>
                <a:stretch>
                  <a:fillRect l="-1" t="-12" r="5" b="-5688"/>
                </a:stretch>
              </a:blipFill>
            </p:spPr>
            <p:txBody>
              <a:bodyPr/>
              <a:lstStyle/>
              <a:p>
                <a:r>
                  <a:rPr lang="en-US"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332509" y="415637"/>
            <a:ext cx="8035637" cy="411017"/>
            <a:chOff x="387927" y="452582"/>
            <a:chExt cx="8035637" cy="411017"/>
          </a:xfrm>
        </p:grpSpPr>
        <p:sp>
          <p:nvSpPr>
            <p:cNvPr id="2" name="矩形 1"/>
            <p:cNvSpPr/>
            <p:nvPr/>
          </p:nvSpPr>
          <p:spPr>
            <a:xfrm>
              <a:off x="387927" y="452582"/>
              <a:ext cx="387928" cy="184727"/>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581891" y="544945"/>
              <a:ext cx="512618" cy="318654"/>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5" name="直接连接符 4"/>
            <p:cNvCxnSpPr/>
            <p:nvPr/>
          </p:nvCxnSpPr>
          <p:spPr>
            <a:xfrm>
              <a:off x="951345" y="826655"/>
              <a:ext cx="7472219"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grpSp>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929268" y="277013"/>
            <a:ext cx="2045209" cy="568113"/>
          </a:xfrm>
          <a:prstGeom prst="rect">
            <a:avLst/>
          </a:prstGeom>
        </p:spPr>
      </p:pic>
      <p:sp>
        <p:nvSpPr>
          <p:cNvPr id="9" name="文本框 8"/>
          <p:cNvSpPr txBox="1"/>
          <p:nvPr/>
        </p:nvSpPr>
        <p:spPr>
          <a:xfrm>
            <a:off x="1165161" y="269066"/>
            <a:ext cx="4930839" cy="523220"/>
          </a:xfrm>
          <a:prstGeom prst="rect">
            <a:avLst/>
          </a:prstGeom>
          <a:noFill/>
        </p:spPr>
        <p:txBody>
          <a:bodyPr wrap="square" rtlCol="0">
            <a:spAutoFit/>
          </a:bodyPr>
          <a:lstStyle/>
          <a:p>
            <a:r>
              <a:rPr lang="en-US" altLang="zh-CN" sz="2800" spc="400" dirty="0">
                <a:solidFill>
                  <a:srgbClr val="003F88"/>
                </a:solidFill>
              </a:rPr>
              <a:t>Test of SA</a:t>
            </a:r>
            <a:endParaRPr lang="zh-CN" altLang="en-US" sz="2800" spc="400" dirty="0">
              <a:solidFill>
                <a:srgbClr val="003F88"/>
              </a:solidFill>
            </a:endParaRPr>
          </a:p>
        </p:txBody>
      </p:sp>
      <p:sp>
        <p:nvSpPr>
          <p:cNvPr id="4" name="文本框 3"/>
          <p:cNvSpPr txBox="1"/>
          <p:nvPr/>
        </p:nvSpPr>
        <p:spPr>
          <a:xfrm>
            <a:off x="526473" y="1310355"/>
            <a:ext cx="10307875" cy="3785652"/>
          </a:xfrm>
          <a:prstGeom prst="rect">
            <a:avLst/>
          </a:prstGeom>
          <a:solidFill>
            <a:schemeClr val="accent5">
              <a:lumMod val="20000"/>
              <a:lumOff val="80000"/>
            </a:schemeClr>
          </a:solidFill>
        </p:spPr>
        <p:txBody>
          <a:bodyPr wrap="square" rtlCol="0">
            <a:spAutoFit/>
          </a:bodyPr>
          <a:lstStyle/>
          <a:p>
            <a:r>
              <a:rPr lang="en-US" altLang="zh-CN" sz="2400" b="0" i="0" dirty="0">
                <a:solidFill>
                  <a:srgbClr val="0F1115"/>
                </a:solidFill>
                <a:effectLst/>
                <a:latin typeface="+mn-ea"/>
              </a:rPr>
              <a:t>It is evident that the construction method of </a:t>
            </a:r>
            <a:r>
              <a:rPr lang="en-US" altLang="zh-CN" sz="2400" b="1" i="0" dirty="0">
                <a:solidFill>
                  <a:srgbClr val="0F1115"/>
                </a:solidFill>
                <a:effectLst/>
                <a:latin typeface="+mn-ea"/>
              </a:rPr>
              <a:t>base construction introduces significantly less randomness compared to greedy fill-in</a:t>
            </a:r>
            <a:r>
              <a:rPr lang="en-US" altLang="zh-CN" sz="2400" b="0" i="0" dirty="0">
                <a:solidFill>
                  <a:srgbClr val="0F1115"/>
                </a:solidFill>
                <a:effectLst/>
                <a:latin typeface="+mn-ea"/>
              </a:rPr>
              <a:t>. However, the fact that ./</a:t>
            </a:r>
            <a:r>
              <a:rPr lang="en-US" altLang="zh-CN" sz="2400" b="0" i="0" dirty="0" err="1">
                <a:solidFill>
                  <a:srgbClr val="0F1115"/>
                </a:solidFill>
                <a:effectLst/>
                <a:latin typeface="+mn-ea"/>
              </a:rPr>
              <a:t>sa</a:t>
            </a:r>
            <a:r>
              <a:rPr lang="en-US" altLang="zh-CN" sz="2400" b="0" i="0" dirty="0">
                <a:solidFill>
                  <a:srgbClr val="0F1115"/>
                </a:solidFill>
                <a:effectLst/>
                <a:latin typeface="+mn-ea"/>
              </a:rPr>
              <a:t> performs so effectively on solutions obtained through base construction may suggest an approach to </a:t>
            </a:r>
            <a:r>
              <a:rPr lang="en-US" altLang="zh-CN" sz="2400" b="1" i="0" dirty="0">
                <a:solidFill>
                  <a:srgbClr val="0F1115"/>
                </a:solidFill>
                <a:effectLst/>
                <a:latin typeface="+mn-ea"/>
              </a:rPr>
              <a:t>imposing additional constraints on the three-way partitioning problem</a:t>
            </a:r>
            <a:r>
              <a:rPr lang="en-US" altLang="zh-CN" sz="2400" b="0" i="0" dirty="0">
                <a:solidFill>
                  <a:srgbClr val="0F1115"/>
                </a:solidFill>
                <a:effectLst/>
                <a:latin typeface="+mn-ea"/>
              </a:rPr>
              <a:t>, enabling this ./</a:t>
            </a:r>
            <a:r>
              <a:rPr lang="en-US" altLang="zh-CN" sz="2400" b="0" i="0" dirty="0" err="1">
                <a:solidFill>
                  <a:srgbClr val="0F1115"/>
                </a:solidFill>
                <a:effectLst/>
                <a:latin typeface="+mn-ea"/>
              </a:rPr>
              <a:t>sa</a:t>
            </a:r>
            <a:r>
              <a:rPr lang="en-US" altLang="zh-CN" sz="2400" b="0" i="0" dirty="0">
                <a:solidFill>
                  <a:srgbClr val="0F1115"/>
                </a:solidFill>
                <a:effectLst/>
                <a:latin typeface="+mn-ea"/>
              </a:rPr>
              <a:t> to solve it more efficiently. Furthermore, despite the substantial gap in success rates between the two methods, when the maximum number of restarts is set to 10, their average number of initial successes is remarkably close to 1. This indicates that </a:t>
            </a:r>
            <a:r>
              <a:rPr lang="en-US" altLang="zh-CN" sz="2400" b="1" i="0" dirty="0">
                <a:solidFill>
                  <a:srgbClr val="0F1115"/>
                </a:solidFill>
                <a:effectLst/>
                <a:latin typeface="+mn-ea"/>
              </a:rPr>
              <a:t>simply increasing the number of restarts within a certain scale does not effectively enhance the performance of SA.</a:t>
            </a:r>
            <a:endParaRPr lang="zh-CN" altLang="en-US" sz="2400" b="1" dirty="0">
              <a:latin typeface="+mn-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332509" y="415637"/>
            <a:ext cx="8035637" cy="411017"/>
            <a:chOff x="387927" y="452582"/>
            <a:chExt cx="8035637" cy="411017"/>
          </a:xfrm>
        </p:grpSpPr>
        <p:sp>
          <p:nvSpPr>
            <p:cNvPr id="2" name="矩形 1"/>
            <p:cNvSpPr/>
            <p:nvPr/>
          </p:nvSpPr>
          <p:spPr>
            <a:xfrm>
              <a:off x="387927" y="452582"/>
              <a:ext cx="387928" cy="184727"/>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581891" y="544945"/>
              <a:ext cx="512618" cy="318654"/>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5" name="直接连接符 4"/>
            <p:cNvCxnSpPr/>
            <p:nvPr/>
          </p:nvCxnSpPr>
          <p:spPr>
            <a:xfrm>
              <a:off x="951345" y="826655"/>
              <a:ext cx="7472219" cy="0"/>
            </a:xfrm>
            <a:prstGeom prst="line">
              <a:avLst/>
            </a:prstGeom>
            <a:ln w="57150">
              <a:solidFill>
                <a:srgbClr val="003F88"/>
              </a:solidFill>
            </a:ln>
          </p:spPr>
          <p:style>
            <a:lnRef idx="1">
              <a:schemeClr val="accent1"/>
            </a:lnRef>
            <a:fillRef idx="0">
              <a:schemeClr val="accent1"/>
            </a:fillRef>
            <a:effectRef idx="0">
              <a:schemeClr val="accent1"/>
            </a:effectRef>
            <a:fontRef idx="minor">
              <a:schemeClr val="tx1"/>
            </a:fontRef>
          </p:style>
        </p:cxnSp>
      </p:grpSp>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929268" y="277013"/>
            <a:ext cx="2045209" cy="568113"/>
          </a:xfrm>
          <a:prstGeom prst="rect">
            <a:avLst/>
          </a:prstGeom>
        </p:spPr>
      </p:pic>
      <p:sp>
        <p:nvSpPr>
          <p:cNvPr id="9" name="文本框 8"/>
          <p:cNvSpPr txBox="1"/>
          <p:nvPr/>
        </p:nvSpPr>
        <p:spPr>
          <a:xfrm>
            <a:off x="1165161" y="269066"/>
            <a:ext cx="6798109" cy="523220"/>
          </a:xfrm>
          <a:prstGeom prst="rect">
            <a:avLst/>
          </a:prstGeom>
          <a:noFill/>
        </p:spPr>
        <p:txBody>
          <a:bodyPr wrap="square" rtlCol="0">
            <a:spAutoFit/>
          </a:bodyPr>
          <a:lstStyle/>
          <a:p>
            <a:r>
              <a:rPr lang="en-US" altLang="zh-CN" sz="2800" spc="400" dirty="0">
                <a:solidFill>
                  <a:srgbClr val="003F88"/>
                </a:solidFill>
              </a:rPr>
              <a:t>Test Comprehensive Analysis</a:t>
            </a:r>
            <a:endParaRPr lang="zh-CN" altLang="en-US" sz="2800" spc="400" dirty="0">
              <a:solidFill>
                <a:srgbClr val="003F88"/>
              </a:solidFill>
            </a:endParaRPr>
          </a:p>
        </p:txBody>
      </p:sp>
      <p:sp>
        <p:nvSpPr>
          <p:cNvPr id="10" name="文本框 9"/>
          <p:cNvSpPr txBox="1"/>
          <p:nvPr/>
        </p:nvSpPr>
        <p:spPr>
          <a:xfrm>
            <a:off x="526473" y="1166842"/>
            <a:ext cx="11448004" cy="4524315"/>
          </a:xfrm>
          <a:prstGeom prst="rect">
            <a:avLst/>
          </a:prstGeom>
          <a:solidFill>
            <a:schemeClr val="accent5">
              <a:lumMod val="20000"/>
              <a:lumOff val="80000"/>
            </a:schemeClr>
          </a:solidFill>
        </p:spPr>
        <p:txBody>
          <a:bodyPr wrap="square" rtlCol="0">
            <a:spAutoFit/>
          </a:bodyPr>
          <a:lstStyle/>
          <a:p>
            <a:pPr marL="342900" indent="-342900">
              <a:buFont typeface="Wingdings" panose="05000000000000000000" pitchFamily="2" charset="2"/>
              <a:buChar char="l"/>
            </a:pPr>
            <a:r>
              <a:rPr lang="en-US" altLang="zh-CN" sz="2400" b="0" dirty="0">
                <a:effectLst/>
                <a:latin typeface="+mn-ea"/>
              </a:rPr>
              <a:t>DFS with Pruning demonstrates significant effectiveness on </a:t>
            </a:r>
            <a:r>
              <a:rPr lang="en-US" altLang="zh-CN" sz="2400" b="1" dirty="0">
                <a:effectLst/>
                <a:latin typeface="+mn-ea"/>
              </a:rPr>
              <a:t>small-scale data</a:t>
            </a:r>
            <a:r>
              <a:rPr lang="en-US" altLang="zh-CN" sz="2400" b="0" dirty="0">
                <a:effectLst/>
                <a:latin typeface="+mn-ea"/>
              </a:rPr>
              <a:t>. However, when </a:t>
            </a:r>
            <a:r>
              <a:rPr lang="en-US" altLang="zh-CN" sz="2400" b="1" dirty="0">
                <a:effectLst/>
                <a:latin typeface="+mn-ea"/>
              </a:rPr>
              <a:t>pruning fails</a:t>
            </a:r>
            <a:r>
              <a:rPr lang="en-US" altLang="zh-CN" sz="2400" b="0" dirty="0">
                <a:effectLst/>
                <a:latin typeface="+mn-ea"/>
              </a:rPr>
              <a:t>, the search space </a:t>
            </a:r>
            <a:r>
              <a:rPr lang="en-US" altLang="zh-CN" sz="2400" b="1" dirty="0">
                <a:effectLst/>
                <a:latin typeface="+mn-ea"/>
              </a:rPr>
              <a:t>grows exponentially</a:t>
            </a:r>
            <a:r>
              <a:rPr lang="en-US" altLang="zh-CN" sz="2400" b="0" dirty="0">
                <a:effectLst/>
                <a:latin typeface="+mn-ea"/>
              </a:rPr>
              <a:t>, leading to drastically degraded performance.</a:t>
            </a:r>
            <a:endParaRPr lang="en-US" altLang="zh-CN" sz="2400" b="0" dirty="0">
              <a:effectLst/>
              <a:latin typeface="+mn-ea"/>
            </a:endParaRPr>
          </a:p>
          <a:p>
            <a:pPr marL="342900" indent="-342900">
              <a:buFont typeface="Wingdings" panose="05000000000000000000" pitchFamily="2" charset="2"/>
              <a:buChar char="l"/>
            </a:pPr>
            <a:r>
              <a:rPr lang="en-US" altLang="zh-CN" sz="2400" b="0" dirty="0">
                <a:effectLst/>
                <a:latin typeface="+mn-ea"/>
              </a:rPr>
              <a:t>The DP Algorithm remains </a:t>
            </a:r>
            <a:r>
              <a:rPr lang="en-US" altLang="zh-CN" sz="2400" b="1" dirty="0">
                <a:effectLst/>
                <a:latin typeface="+mn-ea"/>
              </a:rPr>
              <a:t>stable and efficient </a:t>
            </a:r>
            <a:r>
              <a:rPr lang="en-US" altLang="zh-CN" sz="2400" b="0" dirty="0">
                <a:effectLst/>
                <a:latin typeface="+mn-ea"/>
              </a:rPr>
              <a:t>for small to medium-scale data. Yet, its performance is </a:t>
            </a:r>
            <a:r>
              <a:rPr lang="en-US" altLang="zh-CN" sz="2400" b="1" dirty="0">
                <a:effectLst/>
                <a:latin typeface="+mn-ea"/>
              </a:rPr>
              <a:t>constrained by the product of n and sum</a:t>
            </a:r>
            <a:r>
              <a:rPr lang="en-US" altLang="zh-CN" sz="2400" b="0" dirty="0">
                <a:effectLst/>
                <a:latin typeface="+mn-ea"/>
              </a:rPr>
              <a:t>, potentially failing to return results for extremely large inputs.</a:t>
            </a:r>
            <a:endParaRPr lang="en-US" altLang="zh-CN" sz="2400" b="0" dirty="0">
              <a:effectLst/>
              <a:latin typeface="+mn-ea"/>
            </a:endParaRPr>
          </a:p>
          <a:p>
            <a:pPr marL="342900" indent="-342900">
              <a:buFont typeface="Wingdings" panose="05000000000000000000" pitchFamily="2" charset="2"/>
              <a:buChar char="l"/>
            </a:pPr>
            <a:r>
              <a:rPr lang="en-US" altLang="zh-CN" sz="2400" b="0" dirty="0">
                <a:effectLst/>
                <a:latin typeface="+mn-ea"/>
              </a:rPr>
              <a:t>SA is suitable for </a:t>
            </a:r>
            <a:r>
              <a:rPr lang="en-US" altLang="zh-CN" sz="2400" b="1" dirty="0">
                <a:effectLst/>
                <a:latin typeface="+mn-ea"/>
              </a:rPr>
              <a:t>large-scale or approximate solution scenarios</a:t>
            </a:r>
            <a:r>
              <a:rPr lang="en-US" altLang="zh-CN" sz="2400" b="0" dirty="0">
                <a:effectLst/>
                <a:latin typeface="+mn-ea"/>
              </a:rPr>
              <a:t>, capable of quickly finding feasible solutions, albeit with </a:t>
            </a:r>
            <a:r>
              <a:rPr lang="en-US" altLang="zh-CN" sz="2400" b="1" dirty="0">
                <a:effectLst/>
                <a:latin typeface="+mn-ea"/>
              </a:rPr>
              <a:t>a lower accuracy rate</a:t>
            </a:r>
            <a:r>
              <a:rPr lang="zh-CN" altLang="en-US" sz="2400" b="1" dirty="0">
                <a:effectLst/>
                <a:latin typeface="+mn-ea"/>
              </a:rPr>
              <a:t>。</a:t>
            </a:r>
            <a:endParaRPr lang="en-US" altLang="zh-CN" sz="2400" b="1" dirty="0">
              <a:effectLst/>
              <a:latin typeface="+mn-ea"/>
            </a:endParaRPr>
          </a:p>
          <a:p>
            <a:r>
              <a:rPr lang="en-US" altLang="zh-CN" sz="2400" b="0" dirty="0">
                <a:effectLst/>
                <a:latin typeface="+mn-ea"/>
              </a:rPr>
              <a:t>In summary, different algorithms are suited for the three-way partitioning problem across varying scales and scenarios: DFS is more appropriate for </a:t>
            </a:r>
            <a:r>
              <a:rPr lang="en-US" altLang="zh-CN" sz="2400" b="1" dirty="0">
                <a:effectLst/>
                <a:latin typeface="+mn-ea"/>
              </a:rPr>
              <a:t>small-scale exact solutions</a:t>
            </a:r>
            <a:r>
              <a:rPr lang="en-US" altLang="zh-CN" sz="2400" b="0" dirty="0">
                <a:effectLst/>
                <a:latin typeface="+mn-ea"/>
              </a:rPr>
              <a:t>, DP is ideal for </a:t>
            </a:r>
            <a:r>
              <a:rPr lang="en-US" altLang="zh-CN" sz="2400" b="1" dirty="0">
                <a:effectLst/>
                <a:latin typeface="+mn-ea"/>
              </a:rPr>
              <a:t>medium-scale optimal solutions</a:t>
            </a:r>
            <a:r>
              <a:rPr lang="en-US" altLang="zh-CN" sz="2400" b="0" dirty="0">
                <a:effectLst/>
                <a:latin typeface="+mn-ea"/>
              </a:rPr>
              <a:t>, while SA can be employed for </a:t>
            </a:r>
            <a:r>
              <a:rPr lang="en-US" altLang="zh-CN" sz="2400" b="1" dirty="0">
                <a:effectLst/>
                <a:latin typeface="+mn-ea"/>
              </a:rPr>
              <a:t>large-scale approximate solutions</a:t>
            </a:r>
            <a:r>
              <a:rPr lang="en-US" altLang="zh-CN" sz="2400" b="0" dirty="0">
                <a:effectLst/>
                <a:latin typeface="+mn-ea"/>
              </a:rPr>
              <a:t>.</a:t>
            </a:r>
            <a:endParaRPr lang="en-US" altLang="zh-CN" sz="2400" b="0" dirty="0">
              <a:effectLst/>
              <a:latin typeface="+mn-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407318" y="487688"/>
            <a:ext cx="3377364" cy="938156"/>
          </a:xfrm>
          <a:prstGeom prst="rect">
            <a:avLst/>
          </a:prstGeom>
        </p:spPr>
      </p:pic>
      <p:sp>
        <p:nvSpPr>
          <p:cNvPr id="10" name="矩形 9"/>
          <p:cNvSpPr/>
          <p:nvPr/>
        </p:nvSpPr>
        <p:spPr>
          <a:xfrm>
            <a:off x="0" y="2279259"/>
            <a:ext cx="12192000" cy="2299792"/>
          </a:xfrm>
          <a:prstGeom prst="rect">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spc="300" dirty="0">
              <a:latin typeface="SimHei" panose="02010609060101010101" pitchFamily="49" charset="-122"/>
              <a:ea typeface="SimHei" panose="02010609060101010101" pitchFamily="49" charset="-122"/>
            </a:endParaRPr>
          </a:p>
        </p:txBody>
      </p:sp>
      <p:sp>
        <p:nvSpPr>
          <p:cNvPr id="15" name="平行四边形 14"/>
          <p:cNvSpPr/>
          <p:nvPr/>
        </p:nvSpPr>
        <p:spPr>
          <a:xfrm>
            <a:off x="-185979" y="2032990"/>
            <a:ext cx="4959457" cy="108489"/>
          </a:xfrm>
          <a:prstGeom prst="parallelogram">
            <a:avLst>
              <a:gd name="adj" fmla="val 80556"/>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平行四边形 15"/>
          <p:cNvSpPr/>
          <p:nvPr/>
        </p:nvSpPr>
        <p:spPr>
          <a:xfrm>
            <a:off x="7421105" y="4703038"/>
            <a:ext cx="4959457" cy="108489"/>
          </a:xfrm>
          <a:prstGeom prst="parallelogram">
            <a:avLst>
              <a:gd name="adj" fmla="val 80556"/>
            </a:avLst>
          </a:prstGeom>
          <a:solidFill>
            <a:srgbClr val="003F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3871674" y="2921168"/>
            <a:ext cx="4448655" cy="1015663"/>
          </a:xfrm>
          <a:prstGeom prst="rect">
            <a:avLst/>
          </a:prstGeom>
        </p:spPr>
        <p:txBody>
          <a:bodyPr wrap="none">
            <a:spAutoFit/>
          </a:bodyPr>
          <a:lstStyle/>
          <a:p>
            <a:pPr algn="ctr"/>
            <a:r>
              <a:rPr lang="en-US" altLang="zh-CN" sz="6000" b="1" spc="300" dirty="0">
                <a:solidFill>
                  <a:schemeClr val="bg1"/>
                </a:solidFill>
                <a:latin typeface="SimHei" panose="02010609060101010101" pitchFamily="49" charset="-122"/>
                <a:ea typeface="SimHei" panose="02010609060101010101" pitchFamily="49" charset="-122"/>
              </a:rPr>
              <a:t>Thank you!</a:t>
            </a:r>
            <a:endParaRPr lang="en-US" altLang="zh-CN" sz="6000" b="1" spc="300" dirty="0">
              <a:solidFill>
                <a:schemeClr val="bg1"/>
              </a:solidFill>
              <a:latin typeface="SimHei" panose="02010609060101010101" pitchFamily="49" charset="-122"/>
              <a:ea typeface="SimHei"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13443</Words>
  <Application>WPS Presentation</Application>
  <PresentationFormat>宽屏</PresentationFormat>
  <Paragraphs>211</Paragraphs>
  <Slides>27</Slides>
  <Notes>1</Notes>
  <HiddenSlides>0</HiddenSlides>
  <MMClips>0</MMClips>
  <ScaleCrop>false</ScaleCrop>
  <HeadingPairs>
    <vt:vector size="6" baseType="variant">
      <vt:variant>
        <vt:lpstr>已用的字体</vt:lpstr>
      </vt:variant>
      <vt:variant>
        <vt:i4>26</vt:i4>
      </vt:variant>
      <vt:variant>
        <vt:lpstr>主题</vt:lpstr>
      </vt:variant>
      <vt:variant>
        <vt:i4>1</vt:i4>
      </vt:variant>
      <vt:variant>
        <vt:lpstr>幻灯片标题</vt:lpstr>
      </vt:variant>
      <vt:variant>
        <vt:i4>27</vt:i4>
      </vt:variant>
    </vt:vector>
  </HeadingPairs>
  <TitlesOfParts>
    <vt:vector size="54" baseType="lpstr">
      <vt:lpstr>Arial</vt:lpstr>
      <vt:lpstr>SimSun</vt:lpstr>
      <vt:lpstr>Wingdings</vt:lpstr>
      <vt:lpstr>Harmony</vt:lpstr>
      <vt:lpstr>Thonburi</vt:lpstr>
      <vt:lpstr>Impact</vt:lpstr>
      <vt:lpstr>Calibri</vt:lpstr>
      <vt:lpstr>Helvetica Neue</vt:lpstr>
      <vt:lpstr>Cambria Math</vt:lpstr>
      <vt:lpstr>Kingsoft Math</vt:lpstr>
      <vt:lpstr>等线</vt:lpstr>
      <vt:lpstr>汉仪中等线KW</vt:lpstr>
      <vt:lpstr>Microsoft YaHei</vt:lpstr>
      <vt:lpstr>汉仪旗黑</vt:lpstr>
      <vt:lpstr>Arial Unicode MS</vt:lpstr>
      <vt:lpstr>等线 Light</vt:lpstr>
      <vt:lpstr>quote-cjk-patch</vt:lpstr>
      <vt:lpstr>SimHei</vt:lpstr>
      <vt:lpstr>汉仪中黑KW</vt:lpstr>
      <vt:lpstr>Harmony</vt:lpstr>
      <vt:lpstr>SimHei</vt:lpstr>
      <vt:lpstr>Wingdings</vt:lpstr>
      <vt:lpstr>quote-cjk-patch</vt:lpstr>
      <vt:lpstr>汉仪书宋二KW</vt:lpstr>
      <vt:lpstr>苹方-简</vt:lpstr>
      <vt:lpstr>DejaVu Math TeX Gyre</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2379832946@qq.com</dc:creator>
  <cp:lastModifiedBy>谢骐骏</cp:lastModifiedBy>
  <cp:revision>24</cp:revision>
  <dcterms:created xsi:type="dcterms:W3CDTF">2025-12-01T02:02:30Z</dcterms:created>
  <dcterms:modified xsi:type="dcterms:W3CDTF">2025-12-01T02:02:30Z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8A696E093C3BAEA6DEF62C69FE841E9B_42</vt:lpwstr>
  </property>
  <property fmtid="{D5CDD505-2E9C-101B-9397-08002B2CF9AE}" pid="3" name="KSOProductBuildVer">
    <vt:lpwstr>1033-12.1.23540.23540</vt:lpwstr>
  </property>
</Properties>
</file>